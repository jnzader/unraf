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804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223E3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223E3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CFBF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5"/>
            <a:ext cx="4286250" cy="64293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223E3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223E3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370185" cy="6438265"/>
          </a:xfrm>
          <a:custGeom>
            <a:avLst/>
            <a:gdLst/>
            <a:ahLst/>
            <a:cxnLst/>
            <a:rect l="l" t="t" r="r" b="b"/>
            <a:pathLst>
              <a:path w="10370185" h="6438265">
                <a:moveTo>
                  <a:pt x="10369940" y="6438004"/>
                </a:moveTo>
                <a:lnTo>
                  <a:pt x="0" y="6438004"/>
                </a:lnTo>
                <a:lnTo>
                  <a:pt x="0" y="0"/>
                </a:lnTo>
                <a:lnTo>
                  <a:pt x="10369940" y="0"/>
                </a:lnTo>
                <a:lnTo>
                  <a:pt x="10369940" y="6438004"/>
                </a:lnTo>
                <a:close/>
              </a:path>
            </a:pathLst>
          </a:custGeom>
          <a:solidFill>
            <a:srgbClr val="FBF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CFB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4816" y="475646"/>
            <a:ext cx="7645400" cy="5325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223E3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2035" y="341431"/>
            <a:ext cx="5840730" cy="165865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35"/>
              </a:spcBef>
            </a:pPr>
            <a:r>
              <a:rPr sz="3450" spc="-20" dirty="0"/>
              <a:t>¿Para</a:t>
            </a:r>
            <a:r>
              <a:rPr sz="3450" spc="-90" dirty="0"/>
              <a:t> </a:t>
            </a:r>
            <a:r>
              <a:rPr sz="3450" spc="50" dirty="0" err="1"/>
              <a:t>qué</a:t>
            </a:r>
            <a:r>
              <a:rPr lang="es-MX" sz="3450" spc="-85" dirty="0"/>
              <a:t> puedo utilizar herramientas de IA </a:t>
            </a:r>
            <a:r>
              <a:rPr sz="3450" spc="30" dirty="0" err="1"/>
              <a:t>en</a:t>
            </a:r>
            <a:r>
              <a:rPr sz="3450" spc="30" dirty="0"/>
              <a:t> </a:t>
            </a:r>
            <a:r>
              <a:rPr sz="3450" dirty="0"/>
              <a:t>comunicaciones</a:t>
            </a:r>
            <a:r>
              <a:rPr sz="3450" spc="210" dirty="0"/>
              <a:t> </a:t>
            </a:r>
            <a:r>
              <a:rPr sz="3450" spc="55" dirty="0"/>
              <a:t>de</a:t>
            </a:r>
            <a:r>
              <a:rPr sz="3450" spc="220" dirty="0"/>
              <a:t> </a:t>
            </a:r>
            <a:r>
              <a:rPr sz="3450" spc="-10" dirty="0"/>
              <a:t>proyecto?</a:t>
            </a:r>
            <a:endParaRPr sz="3450" dirty="0"/>
          </a:p>
        </p:txBody>
      </p:sp>
      <p:grpSp>
        <p:nvGrpSpPr>
          <p:cNvPr id="3" name="object 3"/>
          <p:cNvGrpSpPr/>
          <p:nvPr/>
        </p:nvGrpSpPr>
        <p:grpSpPr>
          <a:xfrm>
            <a:off x="4781550" y="2162174"/>
            <a:ext cx="2990850" cy="3486150"/>
            <a:chOff x="4781550" y="2162174"/>
            <a:chExt cx="2990850" cy="3486150"/>
          </a:xfrm>
          <a:solidFill>
            <a:schemeClr val="accent2"/>
          </a:solidFill>
        </p:grpSpPr>
        <p:sp>
          <p:nvSpPr>
            <p:cNvPr id="4" name="object 4"/>
            <p:cNvSpPr/>
            <p:nvPr/>
          </p:nvSpPr>
          <p:spPr>
            <a:xfrm>
              <a:off x="4781550" y="2162174"/>
              <a:ext cx="2990850" cy="3486150"/>
            </a:xfrm>
            <a:custGeom>
              <a:avLst/>
              <a:gdLst/>
              <a:ahLst/>
              <a:cxnLst/>
              <a:rect l="l" t="t" r="r" b="b"/>
              <a:pathLst>
                <a:path w="2990850" h="3486150">
                  <a:moveTo>
                    <a:pt x="2971634" y="0"/>
                  </a:moveTo>
                  <a:lnTo>
                    <a:pt x="19215" y="0"/>
                  </a:lnTo>
                  <a:lnTo>
                    <a:pt x="16383" y="558"/>
                  </a:lnTo>
                  <a:lnTo>
                    <a:pt x="0" y="19215"/>
                  </a:lnTo>
                  <a:lnTo>
                    <a:pt x="0" y="3463999"/>
                  </a:lnTo>
                  <a:lnTo>
                    <a:pt x="0" y="3466937"/>
                  </a:lnTo>
                  <a:lnTo>
                    <a:pt x="19215" y="3486146"/>
                  </a:lnTo>
                  <a:lnTo>
                    <a:pt x="2971634" y="3486146"/>
                  </a:lnTo>
                  <a:lnTo>
                    <a:pt x="2990850" y="3466937"/>
                  </a:lnTo>
                  <a:lnTo>
                    <a:pt x="2990850" y="19215"/>
                  </a:lnTo>
                  <a:lnTo>
                    <a:pt x="2974454" y="558"/>
                  </a:lnTo>
                  <a:lnTo>
                    <a:pt x="297163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91100" y="2905124"/>
              <a:ext cx="57150" cy="2286635"/>
            </a:xfrm>
            <a:custGeom>
              <a:avLst/>
              <a:gdLst/>
              <a:ahLst/>
              <a:cxnLst/>
              <a:rect l="l" t="t" r="r" b="b"/>
              <a:pathLst>
                <a:path w="57150" h="2286635">
                  <a:moveTo>
                    <a:pt x="57150" y="2253640"/>
                  </a:moveTo>
                  <a:lnTo>
                    <a:pt x="32359" y="2228850"/>
                  </a:lnTo>
                  <a:lnTo>
                    <a:pt x="24790" y="2228850"/>
                  </a:lnTo>
                  <a:lnTo>
                    <a:pt x="0" y="2253640"/>
                  </a:lnTo>
                  <a:lnTo>
                    <a:pt x="0" y="2261209"/>
                  </a:lnTo>
                  <a:lnTo>
                    <a:pt x="24790" y="2286012"/>
                  </a:lnTo>
                  <a:lnTo>
                    <a:pt x="32359" y="2286012"/>
                  </a:lnTo>
                  <a:lnTo>
                    <a:pt x="57150" y="2261209"/>
                  </a:lnTo>
                  <a:lnTo>
                    <a:pt x="57150" y="2257425"/>
                  </a:lnTo>
                  <a:lnTo>
                    <a:pt x="57150" y="2253640"/>
                  </a:lnTo>
                  <a:close/>
                </a:path>
                <a:path w="57150" h="2286635">
                  <a:moveTo>
                    <a:pt x="57150" y="1624990"/>
                  </a:moveTo>
                  <a:lnTo>
                    <a:pt x="32359" y="1600200"/>
                  </a:lnTo>
                  <a:lnTo>
                    <a:pt x="24790" y="1600200"/>
                  </a:lnTo>
                  <a:lnTo>
                    <a:pt x="0" y="1624990"/>
                  </a:lnTo>
                  <a:lnTo>
                    <a:pt x="0" y="1632559"/>
                  </a:lnTo>
                  <a:lnTo>
                    <a:pt x="24790" y="1657350"/>
                  </a:lnTo>
                  <a:lnTo>
                    <a:pt x="32359" y="1657350"/>
                  </a:lnTo>
                  <a:lnTo>
                    <a:pt x="57150" y="1632559"/>
                  </a:lnTo>
                  <a:lnTo>
                    <a:pt x="57150" y="1628775"/>
                  </a:lnTo>
                  <a:lnTo>
                    <a:pt x="57150" y="1624990"/>
                  </a:lnTo>
                  <a:close/>
                </a:path>
                <a:path w="57150" h="2286635">
                  <a:moveTo>
                    <a:pt x="57150" y="996340"/>
                  </a:moveTo>
                  <a:lnTo>
                    <a:pt x="32359" y="971550"/>
                  </a:lnTo>
                  <a:lnTo>
                    <a:pt x="24790" y="971550"/>
                  </a:lnTo>
                  <a:lnTo>
                    <a:pt x="0" y="996340"/>
                  </a:lnTo>
                  <a:lnTo>
                    <a:pt x="0" y="1003909"/>
                  </a:lnTo>
                  <a:lnTo>
                    <a:pt x="24790" y="1028700"/>
                  </a:lnTo>
                  <a:lnTo>
                    <a:pt x="32359" y="1028700"/>
                  </a:lnTo>
                  <a:lnTo>
                    <a:pt x="57150" y="1003909"/>
                  </a:lnTo>
                  <a:lnTo>
                    <a:pt x="57150" y="1000125"/>
                  </a:lnTo>
                  <a:lnTo>
                    <a:pt x="57150" y="996340"/>
                  </a:lnTo>
                  <a:close/>
                </a:path>
                <a:path w="57150" h="2286635">
                  <a:moveTo>
                    <a:pt x="57150" y="367703"/>
                  </a:moveTo>
                  <a:lnTo>
                    <a:pt x="32359" y="342912"/>
                  </a:lnTo>
                  <a:lnTo>
                    <a:pt x="24790" y="342912"/>
                  </a:lnTo>
                  <a:lnTo>
                    <a:pt x="0" y="367703"/>
                  </a:lnTo>
                  <a:lnTo>
                    <a:pt x="0" y="375272"/>
                  </a:lnTo>
                  <a:lnTo>
                    <a:pt x="24790" y="400062"/>
                  </a:lnTo>
                  <a:lnTo>
                    <a:pt x="32359" y="400062"/>
                  </a:lnTo>
                  <a:lnTo>
                    <a:pt x="57150" y="375272"/>
                  </a:lnTo>
                  <a:lnTo>
                    <a:pt x="57150" y="371487"/>
                  </a:lnTo>
                  <a:lnTo>
                    <a:pt x="57150" y="367703"/>
                  </a:lnTo>
                  <a:close/>
                </a:path>
                <a:path w="57150" h="2286635">
                  <a:moveTo>
                    <a:pt x="57150" y="24790"/>
                  </a:moveTo>
                  <a:lnTo>
                    <a:pt x="32359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43271" y="2309018"/>
            <a:ext cx="2564765" cy="3244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spc="-10" dirty="0">
                <a:solidFill>
                  <a:srgbClr val="FFFFFF"/>
                </a:solidFill>
                <a:latin typeface="Georgia"/>
                <a:cs typeface="Georgia"/>
              </a:rPr>
              <a:t>ChatGPT</a:t>
            </a:r>
            <a:r>
              <a:rPr sz="1750" spc="-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750" dirty="0">
                <a:solidFill>
                  <a:srgbClr val="FFFFFF"/>
                </a:solidFill>
                <a:latin typeface="Georgia"/>
                <a:cs typeface="Georgia"/>
              </a:rPr>
              <a:t>puede ayudar </a:t>
            </a:r>
            <a:r>
              <a:rPr sz="1750" spc="-25" dirty="0">
                <a:solidFill>
                  <a:srgbClr val="FFFFFF"/>
                </a:solidFill>
                <a:latin typeface="Georgia"/>
                <a:cs typeface="Georgia"/>
              </a:rPr>
              <a:t>a:</a:t>
            </a:r>
            <a:endParaRPr sz="1750" dirty="0">
              <a:latin typeface="Georgia"/>
              <a:cs typeface="Georgia"/>
            </a:endParaRPr>
          </a:p>
          <a:p>
            <a:pPr marL="295910">
              <a:lnSpc>
                <a:spcPct val="100000"/>
              </a:lnSpc>
              <a:spcBef>
                <a:spcPts val="1775"/>
              </a:spcBef>
            </a:pPr>
            <a:r>
              <a:rPr sz="1400" dirty="0">
                <a:solidFill>
                  <a:srgbClr val="FFFFFF"/>
                </a:solidFill>
                <a:latin typeface="Cambria"/>
                <a:cs typeface="Cambria"/>
              </a:rPr>
              <a:t>Redactar</a:t>
            </a:r>
            <a:r>
              <a:rPr sz="1400" spc="22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FFFFFF"/>
                </a:solidFill>
                <a:latin typeface="Cambria"/>
                <a:cs typeface="Cambria"/>
              </a:rPr>
              <a:t>emails</a:t>
            </a:r>
            <a:r>
              <a:rPr sz="1400" spc="2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Cambria"/>
                <a:cs typeface="Cambria"/>
              </a:rPr>
              <a:t>de</a:t>
            </a:r>
            <a:r>
              <a:rPr sz="1400" spc="2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status</a:t>
            </a:r>
            <a:endParaRPr sz="1400" dirty="0">
              <a:latin typeface="Cambria"/>
              <a:cs typeface="Cambria"/>
            </a:endParaRPr>
          </a:p>
          <a:p>
            <a:pPr marL="295910" marR="591820">
              <a:lnSpc>
                <a:spcPct val="133900"/>
              </a:lnSpc>
              <a:spcBef>
                <a:spcPts val="455"/>
              </a:spcBef>
            </a:pPr>
            <a:r>
              <a:rPr sz="1400" dirty="0">
                <a:solidFill>
                  <a:srgbClr val="FFFFFF"/>
                </a:solidFill>
                <a:latin typeface="Cambria"/>
                <a:cs typeface="Cambria"/>
              </a:rPr>
              <a:t>Resumir</a:t>
            </a:r>
            <a:r>
              <a:rPr sz="1400" spc="3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FFFFFF"/>
                </a:solidFill>
                <a:latin typeface="Cambria"/>
                <a:cs typeface="Cambria"/>
              </a:rPr>
              <a:t>avances</a:t>
            </a:r>
            <a:r>
              <a:rPr sz="1400" spc="3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Cambria"/>
                <a:cs typeface="Cambria"/>
              </a:rPr>
              <a:t>del </a:t>
            </a:r>
            <a:r>
              <a:rPr sz="1400" spc="45" dirty="0">
                <a:solidFill>
                  <a:srgbClr val="FFFFFF"/>
                </a:solidFill>
                <a:latin typeface="Cambria"/>
                <a:cs typeface="Cambria"/>
              </a:rPr>
              <a:t>proyecto</a:t>
            </a:r>
            <a:endParaRPr sz="1400" dirty="0">
              <a:latin typeface="Cambria"/>
              <a:cs typeface="Cambria"/>
            </a:endParaRPr>
          </a:p>
          <a:p>
            <a:pPr marL="295910" marR="267970" indent="-635">
              <a:lnSpc>
                <a:spcPct val="133900"/>
              </a:lnSpc>
              <a:spcBef>
                <a:spcPts val="450"/>
              </a:spcBef>
            </a:pPr>
            <a:r>
              <a:rPr sz="1400" dirty="0">
                <a:solidFill>
                  <a:srgbClr val="FFFFFF"/>
                </a:solidFill>
                <a:latin typeface="Cambria"/>
                <a:cs typeface="Cambria"/>
              </a:rPr>
              <a:t>Adaptar</a:t>
            </a:r>
            <a:r>
              <a:rPr sz="1400" spc="3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FFFFFF"/>
                </a:solidFill>
                <a:latin typeface="Cambria"/>
                <a:cs typeface="Cambria"/>
              </a:rPr>
              <a:t>mensajes</a:t>
            </a:r>
            <a:r>
              <a:rPr sz="1400" spc="3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Cambria"/>
                <a:cs typeface="Cambria"/>
              </a:rPr>
              <a:t>según </a:t>
            </a: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stakeholder</a:t>
            </a:r>
            <a:endParaRPr sz="1400" dirty="0">
              <a:latin typeface="Cambria"/>
              <a:cs typeface="Cambria"/>
            </a:endParaRPr>
          </a:p>
          <a:p>
            <a:pPr marL="295910" marR="323850">
              <a:lnSpc>
                <a:spcPct val="133900"/>
              </a:lnSpc>
              <a:spcBef>
                <a:spcPts val="450"/>
              </a:spcBef>
            </a:pPr>
            <a:r>
              <a:rPr sz="1400" spc="50" dirty="0">
                <a:solidFill>
                  <a:srgbClr val="FFFFFF"/>
                </a:solidFill>
                <a:latin typeface="Cambria"/>
                <a:cs typeface="Cambria"/>
              </a:rPr>
              <a:t>Cambiar</a:t>
            </a:r>
            <a:r>
              <a:rPr sz="14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Cambria"/>
                <a:cs typeface="Cambria"/>
              </a:rPr>
              <a:t>formato</a:t>
            </a:r>
            <a:r>
              <a:rPr sz="14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Cambria"/>
                <a:cs typeface="Cambria"/>
              </a:rPr>
              <a:t>según </a:t>
            </a: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canal</a:t>
            </a:r>
            <a:endParaRPr sz="1400" dirty="0">
              <a:latin typeface="Cambria"/>
              <a:cs typeface="Cambria"/>
            </a:endParaRPr>
          </a:p>
          <a:p>
            <a:pPr marL="295910" marR="5080" indent="-635">
              <a:lnSpc>
                <a:spcPct val="133900"/>
              </a:lnSpc>
              <a:spcBef>
                <a:spcPts val="450"/>
              </a:spcBef>
            </a:pPr>
            <a:r>
              <a:rPr sz="1400" dirty="0">
                <a:solidFill>
                  <a:srgbClr val="FFFFFF"/>
                </a:solidFill>
                <a:latin typeface="Cambria"/>
                <a:cs typeface="Cambria"/>
              </a:rPr>
              <a:t>Ahorrar</a:t>
            </a:r>
            <a:r>
              <a:rPr sz="14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Cambria"/>
                <a:cs typeface="Cambria"/>
              </a:rPr>
              <a:t>tiempo</a:t>
            </a:r>
            <a:r>
              <a:rPr sz="14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Cambria"/>
                <a:cs typeface="Cambria"/>
              </a:rPr>
              <a:t>en </a:t>
            </a:r>
            <a:r>
              <a:rPr sz="1400" spc="60" dirty="0">
                <a:solidFill>
                  <a:srgbClr val="FFFFFF"/>
                </a:solidFill>
                <a:latin typeface="Cambria"/>
                <a:cs typeface="Cambria"/>
              </a:rPr>
              <a:t>comunicaciones </a:t>
            </a:r>
            <a:r>
              <a:rPr sz="1400" spc="-10" dirty="0">
                <a:solidFill>
                  <a:srgbClr val="FFFFFF"/>
                </a:solidFill>
                <a:latin typeface="Cambria"/>
                <a:cs typeface="Cambria"/>
              </a:rPr>
              <a:t>repetitivas</a:t>
            </a:r>
            <a:endParaRPr sz="1400" dirty="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086725" y="2362199"/>
            <a:ext cx="2733675" cy="1885950"/>
            <a:chOff x="8086725" y="2362199"/>
            <a:chExt cx="2733675" cy="1885950"/>
          </a:xfrm>
        </p:grpSpPr>
        <p:sp>
          <p:nvSpPr>
            <p:cNvPr id="8" name="object 8"/>
            <p:cNvSpPr/>
            <p:nvPr/>
          </p:nvSpPr>
          <p:spPr>
            <a:xfrm>
              <a:off x="8086725" y="2362199"/>
              <a:ext cx="2733675" cy="1885950"/>
            </a:xfrm>
            <a:custGeom>
              <a:avLst/>
              <a:gdLst/>
              <a:ahLst/>
              <a:cxnLst/>
              <a:rect l="l" t="t" r="r" b="b"/>
              <a:pathLst>
                <a:path w="2733675" h="1885950">
                  <a:moveTo>
                    <a:pt x="2714459" y="0"/>
                  </a:moveTo>
                  <a:lnTo>
                    <a:pt x="19215" y="0"/>
                  </a:lnTo>
                  <a:lnTo>
                    <a:pt x="16383" y="558"/>
                  </a:lnTo>
                  <a:lnTo>
                    <a:pt x="0" y="19215"/>
                  </a:lnTo>
                  <a:lnTo>
                    <a:pt x="0" y="1863801"/>
                  </a:lnTo>
                  <a:lnTo>
                    <a:pt x="0" y="1866734"/>
                  </a:lnTo>
                  <a:lnTo>
                    <a:pt x="19215" y="1885950"/>
                  </a:lnTo>
                  <a:lnTo>
                    <a:pt x="2714459" y="1885950"/>
                  </a:lnTo>
                  <a:lnTo>
                    <a:pt x="2733675" y="1866734"/>
                  </a:lnTo>
                  <a:lnTo>
                    <a:pt x="2733675" y="19215"/>
                  </a:lnTo>
                  <a:lnTo>
                    <a:pt x="2717279" y="558"/>
                  </a:lnTo>
                  <a:lnTo>
                    <a:pt x="2714459" y="0"/>
                  </a:lnTo>
                  <a:close/>
                </a:path>
              </a:pathLst>
            </a:custGeom>
            <a:solidFill>
              <a:srgbClr val="C3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1423" y="2639974"/>
              <a:ext cx="154965" cy="15496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646718" y="2518282"/>
            <a:ext cx="1998980" cy="14446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20"/>
              </a:spcBef>
            </a:pPr>
            <a:r>
              <a:rPr sz="1400" b="1" dirty="0">
                <a:latin typeface="Cambria"/>
                <a:cs typeface="Cambria"/>
              </a:rPr>
              <a:t>No</a:t>
            </a:r>
            <a:r>
              <a:rPr sz="1400" b="1" spc="8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reemplaza</a:t>
            </a:r>
            <a:r>
              <a:rPr sz="1400" b="1" spc="85" dirty="0">
                <a:latin typeface="Cambria"/>
                <a:cs typeface="Cambria"/>
              </a:rPr>
              <a:t> </a:t>
            </a:r>
            <a:r>
              <a:rPr sz="1400" b="1" spc="-25" dirty="0">
                <a:latin typeface="Cambria"/>
                <a:cs typeface="Cambria"/>
              </a:rPr>
              <a:t>el</a:t>
            </a:r>
            <a:r>
              <a:rPr sz="1400" b="1" spc="500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criterio</a:t>
            </a:r>
            <a:r>
              <a:rPr sz="1400" b="1" spc="105" dirty="0">
                <a:latin typeface="Cambria"/>
                <a:cs typeface="Cambria"/>
              </a:rPr>
              <a:t> </a:t>
            </a:r>
            <a:r>
              <a:rPr sz="1400" b="1" dirty="0">
                <a:latin typeface="Cambria"/>
                <a:cs typeface="Cambria"/>
              </a:rPr>
              <a:t>del</a:t>
            </a:r>
            <a:r>
              <a:rPr sz="1400" b="1" spc="105" dirty="0">
                <a:latin typeface="Cambria"/>
                <a:cs typeface="Cambria"/>
              </a:rPr>
              <a:t> </a:t>
            </a:r>
            <a:r>
              <a:rPr sz="1400" b="1" spc="55" dirty="0">
                <a:latin typeface="Cambria"/>
                <a:cs typeface="Cambria"/>
              </a:rPr>
              <a:t>PM.</a:t>
            </a:r>
            <a:r>
              <a:rPr sz="1400" b="1" spc="10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El</a:t>
            </a:r>
            <a:r>
              <a:rPr sz="1400" spc="110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PM </a:t>
            </a:r>
            <a:r>
              <a:rPr sz="1400" dirty="0">
                <a:latin typeface="Cambria"/>
                <a:cs typeface="Cambria"/>
              </a:rPr>
              <a:t>define</a:t>
            </a:r>
            <a:r>
              <a:rPr sz="1400" spc="21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qué</a:t>
            </a:r>
            <a:r>
              <a:rPr sz="1400" spc="215" dirty="0">
                <a:latin typeface="Cambria"/>
                <a:cs typeface="Cambria"/>
              </a:rPr>
              <a:t> </a:t>
            </a:r>
            <a:r>
              <a:rPr sz="1400" spc="50" dirty="0">
                <a:latin typeface="Cambria"/>
                <a:cs typeface="Cambria"/>
              </a:rPr>
              <a:t>comunicar,</a:t>
            </a:r>
            <a:r>
              <a:rPr sz="1400" spc="215" dirty="0">
                <a:latin typeface="Cambria"/>
                <a:cs typeface="Cambria"/>
              </a:rPr>
              <a:t> </a:t>
            </a:r>
            <a:r>
              <a:rPr sz="1400" spc="-50" dirty="0">
                <a:latin typeface="Cambria"/>
                <a:cs typeface="Cambria"/>
              </a:rPr>
              <a:t>a </a:t>
            </a:r>
            <a:r>
              <a:rPr sz="1400" dirty="0">
                <a:latin typeface="Cambria"/>
                <a:cs typeface="Cambria"/>
              </a:rPr>
              <a:t>quién,</a:t>
            </a:r>
            <a:r>
              <a:rPr sz="1400" spc="140" dirty="0">
                <a:latin typeface="Cambria"/>
                <a:cs typeface="Cambria"/>
              </a:rPr>
              <a:t> </a:t>
            </a:r>
            <a:r>
              <a:rPr sz="1400" spc="60" dirty="0">
                <a:latin typeface="Cambria"/>
                <a:cs typeface="Cambria"/>
              </a:rPr>
              <a:t>cuándo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y</a:t>
            </a:r>
            <a:r>
              <a:rPr sz="1400" spc="155" dirty="0">
                <a:latin typeface="Cambria"/>
                <a:cs typeface="Cambria"/>
              </a:rPr>
              <a:t> </a:t>
            </a:r>
            <a:r>
              <a:rPr sz="1400" spc="55" dirty="0">
                <a:latin typeface="Cambria"/>
                <a:cs typeface="Cambria"/>
              </a:rPr>
              <a:t>con</a:t>
            </a:r>
            <a:r>
              <a:rPr sz="1400" spc="500" dirty="0">
                <a:latin typeface="Cambria"/>
                <a:cs typeface="Cambria"/>
              </a:rPr>
              <a:t> </a:t>
            </a:r>
            <a:r>
              <a:rPr sz="1400" dirty="0">
                <a:latin typeface="Cambria"/>
                <a:cs typeface="Cambria"/>
              </a:rPr>
              <a:t>qué</a:t>
            </a:r>
            <a:r>
              <a:rPr sz="1400" spc="195" dirty="0">
                <a:latin typeface="Cambria"/>
                <a:cs typeface="Cambria"/>
              </a:rPr>
              <a:t> </a:t>
            </a:r>
            <a:r>
              <a:rPr sz="1400" spc="-10" dirty="0">
                <a:latin typeface="Cambria"/>
                <a:cs typeface="Cambria"/>
              </a:rPr>
              <a:t>objetivo.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4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29999" y="6429374"/>
                </a:moveTo>
                <a:lnTo>
                  <a:pt x="0" y="642937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29374"/>
                </a:lnTo>
                <a:close/>
              </a:path>
            </a:pathLst>
          </a:custGeom>
          <a:solidFill>
            <a:srgbClr val="FBFA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0" dirty="0">
                <a:solidFill>
                  <a:srgbClr val="233D32"/>
                </a:solidFill>
              </a:rPr>
              <a:t>La</a:t>
            </a:r>
            <a:r>
              <a:rPr sz="2900" spc="15" dirty="0">
                <a:solidFill>
                  <a:srgbClr val="233D32"/>
                </a:solidFill>
              </a:rPr>
              <a:t> </a:t>
            </a:r>
            <a:r>
              <a:rPr sz="2900" dirty="0">
                <a:solidFill>
                  <a:srgbClr val="233D32"/>
                </a:solidFill>
              </a:rPr>
              <a:t>calidad</a:t>
            </a:r>
            <a:r>
              <a:rPr sz="2900" spc="20" dirty="0">
                <a:solidFill>
                  <a:srgbClr val="233D32"/>
                </a:solidFill>
              </a:rPr>
              <a:t> </a:t>
            </a:r>
            <a:r>
              <a:rPr sz="2900" dirty="0">
                <a:solidFill>
                  <a:srgbClr val="233D32"/>
                </a:solidFill>
              </a:rPr>
              <a:t>de</a:t>
            </a:r>
            <a:r>
              <a:rPr sz="2900" spc="15" dirty="0">
                <a:solidFill>
                  <a:srgbClr val="233D32"/>
                </a:solidFill>
              </a:rPr>
              <a:t> </a:t>
            </a:r>
            <a:r>
              <a:rPr sz="2900" dirty="0">
                <a:solidFill>
                  <a:srgbClr val="233D32"/>
                </a:solidFill>
              </a:rPr>
              <a:t>la</a:t>
            </a:r>
            <a:r>
              <a:rPr sz="2900" spc="20" dirty="0">
                <a:solidFill>
                  <a:srgbClr val="233D32"/>
                </a:solidFill>
              </a:rPr>
              <a:t> </a:t>
            </a:r>
            <a:r>
              <a:rPr sz="2900" dirty="0">
                <a:solidFill>
                  <a:srgbClr val="233D32"/>
                </a:solidFill>
              </a:rPr>
              <a:t>respuesta</a:t>
            </a:r>
            <a:r>
              <a:rPr sz="2900" spc="15" dirty="0">
                <a:solidFill>
                  <a:srgbClr val="233D32"/>
                </a:solidFill>
              </a:rPr>
              <a:t> </a:t>
            </a:r>
            <a:r>
              <a:rPr sz="2900" dirty="0">
                <a:solidFill>
                  <a:srgbClr val="233D32"/>
                </a:solidFill>
              </a:rPr>
              <a:t>depende</a:t>
            </a:r>
            <a:r>
              <a:rPr sz="2900" spc="20" dirty="0">
                <a:solidFill>
                  <a:srgbClr val="233D32"/>
                </a:solidFill>
              </a:rPr>
              <a:t> </a:t>
            </a:r>
            <a:r>
              <a:rPr sz="2900" dirty="0">
                <a:solidFill>
                  <a:srgbClr val="233D32"/>
                </a:solidFill>
              </a:rPr>
              <a:t>del</a:t>
            </a:r>
            <a:r>
              <a:rPr sz="2900" spc="15" dirty="0">
                <a:solidFill>
                  <a:srgbClr val="233D32"/>
                </a:solidFill>
              </a:rPr>
              <a:t> </a:t>
            </a:r>
            <a:r>
              <a:rPr sz="2900" spc="-10" dirty="0">
                <a:solidFill>
                  <a:srgbClr val="233D32"/>
                </a:solidFill>
              </a:rPr>
              <a:t>prompt</a:t>
            </a:r>
            <a:endParaRPr sz="2900"/>
          </a:p>
        </p:txBody>
      </p:sp>
      <p:sp>
        <p:nvSpPr>
          <p:cNvPr id="4" name="object 4"/>
          <p:cNvSpPr txBox="1"/>
          <p:nvPr/>
        </p:nvSpPr>
        <p:spPr>
          <a:xfrm>
            <a:off x="594816" y="1241171"/>
            <a:ext cx="267462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50" dirty="0">
                <a:solidFill>
                  <a:srgbClr val="233D32"/>
                </a:solidFill>
                <a:latin typeface="Georgia"/>
                <a:cs typeface="Georgia"/>
              </a:rPr>
              <a:t>Un</a:t>
            </a:r>
            <a:r>
              <a:rPr sz="1450" spc="15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1450" dirty="0">
                <a:solidFill>
                  <a:srgbClr val="233D32"/>
                </a:solidFill>
                <a:latin typeface="Georgia"/>
                <a:cs typeface="Georgia"/>
              </a:rPr>
              <a:t>buen</a:t>
            </a:r>
            <a:r>
              <a:rPr sz="1450" spc="15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1450" dirty="0">
                <a:solidFill>
                  <a:srgbClr val="233D32"/>
                </a:solidFill>
                <a:latin typeface="Georgia"/>
                <a:cs typeface="Georgia"/>
              </a:rPr>
              <a:t>prompt</a:t>
            </a:r>
            <a:r>
              <a:rPr sz="1450" spc="20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1450" dirty="0">
                <a:solidFill>
                  <a:srgbClr val="233D32"/>
                </a:solidFill>
                <a:latin typeface="Georgia"/>
                <a:cs typeface="Georgia"/>
              </a:rPr>
              <a:t>debería</a:t>
            </a:r>
            <a:r>
              <a:rPr sz="1450" spc="15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1450" spc="-10" dirty="0">
                <a:solidFill>
                  <a:srgbClr val="233D32"/>
                </a:solidFill>
                <a:latin typeface="Georgia"/>
                <a:cs typeface="Georgia"/>
              </a:rPr>
              <a:t>incluir:</a:t>
            </a:r>
            <a:endParaRPr sz="1450">
              <a:latin typeface="Georgia"/>
              <a:cs typeface="Georg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9599" y="1638299"/>
            <a:ext cx="2400300" cy="990600"/>
            <a:chOff x="609599" y="1638299"/>
            <a:chExt cx="2400300" cy="990600"/>
          </a:xfrm>
        </p:grpSpPr>
        <p:sp>
          <p:nvSpPr>
            <p:cNvPr id="6" name="object 6"/>
            <p:cNvSpPr/>
            <p:nvPr/>
          </p:nvSpPr>
          <p:spPr>
            <a:xfrm>
              <a:off x="619124" y="1857374"/>
              <a:ext cx="2381250" cy="762000"/>
            </a:xfrm>
            <a:custGeom>
              <a:avLst/>
              <a:gdLst/>
              <a:ahLst/>
              <a:cxnLst/>
              <a:rect l="l" t="t" r="r" b="b"/>
              <a:pathLst>
                <a:path w="2381250" h="762000">
                  <a:moveTo>
                    <a:pt x="2374792" y="761999"/>
                  </a:moveTo>
                  <a:lnTo>
                    <a:pt x="6457" y="761999"/>
                  </a:lnTo>
                  <a:lnTo>
                    <a:pt x="4354" y="761128"/>
                  </a:lnTo>
                  <a:lnTo>
                    <a:pt x="871" y="757644"/>
                  </a:lnTo>
                  <a:lnTo>
                    <a:pt x="0" y="755542"/>
                  </a:lnTo>
                  <a:lnTo>
                    <a:pt x="0" y="753079"/>
                  </a:lnTo>
                  <a:lnTo>
                    <a:pt x="0" y="71196"/>
                  </a:lnTo>
                  <a:lnTo>
                    <a:pt x="13669" y="29705"/>
                  </a:lnTo>
                  <a:lnTo>
                    <a:pt x="45204" y="3885"/>
                  </a:lnTo>
                  <a:lnTo>
                    <a:pt x="62297" y="0"/>
                  </a:lnTo>
                  <a:lnTo>
                    <a:pt x="2318952" y="0"/>
                  </a:lnTo>
                  <a:lnTo>
                    <a:pt x="2355257" y="15621"/>
                  </a:lnTo>
                  <a:lnTo>
                    <a:pt x="2377850" y="51661"/>
                  </a:lnTo>
                  <a:lnTo>
                    <a:pt x="2381249" y="71196"/>
                  </a:lnTo>
                  <a:lnTo>
                    <a:pt x="2381249" y="755542"/>
                  </a:lnTo>
                  <a:lnTo>
                    <a:pt x="2380379" y="757645"/>
                  </a:lnTo>
                  <a:lnTo>
                    <a:pt x="2376894" y="761128"/>
                  </a:lnTo>
                  <a:lnTo>
                    <a:pt x="2374792" y="761999"/>
                  </a:lnTo>
                  <a:close/>
                </a:path>
              </a:pathLst>
            </a:custGeom>
            <a:solidFill>
              <a:srgbClr val="FBF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587" y="1858225"/>
              <a:ext cx="2400300" cy="770890"/>
            </a:xfrm>
            <a:custGeom>
              <a:avLst/>
              <a:gdLst/>
              <a:ahLst/>
              <a:cxnLst/>
              <a:rect l="l" t="t" r="r" b="b"/>
              <a:pathLst>
                <a:path w="2400300" h="770889">
                  <a:moveTo>
                    <a:pt x="2400300" y="75349"/>
                  </a:moveTo>
                  <a:lnTo>
                    <a:pt x="2387473" y="33007"/>
                  </a:lnTo>
                  <a:lnTo>
                    <a:pt x="2353272" y="4953"/>
                  </a:lnTo>
                  <a:lnTo>
                    <a:pt x="2334857" y="0"/>
                  </a:lnTo>
                  <a:lnTo>
                    <a:pt x="2338971" y="1092"/>
                  </a:lnTo>
                  <a:lnTo>
                    <a:pt x="2352979" y="8826"/>
                  </a:lnTo>
                  <a:lnTo>
                    <a:pt x="2376906" y="46189"/>
                  </a:lnTo>
                  <a:lnTo>
                    <a:pt x="2381250" y="75349"/>
                  </a:lnTo>
                  <a:lnTo>
                    <a:pt x="2381250" y="751624"/>
                  </a:lnTo>
                  <a:lnTo>
                    <a:pt x="2380297" y="751624"/>
                  </a:lnTo>
                  <a:lnTo>
                    <a:pt x="20002" y="751624"/>
                  </a:lnTo>
                  <a:lnTo>
                    <a:pt x="19050" y="751624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751624"/>
                  </a:lnTo>
                  <a:lnTo>
                    <a:pt x="0" y="757326"/>
                  </a:lnTo>
                  <a:lnTo>
                    <a:pt x="1803" y="761669"/>
                  </a:lnTo>
                  <a:lnTo>
                    <a:pt x="5880" y="765759"/>
                  </a:lnTo>
                  <a:lnTo>
                    <a:pt x="9017" y="768883"/>
                  </a:lnTo>
                  <a:lnTo>
                    <a:pt x="13360" y="770674"/>
                  </a:lnTo>
                  <a:lnTo>
                    <a:pt x="2386952" y="770674"/>
                  </a:lnTo>
                  <a:lnTo>
                    <a:pt x="2391295" y="768883"/>
                  </a:lnTo>
                  <a:lnTo>
                    <a:pt x="2394420" y="765759"/>
                  </a:lnTo>
                  <a:lnTo>
                    <a:pt x="2398509" y="761669"/>
                  </a:lnTo>
                  <a:lnTo>
                    <a:pt x="2400300" y="757326"/>
                  </a:lnTo>
                  <a:lnTo>
                    <a:pt x="2400300" y="751624"/>
                  </a:lnTo>
                  <a:lnTo>
                    <a:pt x="2400300" y="75349"/>
                  </a:lnTo>
                  <a:close/>
                </a:path>
              </a:pathLst>
            </a:custGeom>
            <a:solidFill>
              <a:srgbClr val="D5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9587" y="1638299"/>
              <a:ext cx="2400300" cy="447675"/>
            </a:xfrm>
            <a:custGeom>
              <a:avLst/>
              <a:gdLst/>
              <a:ahLst/>
              <a:cxnLst/>
              <a:rect l="l" t="t" r="r" b="b"/>
              <a:pathLst>
                <a:path w="2400300" h="447675">
                  <a:moveTo>
                    <a:pt x="2400300" y="216027"/>
                  </a:moveTo>
                  <a:lnTo>
                    <a:pt x="2384310" y="200025"/>
                  </a:lnTo>
                  <a:lnTo>
                    <a:pt x="1416177" y="200025"/>
                  </a:lnTo>
                  <a:lnTo>
                    <a:pt x="1415237" y="190461"/>
                  </a:lnTo>
                  <a:lnTo>
                    <a:pt x="1405483" y="148615"/>
                  </a:lnTo>
                  <a:lnTo>
                    <a:pt x="1387754" y="109486"/>
                  </a:lnTo>
                  <a:lnTo>
                    <a:pt x="1362722" y="74549"/>
                  </a:lnTo>
                  <a:lnTo>
                    <a:pt x="1331353" y="45186"/>
                  </a:lnTo>
                  <a:lnTo>
                    <a:pt x="1294866" y="22491"/>
                  </a:lnTo>
                  <a:lnTo>
                    <a:pt x="1254645" y="7353"/>
                  </a:lnTo>
                  <a:lnTo>
                    <a:pt x="1212253" y="355"/>
                  </a:lnTo>
                  <a:lnTo>
                    <a:pt x="1205103" y="0"/>
                  </a:lnTo>
                  <a:lnTo>
                    <a:pt x="1190752" y="0"/>
                  </a:lnTo>
                  <a:lnTo>
                    <a:pt x="1148143" y="5613"/>
                  </a:lnTo>
                  <a:lnTo>
                    <a:pt x="1107452" y="19431"/>
                  </a:lnTo>
                  <a:lnTo>
                    <a:pt x="1070241" y="40919"/>
                  </a:lnTo>
                  <a:lnTo>
                    <a:pt x="1037945" y="69240"/>
                  </a:lnTo>
                  <a:lnTo>
                    <a:pt x="1011783" y="103339"/>
                  </a:lnTo>
                  <a:lnTo>
                    <a:pt x="992784" y="141871"/>
                  </a:lnTo>
                  <a:lnTo>
                    <a:pt x="981659" y="183375"/>
                  </a:lnTo>
                  <a:lnTo>
                    <a:pt x="979652" y="200025"/>
                  </a:lnTo>
                  <a:lnTo>
                    <a:pt x="16002" y="200025"/>
                  </a:lnTo>
                  <a:lnTo>
                    <a:pt x="0" y="216027"/>
                  </a:lnTo>
                  <a:lnTo>
                    <a:pt x="0" y="276225"/>
                  </a:lnTo>
                  <a:lnTo>
                    <a:pt x="984021" y="276225"/>
                  </a:lnTo>
                  <a:lnTo>
                    <a:pt x="984453" y="278384"/>
                  </a:lnTo>
                  <a:lnTo>
                    <a:pt x="998270" y="319074"/>
                  </a:lnTo>
                  <a:lnTo>
                    <a:pt x="1019759" y="356285"/>
                  </a:lnTo>
                  <a:lnTo>
                    <a:pt x="1048092" y="388594"/>
                  </a:lnTo>
                  <a:lnTo>
                    <a:pt x="1082179" y="414743"/>
                  </a:lnTo>
                  <a:lnTo>
                    <a:pt x="1120711" y="433755"/>
                  </a:lnTo>
                  <a:lnTo>
                    <a:pt x="1162227" y="444868"/>
                  </a:lnTo>
                  <a:lnTo>
                    <a:pt x="1190752" y="447675"/>
                  </a:lnTo>
                  <a:lnTo>
                    <a:pt x="1205103" y="447675"/>
                  </a:lnTo>
                  <a:lnTo>
                    <a:pt x="1247698" y="442074"/>
                  </a:lnTo>
                  <a:lnTo>
                    <a:pt x="1288389" y="428256"/>
                  </a:lnTo>
                  <a:lnTo>
                    <a:pt x="1325600" y="406768"/>
                  </a:lnTo>
                  <a:lnTo>
                    <a:pt x="1357909" y="378447"/>
                  </a:lnTo>
                  <a:lnTo>
                    <a:pt x="1384058" y="344347"/>
                  </a:lnTo>
                  <a:lnTo>
                    <a:pt x="1403070" y="305816"/>
                  </a:lnTo>
                  <a:lnTo>
                    <a:pt x="1411808" y="276225"/>
                  </a:lnTo>
                  <a:lnTo>
                    <a:pt x="2400300" y="276225"/>
                  </a:lnTo>
                  <a:lnTo>
                    <a:pt x="2400300" y="216027"/>
                  </a:lnTo>
                  <a:close/>
                </a:path>
              </a:pathLst>
            </a:custGeom>
            <a:solidFill>
              <a:srgbClr val="1B5E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758057" y="1734280"/>
            <a:ext cx="10160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solidFill>
                  <a:srgbClr val="FFFFFF"/>
                </a:solidFill>
                <a:latin typeface="Georgia"/>
                <a:cs typeface="Georgia"/>
              </a:rPr>
              <a:t>1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1355" y="2203195"/>
            <a:ext cx="184277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rgbClr val="2B2820"/>
                </a:solidFill>
                <a:latin typeface="Georgia"/>
                <a:cs typeface="Georgia"/>
              </a:rPr>
              <a:t>Contexto</a:t>
            </a:r>
            <a:r>
              <a:rPr sz="1450" spc="25" dirty="0">
                <a:solidFill>
                  <a:srgbClr val="2B2820"/>
                </a:solidFill>
                <a:latin typeface="Georgia"/>
                <a:cs typeface="Georgia"/>
              </a:rPr>
              <a:t> </a:t>
            </a:r>
            <a:r>
              <a:rPr sz="1450" dirty="0">
                <a:solidFill>
                  <a:srgbClr val="2B2820"/>
                </a:solidFill>
                <a:latin typeface="Georgia"/>
                <a:cs typeface="Georgia"/>
              </a:rPr>
              <a:t>del</a:t>
            </a:r>
            <a:r>
              <a:rPr sz="1450" spc="25" dirty="0">
                <a:solidFill>
                  <a:srgbClr val="2B2820"/>
                </a:solidFill>
                <a:latin typeface="Georgia"/>
                <a:cs typeface="Georgia"/>
              </a:rPr>
              <a:t> </a:t>
            </a:r>
            <a:r>
              <a:rPr sz="1450" spc="-10" dirty="0">
                <a:solidFill>
                  <a:srgbClr val="2B2820"/>
                </a:solidFill>
                <a:latin typeface="Georgia"/>
                <a:cs typeface="Georgia"/>
              </a:rPr>
              <a:t>proyecto</a:t>
            </a:r>
            <a:endParaRPr sz="1450">
              <a:latin typeface="Georgia"/>
              <a:cs typeface="Georg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33724" y="1638299"/>
            <a:ext cx="2400300" cy="990600"/>
            <a:chOff x="3133724" y="1638299"/>
            <a:chExt cx="2400300" cy="990600"/>
          </a:xfrm>
        </p:grpSpPr>
        <p:sp>
          <p:nvSpPr>
            <p:cNvPr id="12" name="object 12"/>
            <p:cNvSpPr/>
            <p:nvPr/>
          </p:nvSpPr>
          <p:spPr>
            <a:xfrm>
              <a:off x="3143249" y="1857374"/>
              <a:ext cx="2381250" cy="762000"/>
            </a:xfrm>
            <a:custGeom>
              <a:avLst/>
              <a:gdLst/>
              <a:ahLst/>
              <a:cxnLst/>
              <a:rect l="l" t="t" r="r" b="b"/>
              <a:pathLst>
                <a:path w="2381250" h="762000">
                  <a:moveTo>
                    <a:pt x="2374792" y="761999"/>
                  </a:moveTo>
                  <a:lnTo>
                    <a:pt x="6457" y="761999"/>
                  </a:lnTo>
                  <a:lnTo>
                    <a:pt x="4354" y="761128"/>
                  </a:lnTo>
                  <a:lnTo>
                    <a:pt x="870" y="757644"/>
                  </a:lnTo>
                  <a:lnTo>
                    <a:pt x="0" y="755542"/>
                  </a:lnTo>
                  <a:lnTo>
                    <a:pt x="0" y="753079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3" y="3885"/>
                  </a:lnTo>
                  <a:lnTo>
                    <a:pt x="62297" y="0"/>
                  </a:lnTo>
                  <a:lnTo>
                    <a:pt x="2318953" y="0"/>
                  </a:lnTo>
                  <a:lnTo>
                    <a:pt x="2355256" y="15621"/>
                  </a:lnTo>
                  <a:lnTo>
                    <a:pt x="2377849" y="51661"/>
                  </a:lnTo>
                  <a:lnTo>
                    <a:pt x="2381250" y="71196"/>
                  </a:lnTo>
                  <a:lnTo>
                    <a:pt x="2381250" y="755542"/>
                  </a:lnTo>
                  <a:lnTo>
                    <a:pt x="2380379" y="757645"/>
                  </a:lnTo>
                  <a:lnTo>
                    <a:pt x="2376894" y="761128"/>
                  </a:lnTo>
                  <a:lnTo>
                    <a:pt x="2374792" y="761999"/>
                  </a:lnTo>
                  <a:close/>
                </a:path>
              </a:pathLst>
            </a:custGeom>
            <a:solidFill>
              <a:srgbClr val="FBF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33712" y="1858225"/>
              <a:ext cx="2400300" cy="770890"/>
            </a:xfrm>
            <a:custGeom>
              <a:avLst/>
              <a:gdLst/>
              <a:ahLst/>
              <a:cxnLst/>
              <a:rect l="l" t="t" r="r" b="b"/>
              <a:pathLst>
                <a:path w="2400300" h="770889">
                  <a:moveTo>
                    <a:pt x="2400300" y="75349"/>
                  </a:moveTo>
                  <a:lnTo>
                    <a:pt x="2387473" y="33007"/>
                  </a:lnTo>
                  <a:lnTo>
                    <a:pt x="2353272" y="4953"/>
                  </a:lnTo>
                  <a:lnTo>
                    <a:pt x="2334857" y="0"/>
                  </a:lnTo>
                  <a:lnTo>
                    <a:pt x="2338971" y="1092"/>
                  </a:lnTo>
                  <a:lnTo>
                    <a:pt x="2352979" y="8826"/>
                  </a:lnTo>
                  <a:lnTo>
                    <a:pt x="2376906" y="46189"/>
                  </a:lnTo>
                  <a:lnTo>
                    <a:pt x="2381250" y="75349"/>
                  </a:lnTo>
                  <a:lnTo>
                    <a:pt x="2381250" y="751624"/>
                  </a:lnTo>
                  <a:lnTo>
                    <a:pt x="2380297" y="751624"/>
                  </a:lnTo>
                  <a:lnTo>
                    <a:pt x="20002" y="751624"/>
                  </a:lnTo>
                  <a:lnTo>
                    <a:pt x="19050" y="751624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751624"/>
                  </a:lnTo>
                  <a:lnTo>
                    <a:pt x="0" y="757326"/>
                  </a:lnTo>
                  <a:lnTo>
                    <a:pt x="1803" y="761669"/>
                  </a:lnTo>
                  <a:lnTo>
                    <a:pt x="5880" y="765759"/>
                  </a:lnTo>
                  <a:lnTo>
                    <a:pt x="9004" y="768883"/>
                  </a:lnTo>
                  <a:lnTo>
                    <a:pt x="13360" y="770674"/>
                  </a:lnTo>
                  <a:lnTo>
                    <a:pt x="2386952" y="770674"/>
                  </a:lnTo>
                  <a:lnTo>
                    <a:pt x="2391295" y="768883"/>
                  </a:lnTo>
                  <a:lnTo>
                    <a:pt x="2394420" y="765759"/>
                  </a:lnTo>
                  <a:lnTo>
                    <a:pt x="2398509" y="761669"/>
                  </a:lnTo>
                  <a:lnTo>
                    <a:pt x="2400300" y="757326"/>
                  </a:lnTo>
                  <a:lnTo>
                    <a:pt x="2400300" y="751624"/>
                  </a:lnTo>
                  <a:lnTo>
                    <a:pt x="2400300" y="75349"/>
                  </a:lnTo>
                  <a:close/>
                </a:path>
              </a:pathLst>
            </a:custGeom>
            <a:solidFill>
              <a:srgbClr val="D5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33712" y="1638299"/>
              <a:ext cx="2400300" cy="447675"/>
            </a:xfrm>
            <a:custGeom>
              <a:avLst/>
              <a:gdLst/>
              <a:ahLst/>
              <a:cxnLst/>
              <a:rect l="l" t="t" r="r" b="b"/>
              <a:pathLst>
                <a:path w="2400300" h="447675">
                  <a:moveTo>
                    <a:pt x="2400300" y="216027"/>
                  </a:moveTo>
                  <a:lnTo>
                    <a:pt x="2384310" y="200025"/>
                  </a:lnTo>
                  <a:lnTo>
                    <a:pt x="1416177" y="200025"/>
                  </a:lnTo>
                  <a:lnTo>
                    <a:pt x="1415237" y="190461"/>
                  </a:lnTo>
                  <a:lnTo>
                    <a:pt x="1405483" y="148615"/>
                  </a:lnTo>
                  <a:lnTo>
                    <a:pt x="1387754" y="109486"/>
                  </a:lnTo>
                  <a:lnTo>
                    <a:pt x="1362722" y="74549"/>
                  </a:lnTo>
                  <a:lnTo>
                    <a:pt x="1331353" y="45186"/>
                  </a:lnTo>
                  <a:lnTo>
                    <a:pt x="1294866" y="22491"/>
                  </a:lnTo>
                  <a:lnTo>
                    <a:pt x="1254645" y="7353"/>
                  </a:lnTo>
                  <a:lnTo>
                    <a:pt x="1212253" y="355"/>
                  </a:lnTo>
                  <a:lnTo>
                    <a:pt x="1205103" y="0"/>
                  </a:lnTo>
                  <a:lnTo>
                    <a:pt x="1190752" y="0"/>
                  </a:lnTo>
                  <a:lnTo>
                    <a:pt x="1148143" y="5613"/>
                  </a:lnTo>
                  <a:lnTo>
                    <a:pt x="1107452" y="19431"/>
                  </a:lnTo>
                  <a:lnTo>
                    <a:pt x="1070241" y="40919"/>
                  </a:lnTo>
                  <a:lnTo>
                    <a:pt x="1037945" y="69240"/>
                  </a:lnTo>
                  <a:lnTo>
                    <a:pt x="1011783" y="103339"/>
                  </a:lnTo>
                  <a:lnTo>
                    <a:pt x="992784" y="141871"/>
                  </a:lnTo>
                  <a:lnTo>
                    <a:pt x="981659" y="183375"/>
                  </a:lnTo>
                  <a:lnTo>
                    <a:pt x="979652" y="200025"/>
                  </a:lnTo>
                  <a:lnTo>
                    <a:pt x="16002" y="200025"/>
                  </a:lnTo>
                  <a:lnTo>
                    <a:pt x="0" y="216027"/>
                  </a:lnTo>
                  <a:lnTo>
                    <a:pt x="0" y="276225"/>
                  </a:lnTo>
                  <a:lnTo>
                    <a:pt x="984021" y="276225"/>
                  </a:lnTo>
                  <a:lnTo>
                    <a:pt x="984453" y="278384"/>
                  </a:lnTo>
                  <a:lnTo>
                    <a:pt x="998270" y="319074"/>
                  </a:lnTo>
                  <a:lnTo>
                    <a:pt x="1019759" y="356285"/>
                  </a:lnTo>
                  <a:lnTo>
                    <a:pt x="1048092" y="388594"/>
                  </a:lnTo>
                  <a:lnTo>
                    <a:pt x="1082179" y="414743"/>
                  </a:lnTo>
                  <a:lnTo>
                    <a:pt x="1120711" y="433755"/>
                  </a:lnTo>
                  <a:lnTo>
                    <a:pt x="1162215" y="444868"/>
                  </a:lnTo>
                  <a:lnTo>
                    <a:pt x="1190752" y="447675"/>
                  </a:lnTo>
                  <a:lnTo>
                    <a:pt x="1205103" y="447675"/>
                  </a:lnTo>
                  <a:lnTo>
                    <a:pt x="1247698" y="442074"/>
                  </a:lnTo>
                  <a:lnTo>
                    <a:pt x="1288389" y="428256"/>
                  </a:lnTo>
                  <a:lnTo>
                    <a:pt x="1325600" y="406768"/>
                  </a:lnTo>
                  <a:lnTo>
                    <a:pt x="1357909" y="378447"/>
                  </a:lnTo>
                  <a:lnTo>
                    <a:pt x="1384058" y="344347"/>
                  </a:lnTo>
                  <a:lnTo>
                    <a:pt x="1403070" y="305816"/>
                  </a:lnTo>
                  <a:lnTo>
                    <a:pt x="1411808" y="276225"/>
                  </a:lnTo>
                  <a:lnTo>
                    <a:pt x="2400300" y="276225"/>
                  </a:lnTo>
                  <a:lnTo>
                    <a:pt x="2400300" y="216027"/>
                  </a:lnTo>
                  <a:close/>
                </a:path>
              </a:pathLst>
            </a:custGeom>
            <a:solidFill>
              <a:srgbClr val="1B5E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277568" y="1734280"/>
            <a:ext cx="11239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6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86521" y="2203195"/>
            <a:ext cx="1974214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rgbClr val="2B2820"/>
                </a:solidFill>
                <a:latin typeface="Georgia"/>
                <a:cs typeface="Georgia"/>
              </a:rPr>
              <a:t>Audiencia</a:t>
            </a:r>
            <a:r>
              <a:rPr sz="1450" spc="-35" dirty="0">
                <a:solidFill>
                  <a:srgbClr val="2B2820"/>
                </a:solidFill>
                <a:latin typeface="Georgia"/>
                <a:cs typeface="Georgia"/>
              </a:rPr>
              <a:t> </a:t>
            </a:r>
            <a:r>
              <a:rPr sz="1450" spc="-110" dirty="0">
                <a:solidFill>
                  <a:srgbClr val="2B2820"/>
                </a:solidFill>
                <a:latin typeface="Georgia"/>
                <a:cs typeface="Georgia"/>
              </a:rPr>
              <a:t>/</a:t>
            </a:r>
            <a:r>
              <a:rPr sz="1450" spc="-30" dirty="0">
                <a:solidFill>
                  <a:srgbClr val="2B2820"/>
                </a:solidFill>
                <a:latin typeface="Georgia"/>
                <a:cs typeface="Georgia"/>
              </a:rPr>
              <a:t> </a:t>
            </a:r>
            <a:r>
              <a:rPr sz="1450" spc="-10" dirty="0">
                <a:solidFill>
                  <a:srgbClr val="2B2820"/>
                </a:solidFill>
                <a:latin typeface="Georgia"/>
                <a:cs typeface="Georgia"/>
              </a:rPr>
              <a:t>stakeholder</a:t>
            </a:r>
            <a:endParaRPr sz="1450">
              <a:latin typeface="Georgia"/>
              <a:cs typeface="Georg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09599" y="2752724"/>
            <a:ext cx="2400300" cy="981075"/>
            <a:chOff x="609599" y="2752724"/>
            <a:chExt cx="2400300" cy="981075"/>
          </a:xfrm>
        </p:grpSpPr>
        <p:sp>
          <p:nvSpPr>
            <p:cNvPr id="18" name="object 18"/>
            <p:cNvSpPr/>
            <p:nvPr/>
          </p:nvSpPr>
          <p:spPr>
            <a:xfrm>
              <a:off x="619124" y="2971799"/>
              <a:ext cx="2381250" cy="752475"/>
            </a:xfrm>
            <a:custGeom>
              <a:avLst/>
              <a:gdLst/>
              <a:ahLst/>
              <a:cxnLst/>
              <a:rect l="l" t="t" r="r" b="b"/>
              <a:pathLst>
                <a:path w="2381250" h="752475">
                  <a:moveTo>
                    <a:pt x="2374792" y="752474"/>
                  </a:moveTo>
                  <a:lnTo>
                    <a:pt x="6457" y="752474"/>
                  </a:lnTo>
                  <a:lnTo>
                    <a:pt x="4354" y="751603"/>
                  </a:lnTo>
                  <a:lnTo>
                    <a:pt x="871" y="748120"/>
                  </a:lnTo>
                  <a:lnTo>
                    <a:pt x="0" y="746017"/>
                  </a:lnTo>
                  <a:lnTo>
                    <a:pt x="0" y="743554"/>
                  </a:lnTo>
                  <a:lnTo>
                    <a:pt x="0" y="71196"/>
                  </a:lnTo>
                  <a:lnTo>
                    <a:pt x="13669" y="29705"/>
                  </a:lnTo>
                  <a:lnTo>
                    <a:pt x="45204" y="3885"/>
                  </a:lnTo>
                  <a:lnTo>
                    <a:pt x="62297" y="0"/>
                  </a:lnTo>
                  <a:lnTo>
                    <a:pt x="2318952" y="0"/>
                  </a:lnTo>
                  <a:lnTo>
                    <a:pt x="2355257" y="15621"/>
                  </a:lnTo>
                  <a:lnTo>
                    <a:pt x="2377850" y="51661"/>
                  </a:lnTo>
                  <a:lnTo>
                    <a:pt x="2381249" y="71196"/>
                  </a:lnTo>
                  <a:lnTo>
                    <a:pt x="2381249" y="746017"/>
                  </a:lnTo>
                  <a:lnTo>
                    <a:pt x="2380379" y="748120"/>
                  </a:lnTo>
                  <a:lnTo>
                    <a:pt x="2376894" y="751603"/>
                  </a:lnTo>
                  <a:lnTo>
                    <a:pt x="2374792" y="752474"/>
                  </a:lnTo>
                  <a:close/>
                </a:path>
              </a:pathLst>
            </a:custGeom>
            <a:solidFill>
              <a:srgbClr val="FBF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9587" y="2972650"/>
              <a:ext cx="2400300" cy="761365"/>
            </a:xfrm>
            <a:custGeom>
              <a:avLst/>
              <a:gdLst/>
              <a:ahLst/>
              <a:cxnLst/>
              <a:rect l="l" t="t" r="r" b="b"/>
              <a:pathLst>
                <a:path w="2400300" h="761364">
                  <a:moveTo>
                    <a:pt x="2400300" y="75349"/>
                  </a:moveTo>
                  <a:lnTo>
                    <a:pt x="2387473" y="33007"/>
                  </a:lnTo>
                  <a:lnTo>
                    <a:pt x="2353272" y="4953"/>
                  </a:lnTo>
                  <a:lnTo>
                    <a:pt x="2334857" y="0"/>
                  </a:lnTo>
                  <a:lnTo>
                    <a:pt x="2338971" y="1092"/>
                  </a:lnTo>
                  <a:lnTo>
                    <a:pt x="2352979" y="8826"/>
                  </a:lnTo>
                  <a:lnTo>
                    <a:pt x="2376906" y="46189"/>
                  </a:lnTo>
                  <a:lnTo>
                    <a:pt x="2381250" y="75349"/>
                  </a:lnTo>
                  <a:lnTo>
                    <a:pt x="2381250" y="742099"/>
                  </a:lnTo>
                  <a:lnTo>
                    <a:pt x="2380297" y="742099"/>
                  </a:lnTo>
                  <a:lnTo>
                    <a:pt x="20002" y="742099"/>
                  </a:lnTo>
                  <a:lnTo>
                    <a:pt x="19050" y="742099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742099"/>
                  </a:lnTo>
                  <a:lnTo>
                    <a:pt x="0" y="747801"/>
                  </a:lnTo>
                  <a:lnTo>
                    <a:pt x="1803" y="752144"/>
                  </a:lnTo>
                  <a:lnTo>
                    <a:pt x="5880" y="756234"/>
                  </a:lnTo>
                  <a:lnTo>
                    <a:pt x="9017" y="759358"/>
                  </a:lnTo>
                  <a:lnTo>
                    <a:pt x="13360" y="761149"/>
                  </a:lnTo>
                  <a:lnTo>
                    <a:pt x="2386952" y="761149"/>
                  </a:lnTo>
                  <a:lnTo>
                    <a:pt x="2391295" y="759358"/>
                  </a:lnTo>
                  <a:lnTo>
                    <a:pt x="2394420" y="756234"/>
                  </a:lnTo>
                  <a:lnTo>
                    <a:pt x="2398509" y="752144"/>
                  </a:lnTo>
                  <a:lnTo>
                    <a:pt x="2400300" y="747801"/>
                  </a:lnTo>
                  <a:lnTo>
                    <a:pt x="2400300" y="742099"/>
                  </a:lnTo>
                  <a:lnTo>
                    <a:pt x="2400300" y="75349"/>
                  </a:lnTo>
                  <a:close/>
                </a:path>
              </a:pathLst>
            </a:custGeom>
            <a:solidFill>
              <a:srgbClr val="D5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9587" y="2752724"/>
              <a:ext cx="2400300" cy="438150"/>
            </a:xfrm>
            <a:custGeom>
              <a:avLst/>
              <a:gdLst/>
              <a:ahLst/>
              <a:cxnLst/>
              <a:rect l="l" t="t" r="r" b="b"/>
              <a:pathLst>
                <a:path w="2400300" h="438150">
                  <a:moveTo>
                    <a:pt x="2400300" y="216027"/>
                  </a:moveTo>
                  <a:lnTo>
                    <a:pt x="2384310" y="200025"/>
                  </a:lnTo>
                  <a:lnTo>
                    <a:pt x="1416177" y="200025"/>
                  </a:lnTo>
                  <a:lnTo>
                    <a:pt x="1415237" y="190461"/>
                  </a:lnTo>
                  <a:lnTo>
                    <a:pt x="1405483" y="148615"/>
                  </a:lnTo>
                  <a:lnTo>
                    <a:pt x="1387754" y="109486"/>
                  </a:lnTo>
                  <a:lnTo>
                    <a:pt x="1362722" y="74549"/>
                  </a:lnTo>
                  <a:lnTo>
                    <a:pt x="1331353" y="45186"/>
                  </a:lnTo>
                  <a:lnTo>
                    <a:pt x="1294866" y="22491"/>
                  </a:lnTo>
                  <a:lnTo>
                    <a:pt x="1254645" y="7353"/>
                  </a:lnTo>
                  <a:lnTo>
                    <a:pt x="1212253" y="355"/>
                  </a:lnTo>
                  <a:lnTo>
                    <a:pt x="1205103" y="0"/>
                  </a:lnTo>
                  <a:lnTo>
                    <a:pt x="1190752" y="0"/>
                  </a:lnTo>
                  <a:lnTo>
                    <a:pt x="1148143" y="5613"/>
                  </a:lnTo>
                  <a:lnTo>
                    <a:pt x="1107452" y="19431"/>
                  </a:lnTo>
                  <a:lnTo>
                    <a:pt x="1070241" y="40919"/>
                  </a:lnTo>
                  <a:lnTo>
                    <a:pt x="1037945" y="69240"/>
                  </a:lnTo>
                  <a:lnTo>
                    <a:pt x="1011783" y="103339"/>
                  </a:lnTo>
                  <a:lnTo>
                    <a:pt x="992784" y="141871"/>
                  </a:lnTo>
                  <a:lnTo>
                    <a:pt x="981659" y="183375"/>
                  </a:lnTo>
                  <a:lnTo>
                    <a:pt x="979652" y="200025"/>
                  </a:lnTo>
                  <a:lnTo>
                    <a:pt x="16002" y="200025"/>
                  </a:lnTo>
                  <a:lnTo>
                    <a:pt x="0" y="216027"/>
                  </a:lnTo>
                  <a:lnTo>
                    <a:pt x="0" y="276225"/>
                  </a:lnTo>
                  <a:lnTo>
                    <a:pt x="986320" y="276225"/>
                  </a:lnTo>
                  <a:lnTo>
                    <a:pt x="990358" y="289547"/>
                  </a:lnTo>
                  <a:lnTo>
                    <a:pt x="1008100" y="328676"/>
                  </a:lnTo>
                  <a:lnTo>
                    <a:pt x="1033132" y="363601"/>
                  </a:lnTo>
                  <a:lnTo>
                    <a:pt x="1064488" y="392976"/>
                  </a:lnTo>
                  <a:lnTo>
                    <a:pt x="1100975" y="415671"/>
                  </a:lnTo>
                  <a:lnTo>
                    <a:pt x="1141196" y="430809"/>
                  </a:lnTo>
                  <a:lnTo>
                    <a:pt x="1183589" y="437807"/>
                  </a:lnTo>
                  <a:lnTo>
                    <a:pt x="1190752" y="438150"/>
                  </a:lnTo>
                  <a:lnTo>
                    <a:pt x="1205103" y="438150"/>
                  </a:lnTo>
                  <a:lnTo>
                    <a:pt x="1247698" y="432549"/>
                  </a:lnTo>
                  <a:lnTo>
                    <a:pt x="1288389" y="418731"/>
                  </a:lnTo>
                  <a:lnTo>
                    <a:pt x="1325600" y="397243"/>
                  </a:lnTo>
                  <a:lnTo>
                    <a:pt x="1357909" y="368922"/>
                  </a:lnTo>
                  <a:lnTo>
                    <a:pt x="1384058" y="334822"/>
                  </a:lnTo>
                  <a:lnTo>
                    <a:pt x="1403070" y="296291"/>
                  </a:lnTo>
                  <a:lnTo>
                    <a:pt x="1409509" y="276225"/>
                  </a:lnTo>
                  <a:lnTo>
                    <a:pt x="2400300" y="276225"/>
                  </a:lnTo>
                  <a:lnTo>
                    <a:pt x="2400300" y="216027"/>
                  </a:lnTo>
                  <a:close/>
                </a:path>
              </a:pathLst>
            </a:custGeom>
            <a:solidFill>
              <a:srgbClr val="1B5E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752699" y="2839180"/>
            <a:ext cx="11176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solidFill>
                  <a:srgbClr val="FFFFFF"/>
                </a:solidFill>
                <a:latin typeface="Georgia"/>
                <a:cs typeface="Georgia"/>
              </a:rPr>
              <a:t>3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1355" y="3317620"/>
            <a:ext cx="192786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rgbClr val="2B2820"/>
                </a:solidFill>
                <a:latin typeface="Georgia"/>
                <a:cs typeface="Georgia"/>
              </a:rPr>
              <a:t>Canal</a:t>
            </a:r>
            <a:r>
              <a:rPr sz="1450" spc="-25" dirty="0">
                <a:solidFill>
                  <a:srgbClr val="2B2820"/>
                </a:solidFill>
                <a:latin typeface="Georgia"/>
                <a:cs typeface="Georgia"/>
              </a:rPr>
              <a:t> </a:t>
            </a:r>
            <a:r>
              <a:rPr sz="1450" dirty="0">
                <a:solidFill>
                  <a:srgbClr val="2B2820"/>
                </a:solidFill>
                <a:latin typeface="Georgia"/>
                <a:cs typeface="Georgia"/>
              </a:rPr>
              <a:t>de</a:t>
            </a:r>
            <a:r>
              <a:rPr sz="1450" spc="-20" dirty="0">
                <a:solidFill>
                  <a:srgbClr val="2B2820"/>
                </a:solidFill>
                <a:latin typeface="Georgia"/>
                <a:cs typeface="Georgia"/>
              </a:rPr>
              <a:t> </a:t>
            </a:r>
            <a:r>
              <a:rPr sz="1450" spc="-10" dirty="0">
                <a:solidFill>
                  <a:srgbClr val="2B2820"/>
                </a:solidFill>
                <a:latin typeface="Georgia"/>
                <a:cs typeface="Georgia"/>
              </a:rPr>
              <a:t>comunicación</a:t>
            </a:r>
            <a:endParaRPr sz="1450">
              <a:latin typeface="Georgia"/>
              <a:cs typeface="Georg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133724" y="2752724"/>
            <a:ext cx="2400300" cy="981075"/>
            <a:chOff x="3133724" y="2752724"/>
            <a:chExt cx="2400300" cy="981075"/>
          </a:xfrm>
        </p:grpSpPr>
        <p:sp>
          <p:nvSpPr>
            <p:cNvPr id="24" name="object 24"/>
            <p:cNvSpPr/>
            <p:nvPr/>
          </p:nvSpPr>
          <p:spPr>
            <a:xfrm>
              <a:off x="3143249" y="2971799"/>
              <a:ext cx="2381250" cy="752475"/>
            </a:xfrm>
            <a:custGeom>
              <a:avLst/>
              <a:gdLst/>
              <a:ahLst/>
              <a:cxnLst/>
              <a:rect l="l" t="t" r="r" b="b"/>
              <a:pathLst>
                <a:path w="2381250" h="752475">
                  <a:moveTo>
                    <a:pt x="2374792" y="752474"/>
                  </a:moveTo>
                  <a:lnTo>
                    <a:pt x="6457" y="752474"/>
                  </a:lnTo>
                  <a:lnTo>
                    <a:pt x="4354" y="751603"/>
                  </a:lnTo>
                  <a:lnTo>
                    <a:pt x="870" y="748120"/>
                  </a:lnTo>
                  <a:lnTo>
                    <a:pt x="0" y="746017"/>
                  </a:lnTo>
                  <a:lnTo>
                    <a:pt x="0" y="743554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3" y="3885"/>
                  </a:lnTo>
                  <a:lnTo>
                    <a:pt x="62297" y="0"/>
                  </a:lnTo>
                  <a:lnTo>
                    <a:pt x="2318953" y="0"/>
                  </a:lnTo>
                  <a:lnTo>
                    <a:pt x="2355256" y="15621"/>
                  </a:lnTo>
                  <a:lnTo>
                    <a:pt x="2377849" y="51661"/>
                  </a:lnTo>
                  <a:lnTo>
                    <a:pt x="2381250" y="71196"/>
                  </a:lnTo>
                  <a:lnTo>
                    <a:pt x="2381250" y="746017"/>
                  </a:lnTo>
                  <a:lnTo>
                    <a:pt x="2380379" y="748120"/>
                  </a:lnTo>
                  <a:lnTo>
                    <a:pt x="2376894" y="751603"/>
                  </a:lnTo>
                  <a:lnTo>
                    <a:pt x="2374792" y="752474"/>
                  </a:lnTo>
                  <a:close/>
                </a:path>
              </a:pathLst>
            </a:custGeom>
            <a:solidFill>
              <a:srgbClr val="FBF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33712" y="2972650"/>
              <a:ext cx="2400300" cy="761365"/>
            </a:xfrm>
            <a:custGeom>
              <a:avLst/>
              <a:gdLst/>
              <a:ahLst/>
              <a:cxnLst/>
              <a:rect l="l" t="t" r="r" b="b"/>
              <a:pathLst>
                <a:path w="2400300" h="761364">
                  <a:moveTo>
                    <a:pt x="2400300" y="75349"/>
                  </a:moveTo>
                  <a:lnTo>
                    <a:pt x="2387473" y="33007"/>
                  </a:lnTo>
                  <a:lnTo>
                    <a:pt x="2353272" y="4953"/>
                  </a:lnTo>
                  <a:lnTo>
                    <a:pt x="2334857" y="0"/>
                  </a:lnTo>
                  <a:lnTo>
                    <a:pt x="2338971" y="1092"/>
                  </a:lnTo>
                  <a:lnTo>
                    <a:pt x="2352979" y="8826"/>
                  </a:lnTo>
                  <a:lnTo>
                    <a:pt x="2376906" y="46189"/>
                  </a:lnTo>
                  <a:lnTo>
                    <a:pt x="2381250" y="75349"/>
                  </a:lnTo>
                  <a:lnTo>
                    <a:pt x="2381250" y="742099"/>
                  </a:lnTo>
                  <a:lnTo>
                    <a:pt x="2380297" y="742099"/>
                  </a:lnTo>
                  <a:lnTo>
                    <a:pt x="20002" y="742099"/>
                  </a:lnTo>
                  <a:lnTo>
                    <a:pt x="19050" y="742099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742099"/>
                  </a:lnTo>
                  <a:lnTo>
                    <a:pt x="0" y="747801"/>
                  </a:lnTo>
                  <a:lnTo>
                    <a:pt x="1803" y="752144"/>
                  </a:lnTo>
                  <a:lnTo>
                    <a:pt x="5880" y="756234"/>
                  </a:lnTo>
                  <a:lnTo>
                    <a:pt x="9004" y="759358"/>
                  </a:lnTo>
                  <a:lnTo>
                    <a:pt x="13360" y="761149"/>
                  </a:lnTo>
                  <a:lnTo>
                    <a:pt x="2386952" y="761149"/>
                  </a:lnTo>
                  <a:lnTo>
                    <a:pt x="2391295" y="759358"/>
                  </a:lnTo>
                  <a:lnTo>
                    <a:pt x="2394420" y="756234"/>
                  </a:lnTo>
                  <a:lnTo>
                    <a:pt x="2398509" y="752144"/>
                  </a:lnTo>
                  <a:lnTo>
                    <a:pt x="2400300" y="747801"/>
                  </a:lnTo>
                  <a:lnTo>
                    <a:pt x="2400300" y="742099"/>
                  </a:lnTo>
                  <a:lnTo>
                    <a:pt x="2400300" y="75349"/>
                  </a:lnTo>
                  <a:close/>
                </a:path>
              </a:pathLst>
            </a:custGeom>
            <a:solidFill>
              <a:srgbClr val="D5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133712" y="2752724"/>
              <a:ext cx="2400300" cy="438150"/>
            </a:xfrm>
            <a:custGeom>
              <a:avLst/>
              <a:gdLst/>
              <a:ahLst/>
              <a:cxnLst/>
              <a:rect l="l" t="t" r="r" b="b"/>
              <a:pathLst>
                <a:path w="2400300" h="438150">
                  <a:moveTo>
                    <a:pt x="2400300" y="216027"/>
                  </a:moveTo>
                  <a:lnTo>
                    <a:pt x="2384310" y="200025"/>
                  </a:lnTo>
                  <a:lnTo>
                    <a:pt x="1416177" y="200025"/>
                  </a:lnTo>
                  <a:lnTo>
                    <a:pt x="1415237" y="190461"/>
                  </a:lnTo>
                  <a:lnTo>
                    <a:pt x="1405483" y="148615"/>
                  </a:lnTo>
                  <a:lnTo>
                    <a:pt x="1387754" y="109486"/>
                  </a:lnTo>
                  <a:lnTo>
                    <a:pt x="1362722" y="74549"/>
                  </a:lnTo>
                  <a:lnTo>
                    <a:pt x="1331353" y="45186"/>
                  </a:lnTo>
                  <a:lnTo>
                    <a:pt x="1294866" y="22491"/>
                  </a:lnTo>
                  <a:lnTo>
                    <a:pt x="1254645" y="7353"/>
                  </a:lnTo>
                  <a:lnTo>
                    <a:pt x="1212253" y="355"/>
                  </a:lnTo>
                  <a:lnTo>
                    <a:pt x="1205103" y="0"/>
                  </a:lnTo>
                  <a:lnTo>
                    <a:pt x="1190752" y="0"/>
                  </a:lnTo>
                  <a:lnTo>
                    <a:pt x="1148143" y="5613"/>
                  </a:lnTo>
                  <a:lnTo>
                    <a:pt x="1107452" y="19431"/>
                  </a:lnTo>
                  <a:lnTo>
                    <a:pt x="1070241" y="40919"/>
                  </a:lnTo>
                  <a:lnTo>
                    <a:pt x="1037945" y="69240"/>
                  </a:lnTo>
                  <a:lnTo>
                    <a:pt x="1011783" y="103339"/>
                  </a:lnTo>
                  <a:lnTo>
                    <a:pt x="992784" y="141871"/>
                  </a:lnTo>
                  <a:lnTo>
                    <a:pt x="981659" y="183375"/>
                  </a:lnTo>
                  <a:lnTo>
                    <a:pt x="979652" y="200025"/>
                  </a:lnTo>
                  <a:lnTo>
                    <a:pt x="16002" y="200025"/>
                  </a:lnTo>
                  <a:lnTo>
                    <a:pt x="0" y="216027"/>
                  </a:lnTo>
                  <a:lnTo>
                    <a:pt x="0" y="276225"/>
                  </a:lnTo>
                  <a:lnTo>
                    <a:pt x="986320" y="276225"/>
                  </a:lnTo>
                  <a:lnTo>
                    <a:pt x="990358" y="289547"/>
                  </a:lnTo>
                  <a:lnTo>
                    <a:pt x="1008100" y="328676"/>
                  </a:lnTo>
                  <a:lnTo>
                    <a:pt x="1033132" y="363601"/>
                  </a:lnTo>
                  <a:lnTo>
                    <a:pt x="1064488" y="392976"/>
                  </a:lnTo>
                  <a:lnTo>
                    <a:pt x="1100975" y="415671"/>
                  </a:lnTo>
                  <a:lnTo>
                    <a:pt x="1141196" y="430809"/>
                  </a:lnTo>
                  <a:lnTo>
                    <a:pt x="1183589" y="437807"/>
                  </a:lnTo>
                  <a:lnTo>
                    <a:pt x="1190752" y="438150"/>
                  </a:lnTo>
                  <a:lnTo>
                    <a:pt x="1205103" y="438150"/>
                  </a:lnTo>
                  <a:lnTo>
                    <a:pt x="1247698" y="432549"/>
                  </a:lnTo>
                  <a:lnTo>
                    <a:pt x="1288389" y="418731"/>
                  </a:lnTo>
                  <a:lnTo>
                    <a:pt x="1325600" y="397243"/>
                  </a:lnTo>
                  <a:lnTo>
                    <a:pt x="1357909" y="368922"/>
                  </a:lnTo>
                  <a:lnTo>
                    <a:pt x="1384058" y="334822"/>
                  </a:lnTo>
                  <a:lnTo>
                    <a:pt x="1403070" y="296291"/>
                  </a:lnTo>
                  <a:lnTo>
                    <a:pt x="1409509" y="276225"/>
                  </a:lnTo>
                  <a:lnTo>
                    <a:pt x="2400300" y="276225"/>
                  </a:lnTo>
                  <a:lnTo>
                    <a:pt x="2400300" y="216027"/>
                  </a:lnTo>
                  <a:close/>
                </a:path>
              </a:pathLst>
            </a:custGeom>
            <a:solidFill>
              <a:srgbClr val="1B5E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277121" y="2839180"/>
            <a:ext cx="113664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solidFill>
                  <a:srgbClr val="FFFFFF"/>
                </a:solidFill>
                <a:latin typeface="Georgia"/>
                <a:cs typeface="Georgia"/>
              </a:rPr>
              <a:t>4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86521" y="3317620"/>
            <a:ext cx="1885314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rgbClr val="2B2820"/>
                </a:solidFill>
                <a:latin typeface="Georgia"/>
                <a:cs typeface="Georgia"/>
              </a:rPr>
              <a:t>Información</a:t>
            </a:r>
            <a:r>
              <a:rPr sz="1450" spc="-40" dirty="0">
                <a:solidFill>
                  <a:srgbClr val="2B2820"/>
                </a:solidFill>
                <a:latin typeface="Georgia"/>
                <a:cs typeface="Georgia"/>
              </a:rPr>
              <a:t> </a:t>
            </a:r>
            <a:r>
              <a:rPr sz="1450" dirty="0">
                <a:solidFill>
                  <a:srgbClr val="2B2820"/>
                </a:solidFill>
                <a:latin typeface="Georgia"/>
                <a:cs typeface="Georgia"/>
              </a:rPr>
              <a:t>del</a:t>
            </a:r>
            <a:r>
              <a:rPr sz="1450" spc="-35" dirty="0">
                <a:solidFill>
                  <a:srgbClr val="2B2820"/>
                </a:solidFill>
                <a:latin typeface="Georgia"/>
                <a:cs typeface="Georgia"/>
              </a:rPr>
              <a:t> </a:t>
            </a:r>
            <a:r>
              <a:rPr sz="1450" spc="-10" dirty="0">
                <a:solidFill>
                  <a:srgbClr val="2B2820"/>
                </a:solidFill>
                <a:latin typeface="Georgia"/>
                <a:cs typeface="Georgia"/>
              </a:rPr>
              <a:t>status</a:t>
            </a:r>
            <a:endParaRPr sz="1450">
              <a:latin typeface="Georgia"/>
              <a:cs typeface="Georg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09599" y="3857624"/>
            <a:ext cx="2400300" cy="990600"/>
            <a:chOff x="609599" y="3857624"/>
            <a:chExt cx="2400300" cy="990600"/>
          </a:xfrm>
        </p:grpSpPr>
        <p:sp>
          <p:nvSpPr>
            <p:cNvPr id="30" name="object 30"/>
            <p:cNvSpPr/>
            <p:nvPr/>
          </p:nvSpPr>
          <p:spPr>
            <a:xfrm>
              <a:off x="619124" y="4076699"/>
              <a:ext cx="2381250" cy="762000"/>
            </a:xfrm>
            <a:custGeom>
              <a:avLst/>
              <a:gdLst/>
              <a:ahLst/>
              <a:cxnLst/>
              <a:rect l="l" t="t" r="r" b="b"/>
              <a:pathLst>
                <a:path w="2381250" h="762000">
                  <a:moveTo>
                    <a:pt x="2374792" y="761999"/>
                  </a:moveTo>
                  <a:lnTo>
                    <a:pt x="6457" y="761999"/>
                  </a:lnTo>
                  <a:lnTo>
                    <a:pt x="4354" y="761128"/>
                  </a:lnTo>
                  <a:lnTo>
                    <a:pt x="871" y="757645"/>
                  </a:lnTo>
                  <a:lnTo>
                    <a:pt x="0" y="755542"/>
                  </a:lnTo>
                  <a:lnTo>
                    <a:pt x="0" y="753079"/>
                  </a:lnTo>
                  <a:lnTo>
                    <a:pt x="0" y="71196"/>
                  </a:lnTo>
                  <a:lnTo>
                    <a:pt x="13669" y="29705"/>
                  </a:lnTo>
                  <a:lnTo>
                    <a:pt x="45204" y="3885"/>
                  </a:lnTo>
                  <a:lnTo>
                    <a:pt x="62297" y="0"/>
                  </a:lnTo>
                  <a:lnTo>
                    <a:pt x="2318952" y="0"/>
                  </a:lnTo>
                  <a:lnTo>
                    <a:pt x="2355257" y="15621"/>
                  </a:lnTo>
                  <a:lnTo>
                    <a:pt x="2377850" y="51661"/>
                  </a:lnTo>
                  <a:lnTo>
                    <a:pt x="2381249" y="71196"/>
                  </a:lnTo>
                  <a:lnTo>
                    <a:pt x="2381249" y="755542"/>
                  </a:lnTo>
                  <a:lnTo>
                    <a:pt x="2380379" y="757645"/>
                  </a:lnTo>
                  <a:lnTo>
                    <a:pt x="2376894" y="761128"/>
                  </a:lnTo>
                  <a:lnTo>
                    <a:pt x="2374792" y="761999"/>
                  </a:lnTo>
                  <a:close/>
                </a:path>
              </a:pathLst>
            </a:custGeom>
            <a:solidFill>
              <a:srgbClr val="FBF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9587" y="4077550"/>
              <a:ext cx="2400300" cy="770890"/>
            </a:xfrm>
            <a:custGeom>
              <a:avLst/>
              <a:gdLst/>
              <a:ahLst/>
              <a:cxnLst/>
              <a:rect l="l" t="t" r="r" b="b"/>
              <a:pathLst>
                <a:path w="2400300" h="770889">
                  <a:moveTo>
                    <a:pt x="2400300" y="75349"/>
                  </a:moveTo>
                  <a:lnTo>
                    <a:pt x="2387473" y="33007"/>
                  </a:lnTo>
                  <a:lnTo>
                    <a:pt x="2353272" y="4953"/>
                  </a:lnTo>
                  <a:lnTo>
                    <a:pt x="2334857" y="0"/>
                  </a:lnTo>
                  <a:lnTo>
                    <a:pt x="2338971" y="1092"/>
                  </a:lnTo>
                  <a:lnTo>
                    <a:pt x="2352979" y="8826"/>
                  </a:lnTo>
                  <a:lnTo>
                    <a:pt x="2376906" y="46189"/>
                  </a:lnTo>
                  <a:lnTo>
                    <a:pt x="2381250" y="75349"/>
                  </a:lnTo>
                  <a:lnTo>
                    <a:pt x="2381250" y="751624"/>
                  </a:lnTo>
                  <a:lnTo>
                    <a:pt x="2380297" y="751624"/>
                  </a:lnTo>
                  <a:lnTo>
                    <a:pt x="20002" y="751624"/>
                  </a:lnTo>
                  <a:lnTo>
                    <a:pt x="19050" y="751624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751624"/>
                  </a:lnTo>
                  <a:lnTo>
                    <a:pt x="0" y="757326"/>
                  </a:lnTo>
                  <a:lnTo>
                    <a:pt x="1803" y="761669"/>
                  </a:lnTo>
                  <a:lnTo>
                    <a:pt x="5880" y="765759"/>
                  </a:lnTo>
                  <a:lnTo>
                    <a:pt x="9017" y="768883"/>
                  </a:lnTo>
                  <a:lnTo>
                    <a:pt x="13360" y="770674"/>
                  </a:lnTo>
                  <a:lnTo>
                    <a:pt x="2386952" y="770674"/>
                  </a:lnTo>
                  <a:lnTo>
                    <a:pt x="2391295" y="768883"/>
                  </a:lnTo>
                  <a:lnTo>
                    <a:pt x="2394420" y="765759"/>
                  </a:lnTo>
                  <a:lnTo>
                    <a:pt x="2398509" y="761669"/>
                  </a:lnTo>
                  <a:lnTo>
                    <a:pt x="2400300" y="757326"/>
                  </a:lnTo>
                  <a:lnTo>
                    <a:pt x="2400300" y="751624"/>
                  </a:lnTo>
                  <a:lnTo>
                    <a:pt x="2400300" y="75349"/>
                  </a:lnTo>
                  <a:close/>
                </a:path>
              </a:pathLst>
            </a:custGeom>
            <a:solidFill>
              <a:srgbClr val="D5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9587" y="3857624"/>
              <a:ext cx="2400300" cy="447675"/>
            </a:xfrm>
            <a:custGeom>
              <a:avLst/>
              <a:gdLst/>
              <a:ahLst/>
              <a:cxnLst/>
              <a:rect l="l" t="t" r="r" b="b"/>
              <a:pathLst>
                <a:path w="2400300" h="447675">
                  <a:moveTo>
                    <a:pt x="2400300" y="216027"/>
                  </a:moveTo>
                  <a:lnTo>
                    <a:pt x="2384310" y="200025"/>
                  </a:lnTo>
                  <a:lnTo>
                    <a:pt x="1416177" y="200025"/>
                  </a:lnTo>
                  <a:lnTo>
                    <a:pt x="1415237" y="190461"/>
                  </a:lnTo>
                  <a:lnTo>
                    <a:pt x="1405483" y="148615"/>
                  </a:lnTo>
                  <a:lnTo>
                    <a:pt x="1387754" y="109486"/>
                  </a:lnTo>
                  <a:lnTo>
                    <a:pt x="1362722" y="74549"/>
                  </a:lnTo>
                  <a:lnTo>
                    <a:pt x="1331353" y="45186"/>
                  </a:lnTo>
                  <a:lnTo>
                    <a:pt x="1294866" y="22491"/>
                  </a:lnTo>
                  <a:lnTo>
                    <a:pt x="1254645" y="7353"/>
                  </a:lnTo>
                  <a:lnTo>
                    <a:pt x="1212253" y="355"/>
                  </a:lnTo>
                  <a:lnTo>
                    <a:pt x="1205103" y="0"/>
                  </a:lnTo>
                  <a:lnTo>
                    <a:pt x="1190752" y="0"/>
                  </a:lnTo>
                  <a:lnTo>
                    <a:pt x="1148143" y="5613"/>
                  </a:lnTo>
                  <a:lnTo>
                    <a:pt x="1107452" y="19431"/>
                  </a:lnTo>
                  <a:lnTo>
                    <a:pt x="1070241" y="40919"/>
                  </a:lnTo>
                  <a:lnTo>
                    <a:pt x="1037945" y="69240"/>
                  </a:lnTo>
                  <a:lnTo>
                    <a:pt x="1011783" y="103339"/>
                  </a:lnTo>
                  <a:lnTo>
                    <a:pt x="992784" y="141871"/>
                  </a:lnTo>
                  <a:lnTo>
                    <a:pt x="981659" y="183375"/>
                  </a:lnTo>
                  <a:lnTo>
                    <a:pt x="979652" y="200025"/>
                  </a:lnTo>
                  <a:lnTo>
                    <a:pt x="16002" y="200025"/>
                  </a:lnTo>
                  <a:lnTo>
                    <a:pt x="0" y="216027"/>
                  </a:lnTo>
                  <a:lnTo>
                    <a:pt x="0" y="276225"/>
                  </a:lnTo>
                  <a:lnTo>
                    <a:pt x="984021" y="276225"/>
                  </a:lnTo>
                  <a:lnTo>
                    <a:pt x="984453" y="278384"/>
                  </a:lnTo>
                  <a:lnTo>
                    <a:pt x="998270" y="319074"/>
                  </a:lnTo>
                  <a:lnTo>
                    <a:pt x="1019759" y="356285"/>
                  </a:lnTo>
                  <a:lnTo>
                    <a:pt x="1048092" y="388594"/>
                  </a:lnTo>
                  <a:lnTo>
                    <a:pt x="1082179" y="414743"/>
                  </a:lnTo>
                  <a:lnTo>
                    <a:pt x="1120711" y="433755"/>
                  </a:lnTo>
                  <a:lnTo>
                    <a:pt x="1162227" y="444868"/>
                  </a:lnTo>
                  <a:lnTo>
                    <a:pt x="1190752" y="447675"/>
                  </a:lnTo>
                  <a:lnTo>
                    <a:pt x="1205103" y="447675"/>
                  </a:lnTo>
                  <a:lnTo>
                    <a:pt x="1247698" y="442074"/>
                  </a:lnTo>
                  <a:lnTo>
                    <a:pt x="1288389" y="428256"/>
                  </a:lnTo>
                  <a:lnTo>
                    <a:pt x="1325600" y="406768"/>
                  </a:lnTo>
                  <a:lnTo>
                    <a:pt x="1357909" y="378447"/>
                  </a:lnTo>
                  <a:lnTo>
                    <a:pt x="1384058" y="344347"/>
                  </a:lnTo>
                  <a:lnTo>
                    <a:pt x="1403070" y="305816"/>
                  </a:lnTo>
                  <a:lnTo>
                    <a:pt x="1411808" y="276225"/>
                  </a:lnTo>
                  <a:lnTo>
                    <a:pt x="2400300" y="276225"/>
                  </a:lnTo>
                  <a:lnTo>
                    <a:pt x="2400300" y="216027"/>
                  </a:lnTo>
                  <a:close/>
                </a:path>
              </a:pathLst>
            </a:custGeom>
            <a:solidFill>
              <a:srgbClr val="1B5E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752996" y="3953605"/>
            <a:ext cx="11176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solidFill>
                  <a:srgbClr val="FFFFFF"/>
                </a:solidFill>
                <a:latin typeface="Georgia"/>
                <a:cs typeface="Georgia"/>
              </a:rPr>
              <a:t>5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1355" y="4422520"/>
            <a:ext cx="178816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spc="-20" dirty="0">
                <a:solidFill>
                  <a:srgbClr val="2B2820"/>
                </a:solidFill>
                <a:latin typeface="Georgia"/>
                <a:cs typeface="Georgia"/>
              </a:rPr>
              <a:t>Tono</a:t>
            </a:r>
            <a:r>
              <a:rPr sz="1450" spc="-10" dirty="0">
                <a:solidFill>
                  <a:srgbClr val="2B2820"/>
                </a:solidFill>
                <a:latin typeface="Georgia"/>
                <a:cs typeface="Georgia"/>
              </a:rPr>
              <a:t> </a:t>
            </a:r>
            <a:r>
              <a:rPr sz="1450" dirty="0">
                <a:solidFill>
                  <a:srgbClr val="2B2820"/>
                </a:solidFill>
                <a:latin typeface="Georgia"/>
                <a:cs typeface="Georgia"/>
              </a:rPr>
              <a:t>o</a:t>
            </a:r>
            <a:r>
              <a:rPr sz="1450" spc="-5" dirty="0">
                <a:solidFill>
                  <a:srgbClr val="2B2820"/>
                </a:solidFill>
                <a:latin typeface="Georgia"/>
                <a:cs typeface="Georgia"/>
              </a:rPr>
              <a:t> </a:t>
            </a:r>
            <a:r>
              <a:rPr sz="1450" dirty="0">
                <a:solidFill>
                  <a:srgbClr val="2B2820"/>
                </a:solidFill>
                <a:latin typeface="Georgia"/>
                <a:cs typeface="Georgia"/>
              </a:rPr>
              <a:t>estilo</a:t>
            </a:r>
            <a:r>
              <a:rPr sz="1450" spc="-5" dirty="0">
                <a:solidFill>
                  <a:srgbClr val="2B2820"/>
                </a:solidFill>
                <a:latin typeface="Georgia"/>
                <a:cs typeface="Georgia"/>
              </a:rPr>
              <a:t> </a:t>
            </a:r>
            <a:r>
              <a:rPr sz="1450" spc="-10" dirty="0">
                <a:solidFill>
                  <a:srgbClr val="2B2820"/>
                </a:solidFill>
                <a:latin typeface="Georgia"/>
                <a:cs typeface="Georgia"/>
              </a:rPr>
              <a:t>deseado</a:t>
            </a:r>
            <a:endParaRPr sz="1450">
              <a:latin typeface="Georgia"/>
              <a:cs typeface="Georg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133724" y="3857624"/>
            <a:ext cx="2400300" cy="990600"/>
            <a:chOff x="3133724" y="3857624"/>
            <a:chExt cx="2400300" cy="990600"/>
          </a:xfrm>
        </p:grpSpPr>
        <p:sp>
          <p:nvSpPr>
            <p:cNvPr id="36" name="object 36"/>
            <p:cNvSpPr/>
            <p:nvPr/>
          </p:nvSpPr>
          <p:spPr>
            <a:xfrm>
              <a:off x="3143249" y="4076699"/>
              <a:ext cx="2381250" cy="762000"/>
            </a:xfrm>
            <a:custGeom>
              <a:avLst/>
              <a:gdLst/>
              <a:ahLst/>
              <a:cxnLst/>
              <a:rect l="l" t="t" r="r" b="b"/>
              <a:pathLst>
                <a:path w="2381250" h="762000">
                  <a:moveTo>
                    <a:pt x="2374792" y="761999"/>
                  </a:moveTo>
                  <a:lnTo>
                    <a:pt x="6457" y="761999"/>
                  </a:lnTo>
                  <a:lnTo>
                    <a:pt x="4354" y="761128"/>
                  </a:lnTo>
                  <a:lnTo>
                    <a:pt x="870" y="757645"/>
                  </a:lnTo>
                  <a:lnTo>
                    <a:pt x="0" y="755542"/>
                  </a:lnTo>
                  <a:lnTo>
                    <a:pt x="0" y="753079"/>
                  </a:lnTo>
                  <a:lnTo>
                    <a:pt x="0" y="71196"/>
                  </a:lnTo>
                  <a:lnTo>
                    <a:pt x="13668" y="29705"/>
                  </a:lnTo>
                  <a:lnTo>
                    <a:pt x="45203" y="3885"/>
                  </a:lnTo>
                  <a:lnTo>
                    <a:pt x="62297" y="0"/>
                  </a:lnTo>
                  <a:lnTo>
                    <a:pt x="2318953" y="0"/>
                  </a:lnTo>
                  <a:lnTo>
                    <a:pt x="2355256" y="15621"/>
                  </a:lnTo>
                  <a:lnTo>
                    <a:pt x="2377849" y="51661"/>
                  </a:lnTo>
                  <a:lnTo>
                    <a:pt x="2381250" y="71196"/>
                  </a:lnTo>
                  <a:lnTo>
                    <a:pt x="2381250" y="755542"/>
                  </a:lnTo>
                  <a:lnTo>
                    <a:pt x="2380379" y="757645"/>
                  </a:lnTo>
                  <a:lnTo>
                    <a:pt x="2376894" y="761128"/>
                  </a:lnTo>
                  <a:lnTo>
                    <a:pt x="2374792" y="761999"/>
                  </a:lnTo>
                  <a:close/>
                </a:path>
              </a:pathLst>
            </a:custGeom>
            <a:solidFill>
              <a:srgbClr val="FBF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133712" y="4077550"/>
              <a:ext cx="2400300" cy="770890"/>
            </a:xfrm>
            <a:custGeom>
              <a:avLst/>
              <a:gdLst/>
              <a:ahLst/>
              <a:cxnLst/>
              <a:rect l="l" t="t" r="r" b="b"/>
              <a:pathLst>
                <a:path w="2400300" h="770889">
                  <a:moveTo>
                    <a:pt x="2400300" y="75349"/>
                  </a:moveTo>
                  <a:lnTo>
                    <a:pt x="2387473" y="33007"/>
                  </a:lnTo>
                  <a:lnTo>
                    <a:pt x="2353272" y="4953"/>
                  </a:lnTo>
                  <a:lnTo>
                    <a:pt x="2334857" y="0"/>
                  </a:lnTo>
                  <a:lnTo>
                    <a:pt x="2338971" y="1092"/>
                  </a:lnTo>
                  <a:lnTo>
                    <a:pt x="2352979" y="8826"/>
                  </a:lnTo>
                  <a:lnTo>
                    <a:pt x="2376906" y="46189"/>
                  </a:lnTo>
                  <a:lnTo>
                    <a:pt x="2381250" y="75349"/>
                  </a:lnTo>
                  <a:lnTo>
                    <a:pt x="2381250" y="751624"/>
                  </a:lnTo>
                  <a:lnTo>
                    <a:pt x="2380297" y="751624"/>
                  </a:lnTo>
                  <a:lnTo>
                    <a:pt x="20002" y="751624"/>
                  </a:lnTo>
                  <a:lnTo>
                    <a:pt x="19050" y="751624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751624"/>
                  </a:lnTo>
                  <a:lnTo>
                    <a:pt x="0" y="757326"/>
                  </a:lnTo>
                  <a:lnTo>
                    <a:pt x="1803" y="761669"/>
                  </a:lnTo>
                  <a:lnTo>
                    <a:pt x="5880" y="765759"/>
                  </a:lnTo>
                  <a:lnTo>
                    <a:pt x="9004" y="768883"/>
                  </a:lnTo>
                  <a:lnTo>
                    <a:pt x="13360" y="770674"/>
                  </a:lnTo>
                  <a:lnTo>
                    <a:pt x="2386952" y="770674"/>
                  </a:lnTo>
                  <a:lnTo>
                    <a:pt x="2391295" y="768883"/>
                  </a:lnTo>
                  <a:lnTo>
                    <a:pt x="2394420" y="765759"/>
                  </a:lnTo>
                  <a:lnTo>
                    <a:pt x="2398509" y="761669"/>
                  </a:lnTo>
                  <a:lnTo>
                    <a:pt x="2400300" y="757326"/>
                  </a:lnTo>
                  <a:lnTo>
                    <a:pt x="2400300" y="751624"/>
                  </a:lnTo>
                  <a:lnTo>
                    <a:pt x="2400300" y="75349"/>
                  </a:lnTo>
                  <a:close/>
                </a:path>
              </a:pathLst>
            </a:custGeom>
            <a:solidFill>
              <a:srgbClr val="D5D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133712" y="3857624"/>
              <a:ext cx="2400300" cy="447675"/>
            </a:xfrm>
            <a:custGeom>
              <a:avLst/>
              <a:gdLst/>
              <a:ahLst/>
              <a:cxnLst/>
              <a:rect l="l" t="t" r="r" b="b"/>
              <a:pathLst>
                <a:path w="2400300" h="447675">
                  <a:moveTo>
                    <a:pt x="2400300" y="216027"/>
                  </a:moveTo>
                  <a:lnTo>
                    <a:pt x="2384310" y="200025"/>
                  </a:lnTo>
                  <a:lnTo>
                    <a:pt x="1416177" y="200025"/>
                  </a:lnTo>
                  <a:lnTo>
                    <a:pt x="1415237" y="190461"/>
                  </a:lnTo>
                  <a:lnTo>
                    <a:pt x="1405483" y="148615"/>
                  </a:lnTo>
                  <a:lnTo>
                    <a:pt x="1387754" y="109486"/>
                  </a:lnTo>
                  <a:lnTo>
                    <a:pt x="1362722" y="74549"/>
                  </a:lnTo>
                  <a:lnTo>
                    <a:pt x="1331353" y="45186"/>
                  </a:lnTo>
                  <a:lnTo>
                    <a:pt x="1294866" y="22491"/>
                  </a:lnTo>
                  <a:lnTo>
                    <a:pt x="1254645" y="7353"/>
                  </a:lnTo>
                  <a:lnTo>
                    <a:pt x="1212253" y="355"/>
                  </a:lnTo>
                  <a:lnTo>
                    <a:pt x="1205103" y="0"/>
                  </a:lnTo>
                  <a:lnTo>
                    <a:pt x="1190752" y="0"/>
                  </a:lnTo>
                  <a:lnTo>
                    <a:pt x="1148143" y="5613"/>
                  </a:lnTo>
                  <a:lnTo>
                    <a:pt x="1107452" y="19431"/>
                  </a:lnTo>
                  <a:lnTo>
                    <a:pt x="1070241" y="40919"/>
                  </a:lnTo>
                  <a:lnTo>
                    <a:pt x="1037945" y="69240"/>
                  </a:lnTo>
                  <a:lnTo>
                    <a:pt x="1011783" y="103339"/>
                  </a:lnTo>
                  <a:lnTo>
                    <a:pt x="992784" y="141871"/>
                  </a:lnTo>
                  <a:lnTo>
                    <a:pt x="981659" y="183375"/>
                  </a:lnTo>
                  <a:lnTo>
                    <a:pt x="979652" y="200025"/>
                  </a:lnTo>
                  <a:lnTo>
                    <a:pt x="16002" y="200025"/>
                  </a:lnTo>
                  <a:lnTo>
                    <a:pt x="0" y="216027"/>
                  </a:lnTo>
                  <a:lnTo>
                    <a:pt x="0" y="276225"/>
                  </a:lnTo>
                  <a:lnTo>
                    <a:pt x="984021" y="276225"/>
                  </a:lnTo>
                  <a:lnTo>
                    <a:pt x="984453" y="278384"/>
                  </a:lnTo>
                  <a:lnTo>
                    <a:pt x="998270" y="319074"/>
                  </a:lnTo>
                  <a:lnTo>
                    <a:pt x="1019759" y="356285"/>
                  </a:lnTo>
                  <a:lnTo>
                    <a:pt x="1048092" y="388594"/>
                  </a:lnTo>
                  <a:lnTo>
                    <a:pt x="1082179" y="414743"/>
                  </a:lnTo>
                  <a:lnTo>
                    <a:pt x="1120711" y="433755"/>
                  </a:lnTo>
                  <a:lnTo>
                    <a:pt x="1162215" y="444868"/>
                  </a:lnTo>
                  <a:lnTo>
                    <a:pt x="1190752" y="447675"/>
                  </a:lnTo>
                  <a:lnTo>
                    <a:pt x="1205103" y="447675"/>
                  </a:lnTo>
                  <a:lnTo>
                    <a:pt x="1247698" y="442074"/>
                  </a:lnTo>
                  <a:lnTo>
                    <a:pt x="1288389" y="428256"/>
                  </a:lnTo>
                  <a:lnTo>
                    <a:pt x="1325600" y="406768"/>
                  </a:lnTo>
                  <a:lnTo>
                    <a:pt x="1357909" y="378447"/>
                  </a:lnTo>
                  <a:lnTo>
                    <a:pt x="1384058" y="344347"/>
                  </a:lnTo>
                  <a:lnTo>
                    <a:pt x="1403070" y="305816"/>
                  </a:lnTo>
                  <a:lnTo>
                    <a:pt x="1411808" y="276225"/>
                  </a:lnTo>
                  <a:lnTo>
                    <a:pt x="2400300" y="276225"/>
                  </a:lnTo>
                  <a:lnTo>
                    <a:pt x="2400300" y="216027"/>
                  </a:lnTo>
                  <a:close/>
                </a:path>
              </a:pathLst>
            </a:custGeom>
            <a:solidFill>
              <a:srgbClr val="1B5E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275931" y="3953605"/>
            <a:ext cx="11557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solidFill>
                  <a:srgbClr val="FFFFFF"/>
                </a:solidFill>
                <a:latin typeface="Georgia"/>
                <a:cs typeface="Georgia"/>
              </a:rPr>
              <a:t>6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86521" y="4422520"/>
            <a:ext cx="1638300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solidFill>
                  <a:srgbClr val="2B2820"/>
                </a:solidFill>
                <a:latin typeface="Georgia"/>
                <a:cs typeface="Georgia"/>
              </a:rPr>
              <a:t>Extensión</a:t>
            </a:r>
            <a:r>
              <a:rPr sz="1450" spc="-5" dirty="0">
                <a:solidFill>
                  <a:srgbClr val="2B2820"/>
                </a:solidFill>
                <a:latin typeface="Georgia"/>
                <a:cs typeface="Georgia"/>
              </a:rPr>
              <a:t> </a:t>
            </a:r>
            <a:r>
              <a:rPr sz="1450" spc="-10" dirty="0">
                <a:solidFill>
                  <a:srgbClr val="2B2820"/>
                </a:solidFill>
                <a:latin typeface="Georgia"/>
                <a:cs typeface="Georgia"/>
              </a:rPr>
              <a:t>esperada</a:t>
            </a:r>
            <a:endParaRPr sz="1450">
              <a:latin typeface="Georgia"/>
              <a:cs typeface="Georgia"/>
            </a:endParaRPr>
          </a:p>
        </p:txBody>
      </p: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2649" y="1896987"/>
            <a:ext cx="222073" cy="191195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5891757" y="1224330"/>
            <a:ext cx="4910455" cy="847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7800"/>
              </a:lnSpc>
              <a:spcBef>
                <a:spcPts val="95"/>
              </a:spcBef>
            </a:pPr>
            <a:r>
              <a:rPr sz="1450" dirty="0">
                <a:solidFill>
                  <a:srgbClr val="233D32"/>
                </a:solidFill>
                <a:latin typeface="Georgia"/>
                <a:cs typeface="Georgia"/>
              </a:rPr>
              <a:t>Para</a:t>
            </a:r>
            <a:r>
              <a:rPr sz="1450" spc="10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1450" dirty="0">
                <a:solidFill>
                  <a:srgbClr val="233D32"/>
                </a:solidFill>
                <a:latin typeface="Georgia"/>
                <a:cs typeface="Georgia"/>
              </a:rPr>
              <a:t>comunicaciones</a:t>
            </a:r>
            <a:r>
              <a:rPr sz="1450" spc="15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1450" dirty="0">
                <a:solidFill>
                  <a:srgbClr val="233D32"/>
                </a:solidFill>
                <a:latin typeface="Georgia"/>
                <a:cs typeface="Georgia"/>
              </a:rPr>
              <a:t>de</a:t>
            </a:r>
            <a:r>
              <a:rPr sz="1450" spc="15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1450" dirty="0">
                <a:solidFill>
                  <a:srgbClr val="233D32"/>
                </a:solidFill>
                <a:latin typeface="Georgia"/>
                <a:cs typeface="Georgia"/>
              </a:rPr>
              <a:t>proyecto,</a:t>
            </a:r>
            <a:r>
              <a:rPr sz="1450" spc="15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1450" dirty="0">
                <a:solidFill>
                  <a:srgbClr val="233D32"/>
                </a:solidFill>
                <a:latin typeface="Georgia"/>
                <a:cs typeface="Georgia"/>
              </a:rPr>
              <a:t>hay</a:t>
            </a:r>
            <a:r>
              <a:rPr sz="1450" spc="15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1450" spc="-100" dirty="0">
                <a:solidFill>
                  <a:srgbClr val="233D32"/>
                </a:solidFill>
                <a:latin typeface="Georgia"/>
                <a:cs typeface="Georgia"/>
              </a:rPr>
              <a:t>6</a:t>
            </a:r>
            <a:r>
              <a:rPr sz="1450" spc="15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1450" dirty="0">
                <a:solidFill>
                  <a:srgbClr val="233D32"/>
                </a:solidFill>
                <a:latin typeface="Georgia"/>
                <a:cs typeface="Georgia"/>
              </a:rPr>
              <a:t>cosas</a:t>
            </a:r>
            <a:r>
              <a:rPr sz="1450" spc="10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1450" dirty="0">
                <a:solidFill>
                  <a:srgbClr val="233D32"/>
                </a:solidFill>
                <a:latin typeface="Georgia"/>
                <a:cs typeface="Georgia"/>
              </a:rPr>
              <a:t>que</a:t>
            </a:r>
            <a:r>
              <a:rPr sz="1450" spc="15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1450" spc="-10" dirty="0">
                <a:solidFill>
                  <a:srgbClr val="233D32"/>
                </a:solidFill>
                <a:latin typeface="Georgia"/>
                <a:cs typeface="Georgia"/>
              </a:rPr>
              <a:t>conviene </a:t>
            </a:r>
            <a:r>
              <a:rPr sz="1450" dirty="0">
                <a:solidFill>
                  <a:srgbClr val="233D32"/>
                </a:solidFill>
                <a:latin typeface="Georgia"/>
                <a:cs typeface="Georgia"/>
              </a:rPr>
              <a:t>decirle</a:t>
            </a:r>
            <a:r>
              <a:rPr sz="1450" spc="25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1450" spc="-10" dirty="0">
                <a:solidFill>
                  <a:srgbClr val="233D32"/>
                </a:solidFill>
                <a:latin typeface="Georgia"/>
                <a:cs typeface="Georgia"/>
              </a:rPr>
              <a:t>siempre:</a:t>
            </a:r>
            <a:endParaRPr sz="1450">
              <a:latin typeface="Georgia"/>
              <a:cs typeface="Georgia"/>
            </a:endParaRPr>
          </a:p>
          <a:p>
            <a:pPr marL="491490">
              <a:lnSpc>
                <a:spcPct val="100000"/>
              </a:lnSpc>
              <a:spcBef>
                <a:spcPts val="1335"/>
              </a:spcBef>
            </a:pPr>
            <a:r>
              <a:rPr sz="1150" spc="55" dirty="0">
                <a:solidFill>
                  <a:srgbClr val="2B2820"/>
                </a:solidFill>
                <a:latin typeface="Cambria"/>
                <a:cs typeface="Cambria"/>
              </a:rPr>
              <a:t>En</a:t>
            </a:r>
            <a:r>
              <a:rPr sz="1150" spc="11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dirty="0">
                <a:solidFill>
                  <a:srgbClr val="2B2820"/>
                </a:solidFill>
                <a:latin typeface="Cambria"/>
                <a:cs typeface="Cambria"/>
              </a:rPr>
              <a:t>qué</a:t>
            </a:r>
            <a:r>
              <a:rPr sz="1150" spc="114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spc="45" dirty="0">
                <a:solidFill>
                  <a:srgbClr val="2B2820"/>
                </a:solidFill>
                <a:latin typeface="Cambria"/>
                <a:cs typeface="Cambria"/>
              </a:rPr>
              <a:t>proyecto</a:t>
            </a:r>
            <a:r>
              <a:rPr sz="1150" spc="11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spc="-20" dirty="0">
                <a:solidFill>
                  <a:srgbClr val="2B2820"/>
                </a:solidFill>
                <a:latin typeface="Cambria"/>
                <a:cs typeface="Cambria"/>
              </a:rPr>
              <a:t>estoy</a:t>
            </a:r>
            <a:endParaRPr sz="1150">
              <a:latin typeface="Cambria"/>
              <a:cs typeface="Cambri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2649" y="2592312"/>
            <a:ext cx="222073" cy="191195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6371133" y="2563907"/>
            <a:ext cx="1115060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dirty="0">
                <a:solidFill>
                  <a:srgbClr val="2B2820"/>
                </a:solidFill>
                <a:latin typeface="Cambria"/>
                <a:cs typeface="Cambria"/>
              </a:rPr>
              <a:t>A</a:t>
            </a:r>
            <a:r>
              <a:rPr sz="1150" spc="14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dirty="0">
                <a:solidFill>
                  <a:srgbClr val="2B2820"/>
                </a:solidFill>
                <a:latin typeface="Cambria"/>
                <a:cs typeface="Cambria"/>
              </a:rPr>
              <a:t>quién</a:t>
            </a:r>
            <a:r>
              <a:rPr sz="1150" spc="14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dirty="0">
                <a:solidFill>
                  <a:srgbClr val="2B2820"/>
                </a:solidFill>
                <a:latin typeface="Cambria"/>
                <a:cs typeface="Cambria"/>
              </a:rPr>
              <a:t>le</a:t>
            </a:r>
            <a:r>
              <a:rPr sz="1150" spc="14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spc="-20" dirty="0">
                <a:solidFill>
                  <a:srgbClr val="2B2820"/>
                </a:solidFill>
                <a:latin typeface="Cambria"/>
                <a:cs typeface="Cambria"/>
              </a:rPr>
              <a:t>hablo</a:t>
            </a:r>
            <a:endParaRPr sz="1150">
              <a:latin typeface="Cambria"/>
              <a:cs typeface="Cambria"/>
            </a:endParaRPr>
          </a:p>
        </p:txBody>
      </p:sp>
      <p:pic>
        <p:nvPicPr>
          <p:cNvPr id="45" name="object 4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2649" y="3287637"/>
            <a:ext cx="222073" cy="191195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6371133" y="3259232"/>
            <a:ext cx="954405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dirty="0">
                <a:solidFill>
                  <a:srgbClr val="2B2820"/>
                </a:solidFill>
                <a:latin typeface="Cambria"/>
                <a:cs typeface="Cambria"/>
              </a:rPr>
              <a:t>Por</a:t>
            </a:r>
            <a:r>
              <a:rPr sz="1150" spc="18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dirty="0">
                <a:solidFill>
                  <a:srgbClr val="2B2820"/>
                </a:solidFill>
                <a:latin typeface="Cambria"/>
                <a:cs typeface="Cambria"/>
              </a:rPr>
              <a:t>qué</a:t>
            </a:r>
            <a:r>
              <a:rPr sz="1150" spc="18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spc="-10" dirty="0">
                <a:solidFill>
                  <a:srgbClr val="2B2820"/>
                </a:solidFill>
                <a:latin typeface="Cambria"/>
                <a:cs typeface="Cambria"/>
              </a:rPr>
              <a:t>canal</a:t>
            </a:r>
            <a:endParaRPr sz="1150">
              <a:latin typeface="Cambria"/>
              <a:cs typeface="Cambria"/>
            </a:endParaRPr>
          </a:p>
        </p:txBody>
      </p:sp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2649" y="3982962"/>
            <a:ext cx="222073" cy="191195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6371133" y="3954557"/>
            <a:ext cx="2437765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90" dirty="0">
                <a:solidFill>
                  <a:srgbClr val="2B2820"/>
                </a:solidFill>
                <a:latin typeface="Cambria"/>
                <a:cs typeface="Cambria"/>
              </a:rPr>
              <a:t>Qué</a:t>
            </a:r>
            <a:r>
              <a:rPr sz="1150" spc="16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spc="20" dirty="0">
                <a:solidFill>
                  <a:srgbClr val="2B2820"/>
                </a:solidFill>
                <a:latin typeface="Cambria"/>
                <a:cs typeface="Cambria"/>
              </a:rPr>
              <a:t>información</a:t>
            </a:r>
            <a:r>
              <a:rPr sz="1150" spc="16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spc="20" dirty="0">
                <a:solidFill>
                  <a:srgbClr val="2B2820"/>
                </a:solidFill>
                <a:latin typeface="Cambria"/>
                <a:cs typeface="Cambria"/>
              </a:rPr>
              <a:t>quiero</a:t>
            </a:r>
            <a:r>
              <a:rPr sz="1150" spc="16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spc="40" dirty="0">
                <a:solidFill>
                  <a:srgbClr val="2B2820"/>
                </a:solidFill>
                <a:latin typeface="Cambria"/>
                <a:cs typeface="Cambria"/>
              </a:rPr>
              <a:t>comunicar</a:t>
            </a:r>
            <a:endParaRPr sz="1150">
              <a:latin typeface="Cambria"/>
              <a:cs typeface="Cambria"/>
            </a:endParaRPr>
          </a:p>
        </p:txBody>
      </p:sp>
      <p:pic>
        <p:nvPicPr>
          <p:cNvPr id="49" name="object 4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2649" y="4678287"/>
            <a:ext cx="222073" cy="191195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6371133" y="4649882"/>
            <a:ext cx="954405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90" dirty="0">
                <a:solidFill>
                  <a:srgbClr val="2B2820"/>
                </a:solidFill>
                <a:latin typeface="Cambria"/>
                <a:cs typeface="Cambria"/>
              </a:rPr>
              <a:t>Con</a:t>
            </a:r>
            <a:r>
              <a:rPr sz="1150" spc="12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dirty="0">
                <a:solidFill>
                  <a:srgbClr val="2B2820"/>
                </a:solidFill>
                <a:latin typeface="Cambria"/>
                <a:cs typeface="Cambria"/>
              </a:rPr>
              <a:t>qué</a:t>
            </a:r>
            <a:r>
              <a:rPr sz="1150" spc="12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spc="35" dirty="0">
                <a:solidFill>
                  <a:srgbClr val="2B2820"/>
                </a:solidFill>
                <a:latin typeface="Cambria"/>
                <a:cs typeface="Cambria"/>
              </a:rPr>
              <a:t>tono</a:t>
            </a:r>
            <a:endParaRPr sz="1150">
              <a:latin typeface="Cambria"/>
              <a:cs typeface="Cambria"/>
            </a:endParaRPr>
          </a:p>
        </p:txBody>
      </p:sp>
      <p:pic>
        <p:nvPicPr>
          <p:cNvPr id="51" name="object 5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2649" y="5373612"/>
            <a:ext cx="222073" cy="191195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6371133" y="5345207"/>
            <a:ext cx="1278255" cy="2025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80" dirty="0">
                <a:solidFill>
                  <a:srgbClr val="2B2820"/>
                </a:solidFill>
                <a:latin typeface="Cambria"/>
                <a:cs typeface="Cambria"/>
              </a:rPr>
              <a:t>Y</a:t>
            </a:r>
            <a:r>
              <a:rPr sz="1150" spc="1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dirty="0">
                <a:solidFill>
                  <a:srgbClr val="2B2820"/>
                </a:solidFill>
                <a:latin typeface="Cambria"/>
                <a:cs typeface="Cambria"/>
              </a:rPr>
              <a:t>qué</a:t>
            </a:r>
            <a:r>
              <a:rPr sz="1150" spc="1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dirty="0">
                <a:solidFill>
                  <a:srgbClr val="2B2820"/>
                </a:solidFill>
                <a:latin typeface="Cambria"/>
                <a:cs typeface="Cambria"/>
              </a:rPr>
              <a:t>largo</a:t>
            </a:r>
            <a:r>
              <a:rPr sz="1150" spc="16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sz="1150" spc="-10" dirty="0">
                <a:solidFill>
                  <a:srgbClr val="2B2820"/>
                </a:solidFill>
                <a:latin typeface="Cambria"/>
                <a:cs typeface="Cambria"/>
              </a:rPr>
              <a:t>quiero</a:t>
            </a:r>
            <a:endParaRPr sz="1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8556" y="136685"/>
            <a:ext cx="8731886" cy="828432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3200" dirty="0">
                <a:solidFill>
                  <a:srgbClr val="233D32"/>
                </a:solidFill>
                <a:latin typeface="Georgia"/>
                <a:cs typeface="Georgia"/>
              </a:rPr>
              <a:t>Estructura</a:t>
            </a:r>
            <a:r>
              <a:rPr sz="3200" spc="114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33D32"/>
                </a:solidFill>
                <a:latin typeface="Georgia"/>
                <a:cs typeface="Georgia"/>
              </a:rPr>
              <a:t>base</a:t>
            </a:r>
            <a:r>
              <a:rPr sz="3200" spc="114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33D32"/>
                </a:solidFill>
                <a:latin typeface="Georgia"/>
                <a:cs typeface="Georgia"/>
              </a:rPr>
              <a:t>del</a:t>
            </a:r>
            <a:r>
              <a:rPr sz="3200" spc="114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3200" spc="-10" dirty="0">
                <a:solidFill>
                  <a:srgbClr val="233D32"/>
                </a:solidFill>
                <a:latin typeface="Georgia"/>
                <a:cs typeface="Georgia"/>
              </a:rPr>
              <a:t>prompt</a:t>
            </a:r>
            <a:endParaRPr sz="32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400" spc="-10" dirty="0">
                <a:solidFill>
                  <a:srgbClr val="233D32"/>
                </a:solidFill>
                <a:latin typeface="Georgia"/>
                <a:cs typeface="Georgia"/>
              </a:rPr>
              <a:t>Plantilla </a:t>
            </a:r>
            <a:r>
              <a:rPr sz="1400" dirty="0">
                <a:solidFill>
                  <a:srgbClr val="233D32"/>
                </a:solidFill>
                <a:latin typeface="Georgia"/>
                <a:cs typeface="Georgia"/>
              </a:rPr>
              <a:t>de</a:t>
            </a:r>
            <a:r>
              <a:rPr sz="1400" spc="-10" dirty="0">
                <a:solidFill>
                  <a:srgbClr val="233D32"/>
                </a:solidFill>
                <a:latin typeface="Georgia"/>
                <a:cs typeface="Georgia"/>
              </a:rPr>
              <a:t> prompt:</a:t>
            </a:r>
            <a:endParaRPr sz="1400" dirty="0">
              <a:latin typeface="Georgia"/>
              <a:cs typeface="Georgia"/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32364082-4727-4B57-8E75-75623D9EEDD0}"/>
              </a:ext>
            </a:extLst>
          </p:cNvPr>
          <p:cNvGrpSpPr/>
          <p:nvPr/>
        </p:nvGrpSpPr>
        <p:grpSpPr>
          <a:xfrm>
            <a:off x="2933700" y="1249806"/>
            <a:ext cx="5562600" cy="3694542"/>
            <a:chOff x="3019216" y="796244"/>
            <a:chExt cx="6118842" cy="441138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19216" y="796244"/>
              <a:ext cx="6118842" cy="4411382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3715384" y="3381290"/>
              <a:ext cx="2199640" cy="645411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1700" dirty="0">
                  <a:solidFill>
                    <a:srgbClr val="FFFFFF"/>
                  </a:solidFill>
                  <a:latin typeface="Georgia"/>
                  <a:cs typeface="Georgia"/>
                </a:rPr>
                <a:t>Contexto</a:t>
              </a:r>
              <a:r>
                <a:rPr sz="1700" spc="140" dirty="0">
                  <a:solidFill>
                    <a:srgbClr val="FFFFFF"/>
                  </a:solidFill>
                  <a:latin typeface="Georgia"/>
                  <a:cs typeface="Georgia"/>
                </a:rPr>
                <a:t> </a:t>
              </a:r>
              <a:r>
                <a:rPr sz="1600" dirty="0">
                  <a:solidFill>
                    <a:srgbClr val="FFFFFF"/>
                  </a:solidFill>
                  <a:latin typeface="Georgia"/>
                  <a:cs typeface="Georgia"/>
                </a:rPr>
                <a:t>del</a:t>
              </a:r>
              <a:r>
                <a:rPr sz="1700" spc="145" dirty="0">
                  <a:solidFill>
                    <a:srgbClr val="FFFFFF"/>
                  </a:solidFill>
                  <a:latin typeface="Georgia"/>
                  <a:cs typeface="Georgia"/>
                </a:rPr>
                <a:t> </a:t>
              </a:r>
              <a:r>
                <a:rPr sz="1700" spc="-10" dirty="0">
                  <a:solidFill>
                    <a:srgbClr val="FFFFFF"/>
                  </a:solidFill>
                  <a:latin typeface="Georgia"/>
                  <a:cs typeface="Georgia"/>
                </a:rPr>
                <a:t>proyecto</a:t>
              </a:r>
              <a:endParaRPr sz="1700" dirty="0">
                <a:latin typeface="Georgia"/>
                <a:cs typeface="Georgia"/>
              </a:endParaRPr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5915025" y="2228579"/>
              <a:ext cx="1010919" cy="314667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1600" spc="-10" dirty="0">
                  <a:solidFill>
                    <a:srgbClr val="FFFFFF"/>
                  </a:solidFill>
                  <a:latin typeface="Georgia"/>
                  <a:cs typeface="Georgia"/>
                </a:rPr>
                <a:t>Audiencia</a:t>
              </a:r>
              <a:endParaRPr sz="1700" dirty="0">
                <a:latin typeface="Georgia"/>
                <a:cs typeface="Georgia"/>
              </a:endParaRPr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7924800" y="3451225"/>
              <a:ext cx="582295" cy="314667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1600" spc="-10" dirty="0">
                  <a:solidFill>
                    <a:srgbClr val="FFFFFF"/>
                  </a:solidFill>
                  <a:latin typeface="Georgia"/>
                  <a:cs typeface="Georgia"/>
                </a:rPr>
                <a:t>Canal</a:t>
              </a:r>
              <a:endParaRPr sz="1700" dirty="0">
                <a:latin typeface="Georgia"/>
                <a:cs typeface="Georgia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5714999" y="4026701"/>
              <a:ext cx="1410970" cy="675346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77165" marR="5080" indent="-165100">
                <a:lnSpc>
                  <a:spcPct val="109800"/>
                </a:lnSpc>
                <a:spcBef>
                  <a:spcPts val="90"/>
                </a:spcBef>
              </a:pPr>
              <a:r>
                <a:rPr sz="1600" dirty="0">
                  <a:solidFill>
                    <a:srgbClr val="FFFFFF"/>
                  </a:solidFill>
                  <a:latin typeface="Georgia"/>
                  <a:cs typeface="Georgia"/>
                </a:rPr>
                <a:t>Información</a:t>
              </a:r>
              <a:r>
                <a:rPr sz="1700" spc="185" dirty="0">
                  <a:solidFill>
                    <a:srgbClr val="FFFFFF"/>
                  </a:solidFill>
                  <a:latin typeface="Georgia"/>
                  <a:cs typeface="Georgia"/>
                </a:rPr>
                <a:t> </a:t>
              </a:r>
              <a:r>
                <a:rPr sz="1700" spc="-50" dirty="0">
                  <a:solidFill>
                    <a:srgbClr val="FFFFFF"/>
                  </a:solidFill>
                  <a:latin typeface="Georgia"/>
                  <a:cs typeface="Georgia"/>
                </a:rPr>
                <a:t>a </a:t>
              </a:r>
              <a:r>
                <a:rPr sz="1600" spc="-10" dirty="0">
                  <a:solidFill>
                    <a:srgbClr val="FFFFFF"/>
                  </a:solidFill>
                  <a:latin typeface="Georgia"/>
                  <a:cs typeface="Georgia"/>
                </a:rPr>
                <a:t>comunicar</a:t>
              </a:r>
              <a:endParaRPr sz="1700" dirty="0">
                <a:latin typeface="Georgia"/>
                <a:cs typeface="Georgia"/>
              </a:endParaRPr>
            </a:p>
          </p:txBody>
        </p:sp>
        <p:sp>
          <p:nvSpPr>
            <p:cNvPr id="8" name="object 8"/>
            <p:cNvSpPr txBox="1"/>
            <p:nvPr/>
          </p:nvSpPr>
          <p:spPr>
            <a:xfrm>
              <a:off x="4419600" y="1470025"/>
              <a:ext cx="520065" cy="314667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5"/>
                </a:spcBef>
              </a:pPr>
              <a:r>
                <a:rPr sz="1600" spc="-20" dirty="0">
                  <a:solidFill>
                    <a:srgbClr val="FFFFFF"/>
                  </a:solidFill>
                  <a:latin typeface="Georgia"/>
                  <a:cs typeface="Georgia"/>
                </a:rPr>
                <a:t>Tono</a:t>
              </a:r>
              <a:endParaRPr sz="1600" dirty="0">
                <a:latin typeface="Georgia"/>
                <a:cs typeface="Georgia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719276" y="5640229"/>
            <a:ext cx="6338570" cy="10900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-10" dirty="0">
                <a:solidFill>
                  <a:srgbClr val="2B2820"/>
                </a:solidFill>
                <a:latin typeface="Cambria"/>
                <a:cs typeface="Cambria"/>
              </a:rPr>
              <a:t>.</a:t>
            </a:r>
            <a:endParaRPr sz="600" dirty="0">
              <a:latin typeface="Cambria"/>
              <a:cs typeface="Cambria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F3B98E7-E03F-4E21-AEFA-2DED9073F6AE}"/>
              </a:ext>
            </a:extLst>
          </p:cNvPr>
          <p:cNvSpPr/>
          <p:nvPr/>
        </p:nvSpPr>
        <p:spPr>
          <a:xfrm>
            <a:off x="295450" y="5319494"/>
            <a:ext cx="109821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Usar</a:t>
            </a:r>
            <a:r>
              <a:rPr lang="es-MX" sz="1800" spc="5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esta</a:t>
            </a:r>
            <a:r>
              <a:rPr lang="es-MX" sz="1800" spc="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estructura</a:t>
            </a:r>
            <a:r>
              <a:rPr lang="es-MX" sz="1800" spc="5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garantiza</a:t>
            </a:r>
            <a:r>
              <a:rPr lang="es-MX" sz="1800" spc="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que</a:t>
            </a:r>
            <a:r>
              <a:rPr lang="es-MX" sz="1800" spc="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60" dirty="0" err="1">
                <a:solidFill>
                  <a:srgbClr val="2B2820"/>
                </a:solidFill>
                <a:latin typeface="Cambria"/>
                <a:cs typeface="Cambria"/>
              </a:rPr>
              <a:t>ChatGPT</a:t>
            </a:r>
            <a:r>
              <a:rPr lang="es-MX" sz="1800" spc="5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tenga</a:t>
            </a:r>
            <a:r>
              <a:rPr lang="es-MX" sz="1800" spc="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toda</a:t>
            </a:r>
            <a:r>
              <a:rPr lang="es-MX" sz="1800" spc="5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la</a:t>
            </a:r>
            <a:r>
              <a:rPr lang="es-MX" sz="1800" spc="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información</a:t>
            </a:r>
            <a:r>
              <a:rPr lang="es-MX" sz="1800" spc="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necesaria</a:t>
            </a:r>
            <a:r>
              <a:rPr lang="es-MX" sz="1800" spc="5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para</a:t>
            </a:r>
            <a:r>
              <a:rPr lang="es-MX" sz="1800" spc="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generar</a:t>
            </a:r>
            <a:r>
              <a:rPr lang="es-MX" sz="1800" spc="5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un</a:t>
            </a:r>
            <a:r>
              <a:rPr lang="es-MX" sz="1800" spc="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mensaje</a:t>
            </a:r>
            <a:r>
              <a:rPr lang="es-MX" sz="1800" spc="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relevante,</a:t>
            </a:r>
            <a:r>
              <a:rPr lang="es-MX" sz="1800" spc="5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bien</a:t>
            </a:r>
            <a:r>
              <a:rPr lang="es-MX" sz="1800" spc="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dirigido</a:t>
            </a:r>
            <a:r>
              <a:rPr lang="es-MX" sz="1800" spc="5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y</a:t>
            </a:r>
            <a:r>
              <a:rPr lang="es-MX" sz="1800" spc="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listo</a:t>
            </a:r>
            <a:r>
              <a:rPr lang="es-MX" sz="1800" spc="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para</a:t>
            </a:r>
            <a:r>
              <a:rPr lang="es-MX" sz="1800" spc="5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enviar</a:t>
            </a:r>
            <a:r>
              <a:rPr lang="es-MX" sz="1800" spc="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50" dirty="0">
                <a:solidFill>
                  <a:srgbClr val="2B2820"/>
                </a:solidFill>
                <a:latin typeface="Cambria"/>
                <a:cs typeface="Cambria"/>
              </a:rPr>
              <a:t>con</a:t>
            </a:r>
            <a:r>
              <a:rPr lang="es-MX" sz="1800" spc="55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30" dirty="0">
                <a:solidFill>
                  <a:srgbClr val="2B2820"/>
                </a:solidFill>
                <a:latin typeface="Cambria"/>
                <a:cs typeface="Cambria"/>
              </a:rPr>
              <a:t>mínimos</a:t>
            </a:r>
            <a:r>
              <a:rPr lang="es-MX" sz="1800" spc="50" dirty="0">
                <a:solidFill>
                  <a:srgbClr val="2B2820"/>
                </a:solidFill>
                <a:latin typeface="Cambria"/>
                <a:cs typeface="Cambria"/>
              </a:rPr>
              <a:t> </a:t>
            </a:r>
            <a:r>
              <a:rPr lang="es-MX" sz="1800" spc="-10" dirty="0">
                <a:solidFill>
                  <a:srgbClr val="2B2820"/>
                </a:solidFill>
                <a:latin typeface="Cambria"/>
                <a:cs typeface="Cambria"/>
              </a:rPr>
              <a:t>ajustes</a:t>
            </a:r>
            <a:endParaRPr lang="es-A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CFBF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5"/>
            <a:ext cx="4286250" cy="642937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494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90"/>
              </a:spcBef>
            </a:pPr>
            <a:r>
              <a:rPr spc="-10" dirty="0"/>
              <a:t>Ejemplo</a:t>
            </a:r>
            <a:r>
              <a:rPr spc="-135" dirty="0"/>
              <a:t> </a:t>
            </a:r>
            <a:r>
              <a:rPr spc="-10" dirty="0"/>
              <a:t>práctico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33400" y="1504949"/>
            <a:ext cx="2981325" cy="3105150"/>
            <a:chOff x="533400" y="1504949"/>
            <a:chExt cx="2981325" cy="3105150"/>
          </a:xfrm>
          <a:solidFill>
            <a:schemeClr val="accent2"/>
          </a:solidFill>
        </p:grpSpPr>
        <p:sp>
          <p:nvSpPr>
            <p:cNvPr id="8" name="object 8"/>
            <p:cNvSpPr/>
            <p:nvPr/>
          </p:nvSpPr>
          <p:spPr>
            <a:xfrm>
              <a:off x="533400" y="1504949"/>
              <a:ext cx="2981325" cy="3105150"/>
            </a:xfrm>
            <a:custGeom>
              <a:avLst/>
              <a:gdLst/>
              <a:ahLst/>
              <a:cxnLst/>
              <a:rect l="l" t="t" r="r" b="b"/>
              <a:pathLst>
                <a:path w="2981325" h="3105150">
                  <a:moveTo>
                    <a:pt x="2967875" y="0"/>
                  </a:moveTo>
                  <a:lnTo>
                    <a:pt x="13449" y="0"/>
                  </a:lnTo>
                  <a:lnTo>
                    <a:pt x="11469" y="393"/>
                  </a:lnTo>
                  <a:lnTo>
                    <a:pt x="0" y="13449"/>
                  </a:lnTo>
                  <a:lnTo>
                    <a:pt x="0" y="3089643"/>
                  </a:lnTo>
                  <a:lnTo>
                    <a:pt x="0" y="3091700"/>
                  </a:lnTo>
                  <a:lnTo>
                    <a:pt x="13449" y="3105150"/>
                  </a:lnTo>
                  <a:lnTo>
                    <a:pt x="2967875" y="3105150"/>
                  </a:lnTo>
                  <a:lnTo>
                    <a:pt x="2981325" y="3091700"/>
                  </a:lnTo>
                  <a:lnTo>
                    <a:pt x="2981325" y="13449"/>
                  </a:lnTo>
                  <a:lnTo>
                    <a:pt x="2969856" y="393"/>
                  </a:lnTo>
                  <a:lnTo>
                    <a:pt x="2967875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8175" y="1866899"/>
              <a:ext cx="38100" cy="485775"/>
            </a:xfrm>
            <a:custGeom>
              <a:avLst/>
              <a:gdLst/>
              <a:ahLst/>
              <a:cxnLst/>
              <a:rect l="l" t="t" r="r" b="b"/>
              <a:pathLst>
                <a:path w="38100" h="485775">
                  <a:moveTo>
                    <a:pt x="38100" y="0"/>
                  </a:moveTo>
                  <a:lnTo>
                    <a:pt x="0" y="0"/>
                  </a:lnTo>
                  <a:lnTo>
                    <a:pt x="0" y="485775"/>
                  </a:lnTo>
                  <a:lnTo>
                    <a:pt x="38100" y="485775"/>
                  </a:lnTo>
                  <a:lnTo>
                    <a:pt x="38100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04062" y="1861153"/>
            <a:ext cx="1851660" cy="462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Avance</a:t>
            </a:r>
            <a:endParaRPr sz="12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950" spc="55" dirty="0">
                <a:solidFill>
                  <a:srgbClr val="FFFFFF"/>
                </a:solidFill>
                <a:latin typeface="Cambria"/>
                <a:cs typeface="Cambria"/>
              </a:rPr>
              <a:t>Módulo</a:t>
            </a:r>
            <a:r>
              <a:rPr sz="950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55" dirty="0">
                <a:solidFill>
                  <a:srgbClr val="FFFFFF"/>
                </a:solidFill>
                <a:latin typeface="Cambria"/>
                <a:cs typeface="Cambria"/>
              </a:rPr>
              <a:t>de</a:t>
            </a:r>
            <a:r>
              <a:rPr sz="950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20" dirty="0">
                <a:solidFill>
                  <a:srgbClr val="FFFFFF"/>
                </a:solidFill>
                <a:latin typeface="Cambria"/>
                <a:cs typeface="Cambria"/>
              </a:rPr>
              <a:t>inventario</a:t>
            </a:r>
            <a:r>
              <a:rPr sz="950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mbria"/>
                <a:cs typeface="Cambria"/>
              </a:rPr>
              <a:t>finalizado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8175" y="2486024"/>
            <a:ext cx="38100" cy="1733550"/>
          </a:xfrm>
          <a:custGeom>
            <a:avLst/>
            <a:gdLst/>
            <a:ahLst/>
            <a:cxnLst/>
            <a:rect l="l" t="t" r="r" b="b"/>
            <a:pathLst>
              <a:path w="38100" h="1733550">
                <a:moveTo>
                  <a:pt x="38100" y="1247787"/>
                </a:moveTo>
                <a:lnTo>
                  <a:pt x="0" y="1247787"/>
                </a:lnTo>
                <a:lnTo>
                  <a:pt x="0" y="1733550"/>
                </a:lnTo>
                <a:lnTo>
                  <a:pt x="38100" y="1733550"/>
                </a:lnTo>
                <a:lnTo>
                  <a:pt x="38100" y="1247787"/>
                </a:lnTo>
                <a:close/>
              </a:path>
              <a:path w="38100" h="1733550">
                <a:moveTo>
                  <a:pt x="38100" y="619125"/>
                </a:moveTo>
                <a:lnTo>
                  <a:pt x="0" y="619125"/>
                </a:lnTo>
                <a:lnTo>
                  <a:pt x="0" y="1104912"/>
                </a:lnTo>
                <a:lnTo>
                  <a:pt x="38100" y="1104912"/>
                </a:lnTo>
                <a:lnTo>
                  <a:pt x="38100" y="619125"/>
                </a:lnTo>
                <a:close/>
              </a:path>
              <a:path w="38100" h="1733550">
                <a:moveTo>
                  <a:pt x="38100" y="0"/>
                </a:moveTo>
                <a:lnTo>
                  <a:pt x="0" y="0"/>
                </a:lnTo>
                <a:lnTo>
                  <a:pt x="0" y="485775"/>
                </a:lnTo>
                <a:lnTo>
                  <a:pt x="38100" y="485775"/>
                </a:lnTo>
                <a:lnTo>
                  <a:pt x="38100" y="0"/>
                </a:lnTo>
                <a:close/>
              </a:path>
            </a:pathLst>
          </a:custGeom>
          <a:solidFill>
            <a:srgbClr val="1B5F3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04217" y="2480278"/>
            <a:ext cx="1880870" cy="462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Riesgo</a:t>
            </a:r>
            <a:endParaRPr sz="12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950" spc="55" dirty="0">
                <a:solidFill>
                  <a:srgbClr val="FFFFFF"/>
                </a:solidFill>
                <a:latin typeface="Cambria"/>
                <a:cs typeface="Cambria"/>
              </a:rPr>
              <a:t>Demora </a:t>
            </a:r>
            <a:r>
              <a:rPr sz="950" spc="60" dirty="0">
                <a:solidFill>
                  <a:srgbClr val="FFFFFF"/>
                </a:solidFill>
                <a:latin typeface="Cambria"/>
                <a:cs typeface="Cambria"/>
              </a:rPr>
              <a:t>en</a:t>
            </a:r>
            <a:r>
              <a:rPr sz="9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45" dirty="0">
                <a:solidFill>
                  <a:srgbClr val="FFFFFF"/>
                </a:solidFill>
                <a:latin typeface="Cambria"/>
                <a:cs typeface="Cambria"/>
              </a:rPr>
              <a:t>integración</a:t>
            </a:r>
            <a:r>
              <a:rPr sz="95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35" dirty="0">
                <a:solidFill>
                  <a:srgbClr val="FFFFFF"/>
                </a:solidFill>
                <a:latin typeface="Cambria"/>
                <a:cs typeface="Cambria"/>
              </a:rPr>
              <a:t>contable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217" y="3099403"/>
            <a:ext cx="1929130" cy="4724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Próximo</a:t>
            </a:r>
            <a:r>
              <a:rPr sz="12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Georgia"/>
                <a:cs typeface="Georgia"/>
              </a:rPr>
              <a:t>hito</a:t>
            </a:r>
            <a:endParaRPr sz="12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950" spc="10" dirty="0">
                <a:solidFill>
                  <a:srgbClr val="FFFFFF"/>
                </a:solidFill>
                <a:latin typeface="Cambria"/>
                <a:cs typeface="Cambria"/>
              </a:rPr>
              <a:t>Pruebas</a:t>
            </a:r>
            <a:r>
              <a:rPr sz="9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55" dirty="0">
                <a:solidFill>
                  <a:srgbClr val="FFFFFF"/>
                </a:solidFill>
                <a:latin typeface="Cambria"/>
                <a:cs typeface="Cambria"/>
              </a:rPr>
              <a:t>de</a:t>
            </a:r>
            <a:r>
              <a:rPr sz="9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10" dirty="0">
                <a:solidFill>
                  <a:srgbClr val="FFFFFF"/>
                </a:solidFill>
                <a:latin typeface="Cambria"/>
                <a:cs typeface="Cambria"/>
              </a:rPr>
              <a:t>usuario</a:t>
            </a:r>
            <a:r>
              <a:rPr sz="9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60" dirty="0">
                <a:solidFill>
                  <a:srgbClr val="FFFFFF"/>
                </a:solidFill>
                <a:latin typeface="Cambria"/>
                <a:cs typeface="Cambria"/>
              </a:rPr>
              <a:t>en</a:t>
            </a:r>
            <a:r>
              <a:rPr sz="9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1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950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35" dirty="0">
                <a:solidFill>
                  <a:srgbClr val="FFFFFF"/>
                </a:solidFill>
                <a:latin typeface="Cambria"/>
                <a:cs typeface="Cambria"/>
              </a:rPr>
              <a:t>semanas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04093" y="3728053"/>
            <a:ext cx="2164080" cy="462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Decisión</a:t>
            </a:r>
            <a:r>
              <a:rPr sz="1200" spc="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/>
                <a:cs typeface="Georgia"/>
              </a:rPr>
              <a:t>requerida</a:t>
            </a:r>
            <a:endParaRPr sz="12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950" spc="45" dirty="0">
                <a:solidFill>
                  <a:srgbClr val="FFFFFF"/>
                </a:solidFill>
                <a:latin typeface="Cambria"/>
                <a:cs typeface="Cambria"/>
              </a:rPr>
              <a:t>Aprobación</a:t>
            </a:r>
            <a:r>
              <a:rPr sz="950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55" dirty="0">
                <a:solidFill>
                  <a:srgbClr val="FFFFFF"/>
                </a:solidFill>
                <a:latin typeface="Cambria"/>
                <a:cs typeface="Cambria"/>
              </a:rPr>
              <a:t>de</a:t>
            </a:r>
            <a:r>
              <a:rPr sz="95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45" dirty="0">
                <a:solidFill>
                  <a:srgbClr val="FFFFFF"/>
                </a:solidFill>
                <a:latin typeface="Cambria"/>
                <a:cs typeface="Cambria"/>
              </a:rPr>
              <a:t>presupuesto</a:t>
            </a:r>
            <a:r>
              <a:rPr sz="95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950" spc="-10" dirty="0">
                <a:solidFill>
                  <a:srgbClr val="FFFFFF"/>
                </a:solidFill>
                <a:latin typeface="Cambria"/>
                <a:cs typeface="Cambria"/>
              </a:rPr>
              <a:t>adicional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7466" y="1044194"/>
            <a:ext cx="5668010" cy="73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solidFill>
                  <a:srgbClr val="DA1B2E"/>
                </a:solidFill>
                <a:latin typeface="Georgia"/>
                <a:cs typeface="Georgia"/>
              </a:rPr>
              <a:t>Misma</a:t>
            </a:r>
            <a:r>
              <a:rPr sz="1950" spc="-25" dirty="0">
                <a:solidFill>
                  <a:srgbClr val="DA1B2E"/>
                </a:solidFill>
                <a:latin typeface="Georgia"/>
                <a:cs typeface="Georgia"/>
              </a:rPr>
              <a:t> </a:t>
            </a:r>
            <a:r>
              <a:rPr sz="1950" dirty="0">
                <a:solidFill>
                  <a:srgbClr val="DA1B2E"/>
                </a:solidFill>
                <a:latin typeface="Georgia"/>
                <a:cs typeface="Georgia"/>
              </a:rPr>
              <a:t>información,</a:t>
            </a:r>
            <a:r>
              <a:rPr sz="1950" spc="-25" dirty="0">
                <a:solidFill>
                  <a:srgbClr val="DA1B2E"/>
                </a:solidFill>
                <a:latin typeface="Georgia"/>
                <a:cs typeface="Georgia"/>
              </a:rPr>
              <a:t> </a:t>
            </a:r>
            <a:r>
              <a:rPr sz="1950" dirty="0">
                <a:solidFill>
                  <a:srgbClr val="DA1B2E"/>
                </a:solidFill>
                <a:latin typeface="Georgia"/>
                <a:cs typeface="Georgia"/>
              </a:rPr>
              <a:t>distintos</a:t>
            </a:r>
            <a:r>
              <a:rPr sz="1950" spc="-25" dirty="0">
                <a:solidFill>
                  <a:srgbClr val="DA1B2E"/>
                </a:solidFill>
                <a:latin typeface="Georgia"/>
                <a:cs typeface="Georgia"/>
              </a:rPr>
              <a:t> </a:t>
            </a:r>
            <a:r>
              <a:rPr sz="1950" spc="-10" dirty="0">
                <a:solidFill>
                  <a:srgbClr val="DA1B2E"/>
                </a:solidFill>
                <a:latin typeface="Georgia"/>
                <a:cs typeface="Georgia"/>
              </a:rPr>
              <a:t>mensajes</a:t>
            </a:r>
            <a:endParaRPr sz="1950" dirty="0">
              <a:latin typeface="Georgia"/>
              <a:cs typeface="Georgia"/>
            </a:endParaRPr>
          </a:p>
          <a:p>
            <a:pPr marL="46990">
              <a:lnSpc>
                <a:spcPct val="100000"/>
              </a:lnSpc>
              <a:spcBef>
                <a:spcPts val="1785"/>
              </a:spcBef>
              <a:tabLst>
                <a:tab pos="3124835" algn="l"/>
              </a:tabLst>
            </a:pP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Caso:</a:t>
            </a:r>
            <a:r>
              <a:rPr sz="1200" spc="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Implementación</a:t>
            </a:r>
            <a:r>
              <a:rPr sz="1200" spc="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Georgia"/>
                <a:cs typeface="Georgia"/>
              </a:rPr>
              <a:t>ERP</a:t>
            </a:r>
            <a:r>
              <a:rPr sz="1200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200" dirty="0">
                <a:solidFill>
                  <a:srgbClr val="223E31"/>
                </a:solidFill>
                <a:latin typeface="Georgia"/>
                <a:cs typeface="Georgia"/>
              </a:rPr>
              <a:t>ChatGPT</a:t>
            </a:r>
            <a:r>
              <a:rPr sz="1200" spc="75" dirty="0">
                <a:solidFill>
                  <a:srgbClr val="223E31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223E31"/>
                </a:solidFill>
                <a:latin typeface="Georgia"/>
                <a:cs typeface="Georgia"/>
              </a:rPr>
              <a:t>puede</a:t>
            </a:r>
            <a:r>
              <a:rPr sz="1200" spc="80" dirty="0">
                <a:solidFill>
                  <a:srgbClr val="223E31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223E31"/>
                </a:solidFill>
                <a:latin typeface="Georgia"/>
                <a:cs typeface="Georgia"/>
              </a:rPr>
              <a:t>transformar</a:t>
            </a:r>
            <a:r>
              <a:rPr sz="1200" spc="80" dirty="0">
                <a:solidFill>
                  <a:srgbClr val="223E31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223E31"/>
                </a:solidFill>
                <a:latin typeface="Georgia"/>
                <a:cs typeface="Georgia"/>
              </a:rPr>
              <a:t>esto</a:t>
            </a:r>
            <a:r>
              <a:rPr sz="1200" spc="75" dirty="0">
                <a:solidFill>
                  <a:srgbClr val="223E31"/>
                </a:solidFill>
                <a:latin typeface="Georgia"/>
                <a:cs typeface="Georgia"/>
              </a:rPr>
              <a:t> </a:t>
            </a:r>
            <a:r>
              <a:rPr sz="1200" spc="-25" dirty="0">
                <a:solidFill>
                  <a:srgbClr val="223E31"/>
                </a:solidFill>
                <a:latin typeface="Georgia"/>
                <a:cs typeface="Georgia"/>
              </a:rPr>
              <a:t>en:</a:t>
            </a:r>
            <a:endParaRPr sz="1200" dirty="0">
              <a:latin typeface="Georgia"/>
              <a:cs typeface="Georgi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733800" y="1945538"/>
            <a:ext cx="2800350" cy="19050"/>
            <a:chOff x="3733800" y="1945538"/>
            <a:chExt cx="2800350" cy="19050"/>
          </a:xfrm>
        </p:grpSpPr>
        <p:sp>
          <p:nvSpPr>
            <p:cNvPr id="17" name="object 17"/>
            <p:cNvSpPr/>
            <p:nvPr/>
          </p:nvSpPr>
          <p:spPr>
            <a:xfrm>
              <a:off x="3733800" y="1945538"/>
              <a:ext cx="2800350" cy="19050"/>
            </a:xfrm>
            <a:custGeom>
              <a:avLst/>
              <a:gdLst/>
              <a:ahLst/>
              <a:cxnLst/>
              <a:rect l="l" t="t" r="r" b="b"/>
              <a:pathLst>
                <a:path w="2800350" h="19050">
                  <a:moveTo>
                    <a:pt x="28003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2800350" y="19050"/>
                  </a:lnTo>
                  <a:lnTo>
                    <a:pt x="2800350" y="0"/>
                  </a:lnTo>
                  <a:close/>
                </a:path>
              </a:pathLst>
            </a:custGeom>
            <a:solidFill>
              <a:srgbClr val="2C2820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33800" y="1955063"/>
              <a:ext cx="2800350" cy="9525"/>
            </a:xfrm>
            <a:custGeom>
              <a:avLst/>
              <a:gdLst/>
              <a:ahLst/>
              <a:cxnLst/>
              <a:rect l="l" t="t" r="r" b="b"/>
              <a:pathLst>
                <a:path w="2800350" h="9525">
                  <a:moveTo>
                    <a:pt x="280035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800350" y="9525"/>
                  </a:lnTo>
                  <a:lnTo>
                    <a:pt x="2800350" y="0"/>
                  </a:lnTo>
                  <a:close/>
                </a:path>
              </a:pathLst>
            </a:custGeom>
            <a:solidFill>
              <a:srgbClr val="ECEC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3743325" y="24098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7" y="0"/>
                </a:moveTo>
                <a:lnTo>
                  <a:pt x="16522" y="0"/>
                </a:lnTo>
                <a:lnTo>
                  <a:pt x="14097" y="482"/>
                </a:lnTo>
                <a:lnTo>
                  <a:pt x="0" y="16522"/>
                </a:lnTo>
                <a:lnTo>
                  <a:pt x="0" y="21577"/>
                </a:lnTo>
                <a:lnTo>
                  <a:pt x="16522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22"/>
                </a:lnTo>
                <a:lnTo>
                  <a:pt x="24003" y="482"/>
                </a:lnTo>
                <a:lnTo>
                  <a:pt x="21577" y="0"/>
                </a:lnTo>
                <a:close/>
              </a:path>
            </a:pathLst>
          </a:custGeom>
          <a:solidFill>
            <a:srgbClr val="2C28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43325" y="26098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7" y="0"/>
                </a:moveTo>
                <a:lnTo>
                  <a:pt x="16522" y="0"/>
                </a:lnTo>
                <a:lnTo>
                  <a:pt x="14097" y="482"/>
                </a:lnTo>
                <a:lnTo>
                  <a:pt x="0" y="16522"/>
                </a:lnTo>
                <a:lnTo>
                  <a:pt x="0" y="21577"/>
                </a:lnTo>
                <a:lnTo>
                  <a:pt x="16522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22"/>
                </a:lnTo>
                <a:lnTo>
                  <a:pt x="24003" y="482"/>
                </a:lnTo>
                <a:lnTo>
                  <a:pt x="21577" y="0"/>
                </a:lnTo>
                <a:close/>
              </a:path>
            </a:pathLst>
          </a:custGeom>
          <a:solidFill>
            <a:srgbClr val="2C28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743325" y="29813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7" y="0"/>
                </a:moveTo>
                <a:lnTo>
                  <a:pt x="16522" y="0"/>
                </a:lnTo>
                <a:lnTo>
                  <a:pt x="14097" y="482"/>
                </a:lnTo>
                <a:lnTo>
                  <a:pt x="0" y="16522"/>
                </a:lnTo>
                <a:lnTo>
                  <a:pt x="0" y="21577"/>
                </a:lnTo>
                <a:lnTo>
                  <a:pt x="16522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22"/>
                </a:lnTo>
                <a:lnTo>
                  <a:pt x="24003" y="482"/>
                </a:lnTo>
                <a:lnTo>
                  <a:pt x="21577" y="0"/>
                </a:lnTo>
                <a:close/>
              </a:path>
            </a:pathLst>
          </a:custGeom>
          <a:solidFill>
            <a:srgbClr val="2C28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43325" y="3181349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7" y="0"/>
                </a:moveTo>
                <a:lnTo>
                  <a:pt x="16522" y="0"/>
                </a:lnTo>
                <a:lnTo>
                  <a:pt x="14097" y="482"/>
                </a:lnTo>
                <a:lnTo>
                  <a:pt x="0" y="16522"/>
                </a:lnTo>
                <a:lnTo>
                  <a:pt x="0" y="21577"/>
                </a:lnTo>
                <a:lnTo>
                  <a:pt x="16522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22"/>
                </a:lnTo>
                <a:lnTo>
                  <a:pt x="24003" y="482"/>
                </a:lnTo>
                <a:lnTo>
                  <a:pt x="21577" y="0"/>
                </a:lnTo>
                <a:close/>
              </a:path>
            </a:pathLst>
          </a:custGeom>
          <a:solidFill>
            <a:srgbClr val="2C28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43325" y="338137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21577" y="0"/>
                </a:moveTo>
                <a:lnTo>
                  <a:pt x="16522" y="0"/>
                </a:lnTo>
                <a:lnTo>
                  <a:pt x="14097" y="482"/>
                </a:lnTo>
                <a:lnTo>
                  <a:pt x="0" y="16522"/>
                </a:lnTo>
                <a:lnTo>
                  <a:pt x="0" y="21577"/>
                </a:lnTo>
                <a:lnTo>
                  <a:pt x="16522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22"/>
                </a:lnTo>
                <a:lnTo>
                  <a:pt x="24003" y="482"/>
                </a:lnTo>
                <a:lnTo>
                  <a:pt x="21577" y="0"/>
                </a:lnTo>
                <a:close/>
              </a:path>
            </a:pathLst>
          </a:custGeom>
          <a:solidFill>
            <a:srgbClr val="2C28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719906" y="2042128"/>
            <a:ext cx="2790190" cy="159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solidFill>
                  <a:srgbClr val="223E31"/>
                </a:solidFill>
                <a:latin typeface="Georgia"/>
                <a:cs typeface="Georgia"/>
              </a:rPr>
              <a:t>Buenas</a:t>
            </a:r>
            <a:r>
              <a:rPr sz="1200" spc="15" dirty="0">
                <a:solidFill>
                  <a:srgbClr val="223E31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223E31"/>
                </a:solidFill>
                <a:latin typeface="Georgia"/>
                <a:cs typeface="Georgia"/>
              </a:rPr>
              <a:t>prácticas:</a:t>
            </a:r>
            <a:endParaRPr sz="1200">
              <a:latin typeface="Georgia"/>
              <a:cs typeface="Georgia"/>
            </a:endParaRPr>
          </a:p>
          <a:p>
            <a:pPr marL="210820">
              <a:lnSpc>
                <a:spcPct val="100000"/>
              </a:lnSpc>
              <a:spcBef>
                <a:spcPts val="835"/>
              </a:spcBef>
            </a:pPr>
            <a:r>
              <a:rPr sz="950" spc="10" dirty="0">
                <a:solidFill>
                  <a:srgbClr val="2C2820"/>
                </a:solidFill>
                <a:latin typeface="Cambria"/>
                <a:cs typeface="Cambria"/>
              </a:rPr>
              <a:t>Revisar</a:t>
            </a:r>
            <a:r>
              <a:rPr sz="950" spc="18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10" dirty="0">
                <a:solidFill>
                  <a:srgbClr val="2C2820"/>
                </a:solidFill>
                <a:latin typeface="Cambria"/>
                <a:cs typeface="Cambria"/>
              </a:rPr>
              <a:t>siempre</a:t>
            </a:r>
            <a:r>
              <a:rPr sz="950" spc="18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10" dirty="0">
                <a:solidFill>
                  <a:srgbClr val="2C2820"/>
                </a:solidFill>
                <a:latin typeface="Cambria"/>
                <a:cs typeface="Cambria"/>
              </a:rPr>
              <a:t>antes</a:t>
            </a:r>
            <a:r>
              <a:rPr sz="950" spc="18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55" dirty="0">
                <a:solidFill>
                  <a:srgbClr val="2C2820"/>
                </a:solidFill>
                <a:latin typeface="Cambria"/>
                <a:cs typeface="Cambria"/>
              </a:rPr>
              <a:t>de</a:t>
            </a:r>
            <a:r>
              <a:rPr sz="950" spc="18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-10" dirty="0">
                <a:solidFill>
                  <a:srgbClr val="2C2820"/>
                </a:solidFill>
                <a:latin typeface="Cambria"/>
                <a:cs typeface="Cambria"/>
              </a:rPr>
              <a:t>enviar</a:t>
            </a:r>
            <a:endParaRPr sz="950">
              <a:latin typeface="Cambria"/>
              <a:cs typeface="Cambria"/>
            </a:endParaRPr>
          </a:p>
          <a:p>
            <a:pPr marL="210820" marR="173355">
              <a:lnSpc>
                <a:spcPct val="118400"/>
              </a:lnSpc>
              <a:spcBef>
                <a:spcPts val="225"/>
              </a:spcBef>
            </a:pPr>
            <a:r>
              <a:rPr sz="950" spc="75" dirty="0">
                <a:solidFill>
                  <a:srgbClr val="2C2820"/>
                </a:solidFill>
                <a:latin typeface="Cambria"/>
                <a:cs typeface="Cambria"/>
              </a:rPr>
              <a:t>No</a:t>
            </a:r>
            <a:r>
              <a:rPr sz="950" spc="15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20" dirty="0">
                <a:solidFill>
                  <a:srgbClr val="2C2820"/>
                </a:solidFill>
                <a:latin typeface="Cambria"/>
                <a:cs typeface="Cambria"/>
              </a:rPr>
              <a:t>delegar</a:t>
            </a:r>
            <a:r>
              <a:rPr sz="950" spc="15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20" dirty="0">
                <a:solidFill>
                  <a:srgbClr val="2C2820"/>
                </a:solidFill>
                <a:latin typeface="Cambria"/>
                <a:cs typeface="Cambria"/>
              </a:rPr>
              <a:t>mensajes</a:t>
            </a:r>
            <a:r>
              <a:rPr sz="950" spc="15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20" dirty="0">
                <a:solidFill>
                  <a:srgbClr val="2C2820"/>
                </a:solidFill>
                <a:latin typeface="Cambria"/>
                <a:cs typeface="Cambria"/>
              </a:rPr>
              <a:t>sensibles</a:t>
            </a:r>
            <a:r>
              <a:rPr sz="950" spc="15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20" dirty="0">
                <a:solidFill>
                  <a:srgbClr val="2C2820"/>
                </a:solidFill>
                <a:latin typeface="Cambria"/>
                <a:cs typeface="Cambria"/>
              </a:rPr>
              <a:t>sin</a:t>
            </a:r>
            <a:r>
              <a:rPr sz="950" spc="15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35" dirty="0">
                <a:solidFill>
                  <a:srgbClr val="2C2820"/>
                </a:solidFill>
                <a:latin typeface="Cambria"/>
                <a:cs typeface="Cambria"/>
              </a:rPr>
              <a:t>control </a:t>
            </a:r>
            <a:r>
              <a:rPr sz="950" spc="45" dirty="0">
                <a:solidFill>
                  <a:srgbClr val="2C2820"/>
                </a:solidFill>
                <a:latin typeface="Cambria"/>
                <a:cs typeface="Cambria"/>
              </a:rPr>
              <a:t>humano</a:t>
            </a:r>
            <a:endParaRPr sz="950">
              <a:latin typeface="Cambria"/>
              <a:cs typeface="Cambria"/>
            </a:endParaRPr>
          </a:p>
          <a:p>
            <a:pPr marL="210820">
              <a:lnSpc>
                <a:spcPct val="100000"/>
              </a:lnSpc>
              <a:spcBef>
                <a:spcPts val="434"/>
              </a:spcBef>
            </a:pPr>
            <a:r>
              <a:rPr sz="950" dirty="0">
                <a:solidFill>
                  <a:srgbClr val="2C2820"/>
                </a:solidFill>
                <a:latin typeface="Cambria"/>
                <a:cs typeface="Cambria"/>
              </a:rPr>
              <a:t>Ajustar</a:t>
            </a:r>
            <a:r>
              <a:rPr sz="950" spc="13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60" dirty="0">
                <a:solidFill>
                  <a:srgbClr val="2C2820"/>
                </a:solidFill>
                <a:latin typeface="Cambria"/>
                <a:cs typeface="Cambria"/>
              </a:rPr>
              <a:t>tono</a:t>
            </a:r>
            <a:r>
              <a:rPr sz="950" spc="13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dirty="0">
                <a:solidFill>
                  <a:srgbClr val="2C2820"/>
                </a:solidFill>
                <a:latin typeface="Cambria"/>
                <a:cs typeface="Cambria"/>
              </a:rPr>
              <a:t>y</a:t>
            </a:r>
            <a:r>
              <a:rPr sz="950" spc="13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45" dirty="0">
                <a:solidFill>
                  <a:srgbClr val="2C2820"/>
                </a:solidFill>
                <a:latin typeface="Cambria"/>
                <a:cs typeface="Cambria"/>
              </a:rPr>
              <a:t>contexto</a:t>
            </a:r>
            <a:endParaRPr sz="950">
              <a:latin typeface="Cambria"/>
              <a:cs typeface="Cambria"/>
            </a:endParaRPr>
          </a:p>
          <a:p>
            <a:pPr marL="210820">
              <a:lnSpc>
                <a:spcPct val="100000"/>
              </a:lnSpc>
              <a:spcBef>
                <a:spcPts val="434"/>
              </a:spcBef>
            </a:pPr>
            <a:r>
              <a:rPr sz="950" spc="10" dirty="0">
                <a:solidFill>
                  <a:srgbClr val="2C2820"/>
                </a:solidFill>
                <a:latin typeface="Cambria"/>
                <a:cs typeface="Cambria"/>
              </a:rPr>
              <a:t>Validar</a:t>
            </a:r>
            <a:r>
              <a:rPr sz="950" spc="165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10" dirty="0">
                <a:solidFill>
                  <a:srgbClr val="2C2820"/>
                </a:solidFill>
                <a:latin typeface="Cambria"/>
                <a:cs typeface="Cambria"/>
              </a:rPr>
              <a:t>datos</a:t>
            </a:r>
            <a:r>
              <a:rPr sz="950" spc="165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10" dirty="0">
                <a:solidFill>
                  <a:srgbClr val="2C2820"/>
                </a:solidFill>
                <a:latin typeface="Cambria"/>
                <a:cs typeface="Cambria"/>
              </a:rPr>
              <a:t>antes</a:t>
            </a:r>
            <a:r>
              <a:rPr sz="950" spc="165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55" dirty="0">
                <a:solidFill>
                  <a:srgbClr val="2C2820"/>
                </a:solidFill>
                <a:latin typeface="Cambria"/>
                <a:cs typeface="Cambria"/>
              </a:rPr>
              <a:t>de</a:t>
            </a:r>
            <a:r>
              <a:rPr sz="950" spc="165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10" dirty="0">
                <a:solidFill>
                  <a:srgbClr val="2C2820"/>
                </a:solidFill>
                <a:latin typeface="Cambria"/>
                <a:cs typeface="Cambria"/>
              </a:rPr>
              <a:t>copiar</a:t>
            </a:r>
            <a:r>
              <a:rPr sz="950" spc="165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10" dirty="0">
                <a:solidFill>
                  <a:srgbClr val="2C2820"/>
                </a:solidFill>
                <a:latin typeface="Cambria"/>
                <a:cs typeface="Cambria"/>
              </a:rPr>
              <a:t>y</a:t>
            </a:r>
            <a:r>
              <a:rPr sz="950" spc="165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-20" dirty="0">
                <a:solidFill>
                  <a:srgbClr val="2C2820"/>
                </a:solidFill>
                <a:latin typeface="Cambria"/>
                <a:cs typeface="Cambria"/>
              </a:rPr>
              <a:t>pegar</a:t>
            </a:r>
            <a:endParaRPr sz="950">
              <a:latin typeface="Cambria"/>
              <a:cs typeface="Cambria"/>
            </a:endParaRPr>
          </a:p>
          <a:p>
            <a:pPr marL="210820" marR="5715">
              <a:lnSpc>
                <a:spcPct val="111800"/>
              </a:lnSpc>
              <a:spcBef>
                <a:spcPts val="300"/>
              </a:spcBef>
            </a:pPr>
            <a:r>
              <a:rPr sz="950" spc="50" dirty="0">
                <a:solidFill>
                  <a:srgbClr val="2C2820"/>
                </a:solidFill>
                <a:latin typeface="Cambria"/>
                <a:cs typeface="Cambria"/>
              </a:rPr>
              <a:t>Usar</a:t>
            </a:r>
            <a:r>
              <a:rPr sz="950" spc="11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20" dirty="0">
                <a:solidFill>
                  <a:srgbClr val="2C2820"/>
                </a:solidFill>
                <a:latin typeface="Cambria"/>
                <a:cs typeface="Cambria"/>
              </a:rPr>
              <a:t>IA</a:t>
            </a:r>
            <a:r>
              <a:rPr sz="950" spc="11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20" dirty="0">
                <a:solidFill>
                  <a:srgbClr val="2C2820"/>
                </a:solidFill>
                <a:latin typeface="Cambria"/>
                <a:cs typeface="Cambria"/>
              </a:rPr>
              <a:t>para</a:t>
            </a:r>
            <a:r>
              <a:rPr sz="950" spc="11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20" dirty="0">
                <a:solidFill>
                  <a:srgbClr val="2C2820"/>
                </a:solidFill>
                <a:latin typeface="Cambria"/>
                <a:cs typeface="Cambria"/>
              </a:rPr>
              <a:t>ganar</a:t>
            </a:r>
            <a:r>
              <a:rPr sz="950" spc="11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20" dirty="0">
                <a:solidFill>
                  <a:srgbClr val="2C2820"/>
                </a:solidFill>
                <a:latin typeface="Cambria"/>
                <a:cs typeface="Cambria"/>
              </a:rPr>
              <a:t>velocidad,</a:t>
            </a:r>
            <a:r>
              <a:rPr sz="950" spc="11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60" dirty="0">
                <a:solidFill>
                  <a:srgbClr val="2C2820"/>
                </a:solidFill>
                <a:latin typeface="Cambria"/>
                <a:cs typeface="Cambria"/>
              </a:rPr>
              <a:t>no</a:t>
            </a:r>
            <a:r>
              <a:rPr sz="950" spc="110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20" dirty="0">
                <a:solidFill>
                  <a:srgbClr val="2C2820"/>
                </a:solidFill>
                <a:latin typeface="Cambria"/>
                <a:cs typeface="Cambria"/>
              </a:rPr>
              <a:t>para</a:t>
            </a:r>
            <a:r>
              <a:rPr sz="950" spc="114" dirty="0">
                <a:solidFill>
                  <a:srgbClr val="2C2820"/>
                </a:solidFill>
                <a:latin typeface="Cambria"/>
                <a:cs typeface="Cambria"/>
              </a:rPr>
              <a:t> </a:t>
            </a:r>
            <a:r>
              <a:rPr sz="950" spc="-10" dirty="0">
                <a:solidFill>
                  <a:srgbClr val="2C2820"/>
                </a:solidFill>
                <a:latin typeface="Cambria"/>
                <a:cs typeface="Cambria"/>
              </a:rPr>
              <a:t>perder criterio</a:t>
            </a:r>
            <a:endParaRPr sz="950">
              <a:latin typeface="Cambria"/>
              <a:cs typeface="Cambr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733800" y="3743325"/>
            <a:ext cx="2800350" cy="762000"/>
            <a:chOff x="3733800" y="3743325"/>
            <a:chExt cx="2800350" cy="762000"/>
          </a:xfrm>
        </p:grpSpPr>
        <p:sp>
          <p:nvSpPr>
            <p:cNvPr id="26" name="object 26"/>
            <p:cNvSpPr/>
            <p:nvPr/>
          </p:nvSpPr>
          <p:spPr>
            <a:xfrm>
              <a:off x="3733800" y="3743325"/>
              <a:ext cx="2800350" cy="762000"/>
            </a:xfrm>
            <a:custGeom>
              <a:avLst/>
              <a:gdLst/>
              <a:ahLst/>
              <a:cxnLst/>
              <a:rect l="l" t="t" r="r" b="b"/>
              <a:pathLst>
                <a:path w="2800350" h="762000">
                  <a:moveTo>
                    <a:pt x="2786900" y="0"/>
                  </a:moveTo>
                  <a:lnTo>
                    <a:pt x="13449" y="0"/>
                  </a:lnTo>
                  <a:lnTo>
                    <a:pt x="11468" y="393"/>
                  </a:lnTo>
                  <a:lnTo>
                    <a:pt x="0" y="13449"/>
                  </a:lnTo>
                  <a:lnTo>
                    <a:pt x="0" y="746493"/>
                  </a:lnTo>
                  <a:lnTo>
                    <a:pt x="0" y="748550"/>
                  </a:lnTo>
                  <a:lnTo>
                    <a:pt x="13449" y="762000"/>
                  </a:lnTo>
                  <a:lnTo>
                    <a:pt x="2786900" y="762000"/>
                  </a:lnTo>
                  <a:lnTo>
                    <a:pt x="2800350" y="748550"/>
                  </a:lnTo>
                  <a:lnTo>
                    <a:pt x="2800350" y="13449"/>
                  </a:lnTo>
                  <a:lnTo>
                    <a:pt x="2788869" y="393"/>
                  </a:lnTo>
                  <a:lnTo>
                    <a:pt x="2786900" y="0"/>
                  </a:lnTo>
                  <a:close/>
                </a:path>
              </a:pathLst>
            </a:custGeom>
            <a:solidFill>
              <a:srgbClr val="C3EE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80853" y="3922521"/>
              <a:ext cx="108470" cy="108483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122664" y="3841153"/>
            <a:ext cx="2092325" cy="5207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15100"/>
              </a:lnSpc>
              <a:spcBef>
                <a:spcPts val="55"/>
              </a:spcBef>
            </a:pPr>
            <a:r>
              <a:rPr sz="950" b="1" dirty="0">
                <a:latin typeface="Cambria"/>
                <a:cs typeface="Cambria"/>
              </a:rPr>
              <a:t>La</a:t>
            </a:r>
            <a:r>
              <a:rPr sz="950" b="1" spc="90" dirty="0">
                <a:latin typeface="Cambria"/>
                <a:cs typeface="Cambria"/>
              </a:rPr>
              <a:t> </a:t>
            </a:r>
            <a:r>
              <a:rPr sz="950" b="1" dirty="0">
                <a:latin typeface="Cambria"/>
                <a:cs typeface="Cambria"/>
              </a:rPr>
              <a:t>IA</a:t>
            </a:r>
            <a:r>
              <a:rPr sz="950" b="1" spc="95" dirty="0">
                <a:latin typeface="Cambria"/>
                <a:cs typeface="Cambria"/>
              </a:rPr>
              <a:t> </a:t>
            </a:r>
            <a:r>
              <a:rPr sz="950" b="1" dirty="0">
                <a:latin typeface="Cambria"/>
                <a:cs typeface="Cambria"/>
              </a:rPr>
              <a:t>ayuda</a:t>
            </a:r>
            <a:r>
              <a:rPr sz="950" b="1" spc="95" dirty="0">
                <a:latin typeface="Cambria"/>
                <a:cs typeface="Cambria"/>
              </a:rPr>
              <a:t> </a:t>
            </a:r>
            <a:r>
              <a:rPr sz="950" b="1" dirty="0">
                <a:latin typeface="Cambria"/>
                <a:cs typeface="Cambria"/>
              </a:rPr>
              <a:t>a</a:t>
            </a:r>
            <a:r>
              <a:rPr sz="950" b="1" spc="95" dirty="0">
                <a:latin typeface="Cambria"/>
                <a:cs typeface="Cambria"/>
              </a:rPr>
              <a:t> </a:t>
            </a:r>
            <a:r>
              <a:rPr sz="950" b="1" dirty="0">
                <a:latin typeface="Cambria"/>
                <a:cs typeface="Cambria"/>
              </a:rPr>
              <a:t>redactar.</a:t>
            </a:r>
            <a:r>
              <a:rPr sz="950" b="1" spc="95" dirty="0">
                <a:latin typeface="Cambria"/>
                <a:cs typeface="Cambria"/>
              </a:rPr>
              <a:t> </a:t>
            </a:r>
            <a:r>
              <a:rPr sz="950" b="1" dirty="0">
                <a:latin typeface="Cambria"/>
                <a:cs typeface="Cambria"/>
              </a:rPr>
              <a:t>El</a:t>
            </a:r>
            <a:r>
              <a:rPr sz="950" b="1" spc="95" dirty="0">
                <a:latin typeface="Cambria"/>
                <a:cs typeface="Cambria"/>
              </a:rPr>
              <a:t> </a:t>
            </a:r>
            <a:r>
              <a:rPr sz="950" b="1" spc="80" dirty="0">
                <a:latin typeface="Cambria"/>
                <a:cs typeface="Cambria"/>
              </a:rPr>
              <a:t>PM</a:t>
            </a:r>
            <a:r>
              <a:rPr sz="950" b="1" spc="95" dirty="0">
                <a:latin typeface="Cambria"/>
                <a:cs typeface="Cambria"/>
              </a:rPr>
              <a:t> </a:t>
            </a:r>
            <a:r>
              <a:rPr sz="950" b="1" spc="-20" dirty="0">
                <a:latin typeface="Cambria"/>
                <a:cs typeface="Cambria"/>
              </a:rPr>
              <a:t>sigue</a:t>
            </a:r>
            <a:r>
              <a:rPr sz="950" b="1" dirty="0">
                <a:latin typeface="Cambria"/>
                <a:cs typeface="Cambria"/>
              </a:rPr>
              <a:t> siendo</a:t>
            </a:r>
            <a:r>
              <a:rPr sz="950" b="1" spc="155" dirty="0">
                <a:latin typeface="Cambria"/>
                <a:cs typeface="Cambria"/>
              </a:rPr>
              <a:t> </a:t>
            </a:r>
            <a:r>
              <a:rPr sz="950" b="1" dirty="0">
                <a:latin typeface="Cambria"/>
                <a:cs typeface="Cambria"/>
              </a:rPr>
              <a:t>responsable</a:t>
            </a:r>
            <a:r>
              <a:rPr sz="950" b="1" spc="160" dirty="0">
                <a:latin typeface="Cambria"/>
                <a:cs typeface="Cambria"/>
              </a:rPr>
              <a:t> </a:t>
            </a:r>
            <a:r>
              <a:rPr sz="950" b="1" dirty="0">
                <a:latin typeface="Cambria"/>
                <a:cs typeface="Cambria"/>
              </a:rPr>
              <a:t>de</a:t>
            </a:r>
            <a:r>
              <a:rPr sz="950" b="1" spc="160" dirty="0">
                <a:latin typeface="Cambria"/>
                <a:cs typeface="Cambria"/>
              </a:rPr>
              <a:t> </a:t>
            </a:r>
            <a:r>
              <a:rPr sz="950" b="1" spc="-10" dirty="0">
                <a:latin typeface="Cambria"/>
                <a:cs typeface="Cambria"/>
              </a:rPr>
              <a:t>comunicar bien.</a:t>
            </a:r>
            <a:endParaRPr sz="950">
              <a:latin typeface="Cambria"/>
              <a:cs typeface="Cambri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19125" y="4705350"/>
            <a:ext cx="1914525" cy="1095375"/>
            <a:chOff x="619125" y="4705350"/>
            <a:chExt cx="1914525" cy="1095375"/>
          </a:xfrm>
        </p:grpSpPr>
        <p:sp>
          <p:nvSpPr>
            <p:cNvPr id="30" name="object 30"/>
            <p:cNvSpPr/>
            <p:nvPr/>
          </p:nvSpPr>
          <p:spPr>
            <a:xfrm>
              <a:off x="619125" y="4705350"/>
              <a:ext cx="1914525" cy="1095375"/>
            </a:xfrm>
            <a:custGeom>
              <a:avLst/>
              <a:gdLst/>
              <a:ahLst/>
              <a:cxnLst/>
              <a:rect l="l" t="t" r="r" b="b"/>
              <a:pathLst>
                <a:path w="1914525" h="1095375">
                  <a:moveTo>
                    <a:pt x="1901075" y="0"/>
                  </a:moveTo>
                  <a:lnTo>
                    <a:pt x="13449" y="0"/>
                  </a:lnTo>
                  <a:lnTo>
                    <a:pt x="11469" y="393"/>
                  </a:lnTo>
                  <a:lnTo>
                    <a:pt x="0" y="13449"/>
                  </a:lnTo>
                  <a:lnTo>
                    <a:pt x="0" y="1079868"/>
                  </a:lnTo>
                  <a:lnTo>
                    <a:pt x="0" y="1081921"/>
                  </a:lnTo>
                  <a:lnTo>
                    <a:pt x="13449" y="1095371"/>
                  </a:lnTo>
                  <a:lnTo>
                    <a:pt x="1901075" y="1095371"/>
                  </a:lnTo>
                  <a:lnTo>
                    <a:pt x="1914525" y="1081921"/>
                  </a:lnTo>
                  <a:lnTo>
                    <a:pt x="1914525" y="13449"/>
                  </a:lnTo>
                  <a:lnTo>
                    <a:pt x="1903056" y="393"/>
                  </a:lnTo>
                  <a:lnTo>
                    <a:pt x="1901075" y="0"/>
                  </a:lnTo>
                  <a:close/>
                </a:path>
              </a:pathLst>
            </a:custGeom>
            <a:solidFill>
              <a:srgbClr val="F0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2950" y="4829175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185737" y="0"/>
                  </a:moveTo>
                  <a:lnTo>
                    <a:pt x="140597" y="5566"/>
                  </a:lnTo>
                  <a:lnTo>
                    <a:pt x="98178" y="21929"/>
                  </a:lnTo>
                  <a:lnTo>
                    <a:pt x="61010" y="48105"/>
                  </a:lnTo>
                  <a:lnTo>
                    <a:pt x="31302" y="82550"/>
                  </a:lnTo>
                  <a:lnTo>
                    <a:pt x="10852" y="123170"/>
                  </a:lnTo>
                  <a:lnTo>
                    <a:pt x="892" y="167530"/>
                  </a:lnTo>
                  <a:lnTo>
                    <a:pt x="0" y="185737"/>
                  </a:lnTo>
                  <a:lnTo>
                    <a:pt x="223" y="194860"/>
                  </a:lnTo>
                  <a:lnTo>
                    <a:pt x="7995" y="239652"/>
                  </a:lnTo>
                  <a:lnTo>
                    <a:pt x="26419" y="281217"/>
                  </a:lnTo>
                  <a:lnTo>
                    <a:pt x="54401" y="317068"/>
                  </a:lnTo>
                  <a:lnTo>
                    <a:pt x="90255" y="345055"/>
                  </a:lnTo>
                  <a:lnTo>
                    <a:pt x="131821" y="363478"/>
                  </a:lnTo>
                  <a:lnTo>
                    <a:pt x="176613" y="371252"/>
                  </a:lnTo>
                  <a:lnTo>
                    <a:pt x="185737" y="371476"/>
                  </a:lnTo>
                  <a:lnTo>
                    <a:pt x="194861" y="371252"/>
                  </a:lnTo>
                  <a:lnTo>
                    <a:pt x="239653" y="363478"/>
                  </a:lnTo>
                  <a:lnTo>
                    <a:pt x="281217" y="345055"/>
                  </a:lnTo>
                  <a:lnTo>
                    <a:pt x="317073" y="317068"/>
                  </a:lnTo>
                  <a:lnTo>
                    <a:pt x="345056" y="281217"/>
                  </a:lnTo>
                  <a:lnTo>
                    <a:pt x="363479" y="239652"/>
                  </a:lnTo>
                  <a:lnTo>
                    <a:pt x="371251" y="194860"/>
                  </a:lnTo>
                  <a:lnTo>
                    <a:pt x="371475" y="185737"/>
                  </a:lnTo>
                  <a:lnTo>
                    <a:pt x="371251" y="176613"/>
                  </a:lnTo>
                  <a:lnTo>
                    <a:pt x="363479" y="131818"/>
                  </a:lnTo>
                  <a:lnTo>
                    <a:pt x="345056" y="90257"/>
                  </a:lnTo>
                  <a:lnTo>
                    <a:pt x="317073" y="54406"/>
                  </a:lnTo>
                  <a:lnTo>
                    <a:pt x="281214" y="26418"/>
                  </a:lnTo>
                  <a:lnTo>
                    <a:pt x="239653" y="7994"/>
                  </a:lnTo>
                  <a:lnTo>
                    <a:pt x="194861" y="221"/>
                  </a:lnTo>
                  <a:lnTo>
                    <a:pt x="185737" y="0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03" y="4956136"/>
              <a:ext cx="174874" cy="123050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731441" y="5261579"/>
            <a:ext cx="1438275" cy="4019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60"/>
              </a:spcBef>
            </a:pPr>
            <a:r>
              <a:rPr sz="1200" dirty="0">
                <a:solidFill>
                  <a:srgbClr val="2C2820"/>
                </a:solidFill>
                <a:latin typeface="Georgia"/>
                <a:cs typeface="Georgia"/>
              </a:rPr>
              <a:t>Email</a:t>
            </a:r>
            <a:r>
              <a:rPr sz="1200" spc="55" dirty="0">
                <a:solidFill>
                  <a:srgbClr val="2C2820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2C2820"/>
                </a:solidFill>
                <a:latin typeface="Georgia"/>
                <a:cs typeface="Georgia"/>
              </a:rPr>
              <a:t>ejecutivo</a:t>
            </a:r>
            <a:r>
              <a:rPr sz="1200" spc="55" dirty="0">
                <a:solidFill>
                  <a:srgbClr val="2C2820"/>
                </a:solidFill>
                <a:latin typeface="Georgia"/>
                <a:cs typeface="Georgia"/>
              </a:rPr>
              <a:t> </a:t>
            </a:r>
            <a:r>
              <a:rPr sz="1200" spc="-20" dirty="0">
                <a:solidFill>
                  <a:srgbClr val="2C2820"/>
                </a:solidFill>
                <a:latin typeface="Georgia"/>
                <a:cs typeface="Georgia"/>
              </a:rPr>
              <a:t>para </a:t>
            </a:r>
            <a:r>
              <a:rPr sz="1200" spc="-10" dirty="0">
                <a:solidFill>
                  <a:srgbClr val="2C2820"/>
                </a:solidFill>
                <a:latin typeface="Georgia"/>
                <a:cs typeface="Georgia"/>
              </a:rPr>
              <a:t>sponsor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619375" y="4705350"/>
            <a:ext cx="1905000" cy="1095375"/>
            <a:chOff x="2619375" y="4705350"/>
            <a:chExt cx="1905000" cy="1095375"/>
          </a:xfrm>
        </p:grpSpPr>
        <p:sp>
          <p:nvSpPr>
            <p:cNvPr id="35" name="object 35"/>
            <p:cNvSpPr/>
            <p:nvPr/>
          </p:nvSpPr>
          <p:spPr>
            <a:xfrm>
              <a:off x="2619375" y="4705350"/>
              <a:ext cx="1905000" cy="1095375"/>
            </a:xfrm>
            <a:custGeom>
              <a:avLst/>
              <a:gdLst/>
              <a:ahLst/>
              <a:cxnLst/>
              <a:rect l="l" t="t" r="r" b="b"/>
              <a:pathLst>
                <a:path w="1905000" h="1095375">
                  <a:moveTo>
                    <a:pt x="1891550" y="0"/>
                  </a:moveTo>
                  <a:lnTo>
                    <a:pt x="13449" y="0"/>
                  </a:lnTo>
                  <a:lnTo>
                    <a:pt x="11468" y="393"/>
                  </a:lnTo>
                  <a:lnTo>
                    <a:pt x="0" y="13449"/>
                  </a:lnTo>
                  <a:lnTo>
                    <a:pt x="0" y="1079868"/>
                  </a:lnTo>
                  <a:lnTo>
                    <a:pt x="0" y="1081921"/>
                  </a:lnTo>
                  <a:lnTo>
                    <a:pt x="13449" y="1095371"/>
                  </a:lnTo>
                  <a:lnTo>
                    <a:pt x="1891550" y="1095371"/>
                  </a:lnTo>
                  <a:lnTo>
                    <a:pt x="1905000" y="1081921"/>
                  </a:lnTo>
                  <a:lnTo>
                    <a:pt x="1905000" y="13449"/>
                  </a:lnTo>
                  <a:lnTo>
                    <a:pt x="1893519" y="393"/>
                  </a:lnTo>
                  <a:lnTo>
                    <a:pt x="1891550" y="0"/>
                  </a:lnTo>
                  <a:close/>
                </a:path>
              </a:pathLst>
            </a:custGeom>
            <a:solidFill>
              <a:srgbClr val="F0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43200" y="4829175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185737" y="0"/>
                  </a:moveTo>
                  <a:lnTo>
                    <a:pt x="140596" y="5566"/>
                  </a:lnTo>
                  <a:lnTo>
                    <a:pt x="98178" y="21929"/>
                  </a:lnTo>
                  <a:lnTo>
                    <a:pt x="61015" y="48105"/>
                  </a:lnTo>
                  <a:lnTo>
                    <a:pt x="31305" y="82550"/>
                  </a:lnTo>
                  <a:lnTo>
                    <a:pt x="10851" y="123170"/>
                  </a:lnTo>
                  <a:lnTo>
                    <a:pt x="893" y="167530"/>
                  </a:lnTo>
                  <a:lnTo>
                    <a:pt x="0" y="185737"/>
                  </a:lnTo>
                  <a:lnTo>
                    <a:pt x="223" y="194860"/>
                  </a:lnTo>
                  <a:lnTo>
                    <a:pt x="7994" y="239652"/>
                  </a:lnTo>
                  <a:lnTo>
                    <a:pt x="26418" y="281217"/>
                  </a:lnTo>
                  <a:lnTo>
                    <a:pt x="54406" y="317068"/>
                  </a:lnTo>
                  <a:lnTo>
                    <a:pt x="90257" y="345055"/>
                  </a:lnTo>
                  <a:lnTo>
                    <a:pt x="131818" y="363478"/>
                  </a:lnTo>
                  <a:lnTo>
                    <a:pt x="176614" y="371252"/>
                  </a:lnTo>
                  <a:lnTo>
                    <a:pt x="185737" y="371476"/>
                  </a:lnTo>
                  <a:lnTo>
                    <a:pt x="194860" y="371252"/>
                  </a:lnTo>
                  <a:lnTo>
                    <a:pt x="239652" y="363478"/>
                  </a:lnTo>
                  <a:lnTo>
                    <a:pt x="281217" y="345055"/>
                  </a:lnTo>
                  <a:lnTo>
                    <a:pt x="317068" y="317068"/>
                  </a:lnTo>
                  <a:lnTo>
                    <a:pt x="345056" y="281217"/>
                  </a:lnTo>
                  <a:lnTo>
                    <a:pt x="363480" y="239652"/>
                  </a:lnTo>
                  <a:lnTo>
                    <a:pt x="371251" y="194860"/>
                  </a:lnTo>
                  <a:lnTo>
                    <a:pt x="371475" y="185737"/>
                  </a:lnTo>
                  <a:lnTo>
                    <a:pt x="371251" y="176613"/>
                  </a:lnTo>
                  <a:lnTo>
                    <a:pt x="363480" y="131818"/>
                  </a:lnTo>
                  <a:lnTo>
                    <a:pt x="345056" y="90257"/>
                  </a:lnTo>
                  <a:lnTo>
                    <a:pt x="317068" y="54406"/>
                  </a:lnTo>
                  <a:lnTo>
                    <a:pt x="281217" y="26418"/>
                  </a:lnTo>
                  <a:lnTo>
                    <a:pt x="239652" y="7994"/>
                  </a:lnTo>
                  <a:lnTo>
                    <a:pt x="194860" y="221"/>
                  </a:lnTo>
                  <a:lnTo>
                    <a:pt x="185737" y="0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4612" y="4959119"/>
              <a:ext cx="174985" cy="117098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2728125" y="5261579"/>
            <a:ext cx="1645920" cy="4019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60"/>
              </a:spcBef>
            </a:pPr>
            <a:r>
              <a:rPr sz="1200" dirty="0">
                <a:solidFill>
                  <a:srgbClr val="2C2820"/>
                </a:solidFill>
                <a:latin typeface="Georgia"/>
                <a:cs typeface="Georgia"/>
              </a:rPr>
              <a:t>Mensaje</a:t>
            </a:r>
            <a:r>
              <a:rPr sz="1200" spc="30" dirty="0">
                <a:solidFill>
                  <a:srgbClr val="2C2820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2C2820"/>
                </a:solidFill>
                <a:latin typeface="Georgia"/>
                <a:cs typeface="Georgia"/>
              </a:rPr>
              <a:t>interno</a:t>
            </a:r>
            <a:r>
              <a:rPr sz="1200" spc="35" dirty="0">
                <a:solidFill>
                  <a:srgbClr val="2C2820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2C2820"/>
                </a:solidFill>
                <a:latin typeface="Georgia"/>
                <a:cs typeface="Georgia"/>
              </a:rPr>
              <a:t>para</a:t>
            </a:r>
            <a:r>
              <a:rPr sz="1200" spc="35" dirty="0">
                <a:solidFill>
                  <a:srgbClr val="2C2820"/>
                </a:solidFill>
                <a:latin typeface="Georgia"/>
                <a:cs typeface="Georgia"/>
              </a:rPr>
              <a:t> </a:t>
            </a:r>
            <a:r>
              <a:rPr sz="1200" spc="-25" dirty="0">
                <a:solidFill>
                  <a:srgbClr val="2C2820"/>
                </a:solidFill>
                <a:latin typeface="Georgia"/>
                <a:cs typeface="Georgia"/>
              </a:rPr>
              <a:t>el </a:t>
            </a:r>
            <a:r>
              <a:rPr sz="1200" spc="-10" dirty="0">
                <a:solidFill>
                  <a:srgbClr val="2C2820"/>
                </a:solidFill>
                <a:latin typeface="Georgia"/>
                <a:cs typeface="Georgia"/>
              </a:rPr>
              <a:t>equipo</a:t>
            </a:r>
            <a:endParaRPr sz="1200">
              <a:latin typeface="Georgia"/>
              <a:cs typeface="Georg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610100" y="4705350"/>
            <a:ext cx="1914525" cy="1095375"/>
            <a:chOff x="4610100" y="4705350"/>
            <a:chExt cx="1914525" cy="1095375"/>
          </a:xfrm>
        </p:grpSpPr>
        <p:sp>
          <p:nvSpPr>
            <p:cNvPr id="40" name="object 40"/>
            <p:cNvSpPr/>
            <p:nvPr/>
          </p:nvSpPr>
          <p:spPr>
            <a:xfrm>
              <a:off x="4610100" y="4705350"/>
              <a:ext cx="1914525" cy="1095375"/>
            </a:xfrm>
            <a:custGeom>
              <a:avLst/>
              <a:gdLst/>
              <a:ahLst/>
              <a:cxnLst/>
              <a:rect l="l" t="t" r="r" b="b"/>
              <a:pathLst>
                <a:path w="1914525" h="1095375">
                  <a:moveTo>
                    <a:pt x="1901075" y="0"/>
                  </a:moveTo>
                  <a:lnTo>
                    <a:pt x="13449" y="0"/>
                  </a:lnTo>
                  <a:lnTo>
                    <a:pt x="11468" y="393"/>
                  </a:lnTo>
                  <a:lnTo>
                    <a:pt x="0" y="13449"/>
                  </a:lnTo>
                  <a:lnTo>
                    <a:pt x="0" y="1079868"/>
                  </a:lnTo>
                  <a:lnTo>
                    <a:pt x="0" y="1081921"/>
                  </a:lnTo>
                  <a:lnTo>
                    <a:pt x="13449" y="1095371"/>
                  </a:lnTo>
                  <a:lnTo>
                    <a:pt x="1901075" y="1095371"/>
                  </a:lnTo>
                  <a:lnTo>
                    <a:pt x="1914525" y="1081921"/>
                  </a:lnTo>
                  <a:lnTo>
                    <a:pt x="1914525" y="13449"/>
                  </a:lnTo>
                  <a:lnTo>
                    <a:pt x="1903044" y="393"/>
                  </a:lnTo>
                  <a:lnTo>
                    <a:pt x="1901075" y="0"/>
                  </a:lnTo>
                  <a:close/>
                </a:path>
              </a:pathLst>
            </a:custGeom>
            <a:solidFill>
              <a:srgbClr val="F0ED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33925" y="4829175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185737" y="0"/>
                  </a:moveTo>
                  <a:lnTo>
                    <a:pt x="140596" y="5566"/>
                  </a:lnTo>
                  <a:lnTo>
                    <a:pt x="98178" y="21929"/>
                  </a:lnTo>
                  <a:lnTo>
                    <a:pt x="61015" y="48105"/>
                  </a:lnTo>
                  <a:lnTo>
                    <a:pt x="31305" y="82550"/>
                  </a:lnTo>
                  <a:lnTo>
                    <a:pt x="10851" y="123170"/>
                  </a:lnTo>
                  <a:lnTo>
                    <a:pt x="893" y="167530"/>
                  </a:lnTo>
                  <a:lnTo>
                    <a:pt x="0" y="185737"/>
                  </a:lnTo>
                  <a:lnTo>
                    <a:pt x="223" y="194860"/>
                  </a:lnTo>
                  <a:lnTo>
                    <a:pt x="7994" y="239652"/>
                  </a:lnTo>
                  <a:lnTo>
                    <a:pt x="26418" y="281217"/>
                  </a:lnTo>
                  <a:lnTo>
                    <a:pt x="54406" y="317068"/>
                  </a:lnTo>
                  <a:lnTo>
                    <a:pt x="90257" y="345055"/>
                  </a:lnTo>
                  <a:lnTo>
                    <a:pt x="131818" y="363478"/>
                  </a:lnTo>
                  <a:lnTo>
                    <a:pt x="176614" y="371252"/>
                  </a:lnTo>
                  <a:lnTo>
                    <a:pt x="185737" y="371476"/>
                  </a:lnTo>
                  <a:lnTo>
                    <a:pt x="194860" y="371252"/>
                  </a:lnTo>
                  <a:lnTo>
                    <a:pt x="239652" y="363478"/>
                  </a:lnTo>
                  <a:lnTo>
                    <a:pt x="281217" y="345055"/>
                  </a:lnTo>
                  <a:lnTo>
                    <a:pt x="317068" y="317068"/>
                  </a:lnTo>
                  <a:lnTo>
                    <a:pt x="345056" y="281217"/>
                  </a:lnTo>
                  <a:lnTo>
                    <a:pt x="363480" y="239652"/>
                  </a:lnTo>
                  <a:lnTo>
                    <a:pt x="371251" y="194860"/>
                  </a:lnTo>
                  <a:lnTo>
                    <a:pt x="371475" y="185737"/>
                  </a:lnTo>
                  <a:lnTo>
                    <a:pt x="371251" y="176613"/>
                  </a:lnTo>
                  <a:lnTo>
                    <a:pt x="363480" y="131818"/>
                  </a:lnTo>
                  <a:lnTo>
                    <a:pt x="345056" y="90257"/>
                  </a:lnTo>
                  <a:lnTo>
                    <a:pt x="317068" y="54406"/>
                  </a:lnTo>
                  <a:lnTo>
                    <a:pt x="281217" y="26418"/>
                  </a:lnTo>
                  <a:lnTo>
                    <a:pt x="239652" y="7994"/>
                  </a:lnTo>
                  <a:lnTo>
                    <a:pt x="194860" y="221"/>
                  </a:lnTo>
                  <a:lnTo>
                    <a:pt x="185737" y="0"/>
                  </a:lnTo>
                  <a:close/>
                </a:path>
              </a:pathLst>
            </a:custGeom>
            <a:solidFill>
              <a:srgbClr val="1B5F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34573" y="4931068"/>
              <a:ext cx="175269" cy="173143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4724793" y="5261579"/>
            <a:ext cx="1329055" cy="4019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60"/>
              </a:spcBef>
            </a:pPr>
            <a:r>
              <a:rPr sz="1200" dirty="0">
                <a:solidFill>
                  <a:srgbClr val="2C2820"/>
                </a:solidFill>
                <a:latin typeface="Georgia"/>
                <a:cs typeface="Georgia"/>
              </a:rPr>
              <a:t>Update</a:t>
            </a:r>
            <a:r>
              <a:rPr sz="1200" spc="35" dirty="0">
                <a:solidFill>
                  <a:srgbClr val="2C2820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2C2820"/>
                </a:solidFill>
                <a:latin typeface="Georgia"/>
                <a:cs typeface="Georgia"/>
              </a:rPr>
              <a:t>breve</a:t>
            </a:r>
            <a:r>
              <a:rPr sz="1200" spc="35" dirty="0">
                <a:solidFill>
                  <a:srgbClr val="2C2820"/>
                </a:solidFill>
                <a:latin typeface="Georgia"/>
                <a:cs typeface="Georgia"/>
              </a:rPr>
              <a:t> </a:t>
            </a:r>
            <a:r>
              <a:rPr sz="1200" spc="-20" dirty="0">
                <a:solidFill>
                  <a:srgbClr val="2C2820"/>
                </a:solidFill>
                <a:latin typeface="Georgia"/>
                <a:cs typeface="Georgia"/>
              </a:rPr>
              <a:t>para </a:t>
            </a:r>
            <a:r>
              <a:rPr sz="1200" dirty="0">
                <a:solidFill>
                  <a:srgbClr val="2C2820"/>
                </a:solidFill>
                <a:latin typeface="Georgia"/>
                <a:cs typeface="Georgia"/>
              </a:rPr>
              <a:t>colocar</a:t>
            </a:r>
            <a:r>
              <a:rPr sz="1200" spc="40" dirty="0">
                <a:solidFill>
                  <a:srgbClr val="2C2820"/>
                </a:solidFill>
                <a:latin typeface="Georgia"/>
                <a:cs typeface="Georgia"/>
              </a:rPr>
              <a:t> </a:t>
            </a:r>
            <a:r>
              <a:rPr sz="1200" dirty="0">
                <a:solidFill>
                  <a:srgbClr val="2C2820"/>
                </a:solidFill>
                <a:latin typeface="Georgia"/>
                <a:cs typeface="Georgia"/>
              </a:rPr>
              <a:t>en</a:t>
            </a:r>
            <a:r>
              <a:rPr sz="1200" spc="45" dirty="0">
                <a:solidFill>
                  <a:srgbClr val="2C2820"/>
                </a:solidFill>
                <a:latin typeface="Georgia"/>
                <a:cs typeface="Georgia"/>
              </a:rPr>
              <a:t> </a:t>
            </a:r>
            <a:r>
              <a:rPr sz="1200" spc="-10" dirty="0">
                <a:solidFill>
                  <a:srgbClr val="2C2820"/>
                </a:solidFill>
                <a:latin typeface="Georgia"/>
                <a:cs typeface="Georgia"/>
              </a:rPr>
              <a:t>tableros</a:t>
            </a:r>
            <a:endParaRPr sz="12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8">
            <a:extLst>
              <a:ext uri="{FF2B5EF4-FFF2-40B4-BE49-F238E27FC236}">
                <a16:creationId xmlns:a16="http://schemas.microsoft.com/office/drawing/2014/main" id="{3806A597-25BD-4EB2-A744-3E8D6758519C}"/>
              </a:ext>
            </a:extLst>
          </p:cNvPr>
          <p:cNvSpPr/>
          <p:nvPr/>
        </p:nvSpPr>
        <p:spPr>
          <a:xfrm>
            <a:off x="6172200" y="1089025"/>
            <a:ext cx="5029839" cy="5076908"/>
          </a:xfrm>
          <a:custGeom>
            <a:avLst/>
            <a:gdLst/>
            <a:ahLst/>
            <a:cxnLst/>
            <a:rect l="l" t="t" r="r" b="b"/>
            <a:pathLst>
              <a:path w="2733675" h="1885950">
                <a:moveTo>
                  <a:pt x="2714459" y="0"/>
                </a:moveTo>
                <a:lnTo>
                  <a:pt x="19215" y="0"/>
                </a:lnTo>
                <a:lnTo>
                  <a:pt x="16383" y="558"/>
                </a:lnTo>
                <a:lnTo>
                  <a:pt x="0" y="19215"/>
                </a:lnTo>
                <a:lnTo>
                  <a:pt x="0" y="1863801"/>
                </a:lnTo>
                <a:lnTo>
                  <a:pt x="0" y="1866734"/>
                </a:lnTo>
                <a:lnTo>
                  <a:pt x="19215" y="1885950"/>
                </a:lnTo>
                <a:lnTo>
                  <a:pt x="2714459" y="1885950"/>
                </a:lnTo>
                <a:lnTo>
                  <a:pt x="2733675" y="1866734"/>
                </a:lnTo>
                <a:lnTo>
                  <a:pt x="2733675" y="19215"/>
                </a:lnTo>
                <a:lnTo>
                  <a:pt x="2717279" y="558"/>
                </a:lnTo>
                <a:lnTo>
                  <a:pt x="2714459" y="0"/>
                </a:lnTo>
                <a:close/>
              </a:path>
            </a:pathLst>
          </a:custGeom>
          <a:solidFill>
            <a:srgbClr val="C3EE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0758C546-9D3A-4CC1-8DB0-AE188C4FF7E6}"/>
              </a:ext>
            </a:extLst>
          </p:cNvPr>
          <p:cNvSpPr txBox="1"/>
          <p:nvPr/>
        </p:nvSpPr>
        <p:spPr>
          <a:xfrm>
            <a:off x="268556" y="136685"/>
            <a:ext cx="8731886" cy="828432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3200" dirty="0" err="1">
                <a:solidFill>
                  <a:srgbClr val="233D32"/>
                </a:solidFill>
                <a:latin typeface="Georgia"/>
                <a:cs typeface="Georgia"/>
              </a:rPr>
              <a:t>Estructura</a:t>
            </a:r>
            <a:r>
              <a:rPr lang="es-MX" sz="3200" spc="114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233D32"/>
                </a:solidFill>
                <a:latin typeface="Georgia"/>
                <a:cs typeface="Georgia"/>
              </a:rPr>
              <a:t>del</a:t>
            </a:r>
            <a:r>
              <a:rPr sz="3200" spc="114" dirty="0">
                <a:solidFill>
                  <a:srgbClr val="233D32"/>
                </a:solidFill>
                <a:latin typeface="Georgia"/>
                <a:cs typeface="Georgia"/>
              </a:rPr>
              <a:t> </a:t>
            </a:r>
            <a:r>
              <a:rPr sz="3200" spc="-10" dirty="0">
                <a:solidFill>
                  <a:srgbClr val="233D32"/>
                </a:solidFill>
                <a:latin typeface="Georgia"/>
                <a:cs typeface="Georgia"/>
              </a:rPr>
              <a:t>prompt</a:t>
            </a:r>
            <a:endParaRPr sz="32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400" spc="-10" dirty="0">
                <a:solidFill>
                  <a:srgbClr val="233D32"/>
                </a:solidFill>
                <a:latin typeface="Georgia"/>
                <a:cs typeface="Georgia"/>
              </a:rPr>
              <a:t>Plantilla </a:t>
            </a:r>
            <a:r>
              <a:rPr sz="1400" dirty="0">
                <a:solidFill>
                  <a:srgbClr val="233D32"/>
                </a:solidFill>
                <a:latin typeface="Georgia"/>
                <a:cs typeface="Georgia"/>
              </a:rPr>
              <a:t>de</a:t>
            </a:r>
            <a:r>
              <a:rPr sz="1400" spc="-10" dirty="0">
                <a:solidFill>
                  <a:srgbClr val="233D32"/>
                </a:solidFill>
                <a:latin typeface="Georgia"/>
                <a:cs typeface="Georgia"/>
              </a:rPr>
              <a:t> prompt:</a:t>
            </a:r>
            <a:endParaRPr sz="1400" dirty="0">
              <a:latin typeface="Georgia"/>
              <a:cs typeface="Georgia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0BB3B038-78F6-4FA8-AF7A-30B497112924}"/>
              </a:ext>
            </a:extLst>
          </p:cNvPr>
          <p:cNvGrpSpPr/>
          <p:nvPr/>
        </p:nvGrpSpPr>
        <p:grpSpPr>
          <a:xfrm>
            <a:off x="227961" y="1117517"/>
            <a:ext cx="4114800" cy="5076908"/>
            <a:chOff x="4781550" y="1992435"/>
            <a:chExt cx="2990850" cy="3655890"/>
          </a:xfrm>
          <a:solidFill>
            <a:schemeClr val="accent2"/>
          </a:solidFill>
        </p:grpSpPr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60143D7C-4D2C-4E22-A8B8-DBBFB3B27C8B}"/>
                </a:ext>
              </a:extLst>
            </p:cNvPr>
            <p:cNvSpPr/>
            <p:nvPr/>
          </p:nvSpPr>
          <p:spPr>
            <a:xfrm>
              <a:off x="4991100" y="2905124"/>
              <a:ext cx="57150" cy="2286635"/>
            </a:xfrm>
            <a:custGeom>
              <a:avLst/>
              <a:gdLst/>
              <a:ahLst/>
              <a:cxnLst/>
              <a:rect l="l" t="t" r="r" b="b"/>
              <a:pathLst>
                <a:path w="57150" h="2286635">
                  <a:moveTo>
                    <a:pt x="57150" y="2253640"/>
                  </a:moveTo>
                  <a:lnTo>
                    <a:pt x="32359" y="2228850"/>
                  </a:lnTo>
                  <a:lnTo>
                    <a:pt x="24790" y="2228850"/>
                  </a:lnTo>
                  <a:lnTo>
                    <a:pt x="0" y="2253640"/>
                  </a:lnTo>
                  <a:lnTo>
                    <a:pt x="0" y="2261209"/>
                  </a:lnTo>
                  <a:lnTo>
                    <a:pt x="24790" y="2286012"/>
                  </a:lnTo>
                  <a:lnTo>
                    <a:pt x="32359" y="2286012"/>
                  </a:lnTo>
                  <a:lnTo>
                    <a:pt x="57150" y="2261209"/>
                  </a:lnTo>
                  <a:lnTo>
                    <a:pt x="57150" y="2257425"/>
                  </a:lnTo>
                  <a:lnTo>
                    <a:pt x="57150" y="2253640"/>
                  </a:lnTo>
                  <a:close/>
                </a:path>
                <a:path w="57150" h="2286635">
                  <a:moveTo>
                    <a:pt x="57150" y="1624990"/>
                  </a:moveTo>
                  <a:lnTo>
                    <a:pt x="32359" y="1600200"/>
                  </a:lnTo>
                  <a:lnTo>
                    <a:pt x="24790" y="1600200"/>
                  </a:lnTo>
                  <a:lnTo>
                    <a:pt x="0" y="1624990"/>
                  </a:lnTo>
                  <a:lnTo>
                    <a:pt x="0" y="1632559"/>
                  </a:lnTo>
                  <a:lnTo>
                    <a:pt x="24790" y="1657350"/>
                  </a:lnTo>
                  <a:lnTo>
                    <a:pt x="32359" y="1657350"/>
                  </a:lnTo>
                  <a:lnTo>
                    <a:pt x="57150" y="1632559"/>
                  </a:lnTo>
                  <a:lnTo>
                    <a:pt x="57150" y="1628775"/>
                  </a:lnTo>
                  <a:lnTo>
                    <a:pt x="57150" y="1624990"/>
                  </a:lnTo>
                  <a:close/>
                </a:path>
                <a:path w="57150" h="2286635">
                  <a:moveTo>
                    <a:pt x="57150" y="996340"/>
                  </a:moveTo>
                  <a:lnTo>
                    <a:pt x="32359" y="971550"/>
                  </a:lnTo>
                  <a:lnTo>
                    <a:pt x="24790" y="971550"/>
                  </a:lnTo>
                  <a:lnTo>
                    <a:pt x="0" y="996340"/>
                  </a:lnTo>
                  <a:lnTo>
                    <a:pt x="0" y="1003909"/>
                  </a:lnTo>
                  <a:lnTo>
                    <a:pt x="24790" y="1028700"/>
                  </a:lnTo>
                  <a:lnTo>
                    <a:pt x="32359" y="1028700"/>
                  </a:lnTo>
                  <a:lnTo>
                    <a:pt x="57150" y="1003909"/>
                  </a:lnTo>
                  <a:lnTo>
                    <a:pt x="57150" y="1000125"/>
                  </a:lnTo>
                  <a:lnTo>
                    <a:pt x="57150" y="996340"/>
                  </a:lnTo>
                  <a:close/>
                </a:path>
                <a:path w="57150" h="2286635">
                  <a:moveTo>
                    <a:pt x="57150" y="367703"/>
                  </a:moveTo>
                  <a:lnTo>
                    <a:pt x="32359" y="342912"/>
                  </a:lnTo>
                  <a:lnTo>
                    <a:pt x="24790" y="342912"/>
                  </a:lnTo>
                  <a:lnTo>
                    <a:pt x="0" y="367703"/>
                  </a:lnTo>
                  <a:lnTo>
                    <a:pt x="0" y="375272"/>
                  </a:lnTo>
                  <a:lnTo>
                    <a:pt x="24790" y="400062"/>
                  </a:lnTo>
                  <a:lnTo>
                    <a:pt x="32359" y="400062"/>
                  </a:lnTo>
                  <a:lnTo>
                    <a:pt x="57150" y="375272"/>
                  </a:lnTo>
                  <a:lnTo>
                    <a:pt x="57150" y="371487"/>
                  </a:lnTo>
                  <a:lnTo>
                    <a:pt x="57150" y="367703"/>
                  </a:lnTo>
                  <a:close/>
                </a:path>
                <a:path w="57150" h="2286635">
                  <a:moveTo>
                    <a:pt x="57150" y="24790"/>
                  </a:moveTo>
                  <a:lnTo>
                    <a:pt x="32359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FEE18401-4BBA-493A-8A68-1B98D868F8D2}"/>
                </a:ext>
              </a:extLst>
            </p:cNvPr>
            <p:cNvSpPr/>
            <p:nvPr/>
          </p:nvSpPr>
          <p:spPr>
            <a:xfrm>
              <a:off x="4781550" y="1992435"/>
              <a:ext cx="2990850" cy="3655890"/>
            </a:xfrm>
            <a:custGeom>
              <a:avLst/>
              <a:gdLst/>
              <a:ahLst/>
              <a:cxnLst/>
              <a:rect l="l" t="t" r="r" b="b"/>
              <a:pathLst>
                <a:path w="2990850" h="3486150">
                  <a:moveTo>
                    <a:pt x="2971634" y="0"/>
                  </a:moveTo>
                  <a:lnTo>
                    <a:pt x="19215" y="0"/>
                  </a:lnTo>
                  <a:lnTo>
                    <a:pt x="16383" y="558"/>
                  </a:lnTo>
                  <a:lnTo>
                    <a:pt x="0" y="19215"/>
                  </a:lnTo>
                  <a:lnTo>
                    <a:pt x="0" y="3463999"/>
                  </a:lnTo>
                  <a:lnTo>
                    <a:pt x="0" y="3466937"/>
                  </a:lnTo>
                  <a:lnTo>
                    <a:pt x="19215" y="3486146"/>
                  </a:lnTo>
                  <a:lnTo>
                    <a:pt x="2971634" y="3486146"/>
                  </a:lnTo>
                  <a:lnTo>
                    <a:pt x="2990850" y="3466937"/>
                  </a:lnTo>
                  <a:lnTo>
                    <a:pt x="2990850" y="19215"/>
                  </a:lnTo>
                  <a:lnTo>
                    <a:pt x="2974454" y="558"/>
                  </a:lnTo>
                  <a:lnTo>
                    <a:pt x="2971634" y="0"/>
                  </a:lnTo>
                  <a:close/>
                </a:path>
              </a:pathLst>
            </a:custGeom>
            <a:grpFill/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692A7C0-73C3-49B6-B3E1-92943A7B34C8}"/>
              </a:ext>
            </a:extLst>
          </p:cNvPr>
          <p:cNvSpPr/>
          <p:nvPr/>
        </p:nvSpPr>
        <p:spPr>
          <a:xfrm>
            <a:off x="268556" y="1393825"/>
            <a:ext cx="4114800" cy="412420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s-AR" sz="1600" dirty="0" err="1">
                <a:solidFill>
                  <a:schemeClr val="bg1"/>
                </a:solidFill>
              </a:rPr>
              <a:t>Actuá</a:t>
            </a:r>
            <a:r>
              <a:rPr lang="es-AR" sz="1600" dirty="0">
                <a:solidFill>
                  <a:schemeClr val="bg1"/>
                </a:solidFill>
              </a:rPr>
              <a:t> como Project Manager.</a:t>
            </a:r>
          </a:p>
          <a:p>
            <a:endParaRPr lang="es-AR" sz="1600" dirty="0">
              <a:solidFill>
                <a:schemeClr val="bg1"/>
              </a:solidFill>
            </a:endParaRPr>
          </a:p>
          <a:p>
            <a:r>
              <a:rPr lang="es-AR" sz="1600" dirty="0">
                <a:solidFill>
                  <a:schemeClr val="bg1"/>
                </a:solidFill>
              </a:rPr>
              <a:t>Proyecto: [nombre del proyecto]</a:t>
            </a:r>
          </a:p>
          <a:p>
            <a:r>
              <a:rPr lang="es-AR" sz="1600" dirty="0">
                <a:solidFill>
                  <a:schemeClr val="bg1"/>
                </a:solidFill>
              </a:rPr>
              <a:t>Audiencia: [sponsor / cliente / equipo]</a:t>
            </a:r>
          </a:p>
          <a:p>
            <a:r>
              <a:rPr lang="es-AR" sz="1600" dirty="0">
                <a:solidFill>
                  <a:schemeClr val="bg1"/>
                </a:solidFill>
              </a:rPr>
              <a:t>Canal de comunicación: [email ejecutivo / reporte interno / reunión]</a:t>
            </a:r>
          </a:p>
          <a:p>
            <a:r>
              <a:rPr lang="es-AR" sz="1600" dirty="0">
                <a:solidFill>
                  <a:schemeClr val="bg1"/>
                </a:solidFill>
              </a:rPr>
              <a:t>Objetivo: comunicar el estado del proyecto.</a:t>
            </a:r>
          </a:p>
          <a:p>
            <a:endParaRPr lang="es-AR" sz="1600" dirty="0">
              <a:solidFill>
                <a:schemeClr val="bg1"/>
              </a:solidFill>
            </a:endParaRPr>
          </a:p>
          <a:p>
            <a:r>
              <a:rPr lang="es-AR" sz="1600" dirty="0">
                <a:solidFill>
                  <a:schemeClr val="bg1"/>
                </a:solidFill>
              </a:rPr>
              <a:t>Información del proyecto:</a:t>
            </a:r>
          </a:p>
          <a:p>
            <a:r>
              <a:rPr lang="es-AR" sz="1600" dirty="0">
                <a:solidFill>
                  <a:schemeClr val="bg1"/>
                </a:solidFill>
              </a:rPr>
              <a:t>- Avances logrados</a:t>
            </a:r>
          </a:p>
          <a:p>
            <a:r>
              <a:rPr lang="es-AR" sz="1600" dirty="0">
                <a:solidFill>
                  <a:schemeClr val="bg1"/>
                </a:solidFill>
              </a:rPr>
              <a:t>- Riesgos actuales</a:t>
            </a:r>
          </a:p>
          <a:p>
            <a:r>
              <a:rPr lang="es-AR" sz="1600" dirty="0">
                <a:solidFill>
                  <a:schemeClr val="bg1"/>
                </a:solidFill>
              </a:rPr>
              <a:t>- Próximos hitos</a:t>
            </a:r>
          </a:p>
          <a:p>
            <a:r>
              <a:rPr lang="es-AR" sz="1600" dirty="0">
                <a:solidFill>
                  <a:schemeClr val="bg1"/>
                </a:solidFill>
              </a:rPr>
              <a:t>- Decisiones requeridas</a:t>
            </a:r>
          </a:p>
          <a:p>
            <a:endParaRPr lang="es-AR" sz="1600" dirty="0">
              <a:solidFill>
                <a:schemeClr val="bg1"/>
              </a:solidFill>
            </a:endParaRPr>
          </a:p>
          <a:p>
            <a:r>
              <a:rPr lang="es-AR" sz="1600" dirty="0" err="1">
                <a:solidFill>
                  <a:schemeClr val="bg1"/>
                </a:solidFill>
              </a:rPr>
              <a:t>Redactá</a:t>
            </a:r>
            <a:r>
              <a:rPr lang="es-AR" sz="1600" dirty="0">
                <a:solidFill>
                  <a:schemeClr val="bg1"/>
                </a:solidFill>
              </a:rPr>
              <a:t> el mensaje de forma clara, profesional y breve.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4CA5D5D-D92D-4947-8AC4-47604857EFCB}"/>
              </a:ext>
            </a:extLst>
          </p:cNvPr>
          <p:cNvSpPr/>
          <p:nvPr/>
        </p:nvSpPr>
        <p:spPr>
          <a:xfrm>
            <a:off x="6172200" y="1239937"/>
            <a:ext cx="4817741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s-AR" sz="1600" dirty="0" err="1"/>
              <a:t>Actuá</a:t>
            </a:r>
            <a:r>
              <a:rPr lang="es-AR" sz="1600" dirty="0"/>
              <a:t> como Project Manager.</a:t>
            </a:r>
          </a:p>
          <a:p>
            <a:pPr algn="l"/>
            <a:endParaRPr lang="es-AR" sz="1600" dirty="0"/>
          </a:p>
          <a:p>
            <a:pPr algn="l"/>
            <a:r>
              <a:rPr lang="es-AR" sz="1600" dirty="0"/>
              <a:t>Proyecto: </a:t>
            </a:r>
            <a:r>
              <a:rPr lang="es-AR" sz="1600" b="1" dirty="0"/>
              <a:t>Implementación de sistema ERP</a:t>
            </a:r>
            <a:r>
              <a:rPr lang="es-AR" sz="1600" dirty="0"/>
              <a:t>.</a:t>
            </a:r>
          </a:p>
          <a:p>
            <a:pPr algn="l"/>
            <a:endParaRPr lang="es-AR" sz="1600" dirty="0"/>
          </a:p>
          <a:p>
            <a:pPr algn="l"/>
            <a:r>
              <a:rPr lang="es-AR" sz="1600" dirty="0"/>
              <a:t>Audiencia: </a:t>
            </a:r>
            <a:r>
              <a:rPr lang="es-AR" sz="1600" b="1" dirty="0"/>
              <a:t>Sponsor del proyecto.</a:t>
            </a:r>
          </a:p>
          <a:p>
            <a:pPr algn="l"/>
            <a:r>
              <a:rPr lang="es-AR" sz="1600" dirty="0"/>
              <a:t>Canal de comunicación: </a:t>
            </a:r>
            <a:r>
              <a:rPr lang="es-AR" sz="1600" b="1" dirty="0"/>
              <a:t>Email ejecutivo</a:t>
            </a:r>
            <a:r>
              <a:rPr lang="es-AR" sz="1600" dirty="0"/>
              <a:t>.</a:t>
            </a:r>
          </a:p>
          <a:p>
            <a:pPr algn="l"/>
            <a:endParaRPr lang="es-AR" sz="1600" dirty="0"/>
          </a:p>
          <a:p>
            <a:pPr algn="l"/>
            <a:r>
              <a:rPr lang="es-AR" sz="1600" dirty="0"/>
              <a:t>Información:</a:t>
            </a:r>
          </a:p>
          <a:p>
            <a:pPr algn="l"/>
            <a:r>
              <a:rPr lang="es-AR" sz="1600" dirty="0"/>
              <a:t>- Avances: </a:t>
            </a:r>
            <a:r>
              <a:rPr lang="es-AR" sz="1600" b="1" dirty="0"/>
              <a:t>finalización del módulo de inventario</a:t>
            </a:r>
            <a:r>
              <a:rPr lang="es-AR" sz="1600" dirty="0"/>
              <a:t>.</a:t>
            </a:r>
          </a:p>
          <a:p>
            <a:pPr algn="l"/>
            <a:r>
              <a:rPr lang="es-AR" sz="1600" dirty="0"/>
              <a:t>- Riesgo: </a:t>
            </a:r>
            <a:r>
              <a:rPr lang="es-AR" sz="1600" b="1" dirty="0"/>
              <a:t>retraso en integración con sistema contable.</a:t>
            </a:r>
          </a:p>
          <a:p>
            <a:pPr algn="l"/>
            <a:r>
              <a:rPr lang="es-AR" sz="1600" dirty="0"/>
              <a:t>- Próximo hito: </a:t>
            </a:r>
            <a:r>
              <a:rPr lang="es-AR" sz="1600" b="1" dirty="0"/>
              <a:t>pruebas de usuario en 2 semanas</a:t>
            </a:r>
            <a:r>
              <a:rPr lang="es-AR" sz="1600" dirty="0"/>
              <a:t>.</a:t>
            </a:r>
          </a:p>
          <a:p>
            <a:pPr algn="l"/>
            <a:r>
              <a:rPr lang="es-AR" sz="1600" dirty="0"/>
              <a:t>- Decisión requerida: </a:t>
            </a:r>
            <a:r>
              <a:rPr lang="es-AR" sz="1600" b="1" dirty="0"/>
              <a:t>aprobación de presupuesto para integración adicional</a:t>
            </a:r>
            <a:r>
              <a:rPr lang="es-AR" sz="1600" dirty="0"/>
              <a:t>.</a:t>
            </a:r>
          </a:p>
          <a:p>
            <a:pPr algn="l"/>
            <a:endParaRPr lang="es-AR" sz="1600" dirty="0"/>
          </a:p>
          <a:p>
            <a:pPr algn="l"/>
            <a:r>
              <a:rPr lang="es-AR" sz="1600" dirty="0" err="1"/>
              <a:t>Redactá</a:t>
            </a:r>
            <a:r>
              <a:rPr lang="es-AR" sz="1600" dirty="0"/>
              <a:t> un email breve y profesional para informar el estado del proyecto a Directores.</a:t>
            </a:r>
          </a:p>
        </p:txBody>
      </p:sp>
    </p:spTree>
    <p:extLst>
      <p:ext uri="{BB962C8B-B14F-4D97-AF65-F5344CB8AC3E}">
        <p14:creationId xmlns:p14="http://schemas.microsoft.com/office/powerpoint/2010/main" val="2986947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445</Words>
  <Application>Microsoft Office PowerPoint</Application>
  <PresentationFormat>Personalizado</PresentationFormat>
  <Paragraphs>89</Paragraphs>
  <Slides>5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Calibri</vt:lpstr>
      <vt:lpstr>Cambria</vt:lpstr>
      <vt:lpstr>Georgia</vt:lpstr>
      <vt:lpstr>Office Theme</vt:lpstr>
      <vt:lpstr>¿Para qué puedo utilizar herramientas de IA en comunicaciones de proyecto?</vt:lpstr>
      <vt:lpstr>La calidad de la respuesta depende del prompt</vt:lpstr>
      <vt:lpstr>Presentación de PowerPoint</vt:lpstr>
      <vt:lpstr>Ejemplo práctico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¿Para qué sirve ChatGPT en comunicaciones de proyecto?</dc:title>
  <dc:creator>Francisco Serrano</dc:creator>
  <cp:lastModifiedBy>Juan Pablo Dona</cp:lastModifiedBy>
  <cp:revision>4</cp:revision>
  <dcterms:created xsi:type="dcterms:W3CDTF">2026-03-14T23:53:58Z</dcterms:created>
  <dcterms:modified xsi:type="dcterms:W3CDTF">2026-03-18T18:17:35Z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2026-03-14T00:00:00Z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2026-03-14T00:00:00Z</vt:filetime>
  </property>
  <property fmtid="{D5CDD505-2E9C-101B-9397-08002B2CF9AE}" pid="5" name="Producer">
    <vt:lpwstr>pdf-lib (https://github.com/Hopding/pdf-lib)</vt:lpwstr>
  </property>
</Properties>
</file>