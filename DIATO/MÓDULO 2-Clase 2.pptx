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0287000" cx="18288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Raleway SemiBold"/>
      <p:regular r:id="rId34"/>
      <p:bold r:id="rId35"/>
      <p:italic r:id="rId36"/>
      <p:boldItalic r:id="rId37"/>
    </p:embeddedFont>
    <p:embeddedFont>
      <p:font typeface="Raleway Black"/>
      <p:bold r:id="rId38"/>
      <p:boldItalic r:id="rId39"/>
    </p:embeddedFont>
    <p:embeddedFont>
      <p:font typeface="Raleway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gy1EfJjZd84uDQSYZP8fkTxYAd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E8851E-6F50-4C57-BB45-14D599032E97}">
  <a:tblStyle styleId="{B0E8851E-6F50-4C57-BB45-14D599032E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Light-regular.fntdata"/><Relationship Id="rId20" Type="http://schemas.openxmlformats.org/officeDocument/2006/relationships/slide" Target="slides/slide14.xml"/><Relationship Id="rId42" Type="http://schemas.openxmlformats.org/officeDocument/2006/relationships/font" Target="fonts/RalewayLight-italic.fntdata"/><Relationship Id="rId41" Type="http://schemas.openxmlformats.org/officeDocument/2006/relationships/font" Target="fonts/RalewayLight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RalewayLight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5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4.xml"/><Relationship Id="rId32" Type="http://schemas.openxmlformats.org/officeDocument/2006/relationships/font" Target="fonts/Raleway-italic.fntdata"/><Relationship Id="rId13" Type="http://schemas.openxmlformats.org/officeDocument/2006/relationships/slide" Target="slides/slide7.xml"/><Relationship Id="rId35" Type="http://schemas.openxmlformats.org/officeDocument/2006/relationships/font" Target="fonts/RalewaySemiBold-bold.fntdata"/><Relationship Id="rId12" Type="http://schemas.openxmlformats.org/officeDocument/2006/relationships/slide" Target="slides/slide6.xml"/><Relationship Id="rId34" Type="http://schemas.openxmlformats.org/officeDocument/2006/relationships/font" Target="fonts/Raleway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Raleway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RalewaySemiBold-italic.fntdata"/><Relationship Id="rId17" Type="http://schemas.openxmlformats.org/officeDocument/2006/relationships/slide" Target="slides/slide11.xml"/><Relationship Id="rId39" Type="http://schemas.openxmlformats.org/officeDocument/2006/relationships/font" Target="fonts/RalewayBlack-boldItalic.fntdata"/><Relationship Id="rId16" Type="http://schemas.openxmlformats.org/officeDocument/2006/relationships/slide" Target="slides/slide10.xml"/><Relationship Id="rId38" Type="http://schemas.openxmlformats.org/officeDocument/2006/relationships/font" Target="fonts/RalewayBlack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JO9MgO1Zp3E?si=sS1AShndt4QapsgI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d11ed9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4d11ed93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d11ed93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64d11ed934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5d582ec0d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5d582ec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Preguntas vía menti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63891c3f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963891c3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Mencionar buenas prácticas que ofrecemos para construcción de los prompts.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3891c3f2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63891c3f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5d850d01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95d850d01f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5d582ec0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95d582ec0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5d582ec0d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5d582ec0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5d582ec0d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95d582ec0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5d850d01f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95d850d01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5d850d01f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95d850d01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28bb24e3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28bb24e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5d582ec0d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95d582ec0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Juego para interpretar cómo funciona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5d582ec0d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95d582ec0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5d582ec0d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95d582ec0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https://youtu.be/JO9MgO1Zp3E?si=sS1AShndt4QapsgI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5d582ec0d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95d582ec0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5d582ec0d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95d582ec0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28bb24e3f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d28bb24e3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5d850d01f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95d850d01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5d850d01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95d850d0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5d850d01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95d850d0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5d850d01f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95d850d01f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4d11ed934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364d11ed934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hyperlink" Target="https://drive.google.com/drive/folders/15d1mNkQl1r1unU3KftDi4yOwlBnAA100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hyperlink" Target="https://drive.google.com/drive/folders/15d1mNkQl1r1unU3KftDi4yOwlBnAA100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hyperlink" Target="http://www.youtube.com/watch?v=JO9MgO1Zp3E" TargetMode="External"/><Relationship Id="rId7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hyperlink" Target="https://www.godofprompt.ai/blog/500-chatgpt-overused-words-heres-how-to-avoid-them?utm_source=newsletter.futureailab.com&amp;utm_medium=newsletter&amp;utm_campaign=sept-20&amp;_bhlid=3e6200e547ef7fe6eef0cdfa7fa6bf63da6de0e2" TargetMode="External"/><Relationship Id="rId7" Type="http://schemas.openxmlformats.org/officeDocument/2006/relationships/hyperlink" Target="https://www.coursera.org/learn/prompt-engineering/" TargetMode="External"/><Relationship Id="rId8" Type="http://schemas.openxmlformats.org/officeDocument/2006/relationships/hyperlink" Target="https://www.coursera.org/learn/advanced-prompt-engineering-for-everyon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64d11ed934_1_0" title="fondo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329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g364d11ed934_1_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g364d11ed934_1_0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20" l="0" r="-32945" t="0"/>
            </a:stretch>
          </a:blipFill>
          <a:ln>
            <a:noFill/>
          </a:ln>
        </p:spPr>
      </p:sp>
      <p:sp>
        <p:nvSpPr>
          <p:cNvPr id="87" name="Google Shape;87;g364d11ed934_1_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64d11ed934_1_0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894" r="0" t="0"/>
            </a:stretch>
          </a:blipFill>
          <a:ln>
            <a:noFill/>
          </a:ln>
        </p:spPr>
      </p:sp>
      <p:pic>
        <p:nvPicPr>
          <p:cNvPr id="89" name="Google Shape;89;g364d11ed934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4187" y="7947650"/>
            <a:ext cx="5099628" cy="205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64d11ed934_1_0"/>
          <p:cNvSpPr txBox="1"/>
          <p:nvPr/>
        </p:nvSpPr>
        <p:spPr>
          <a:xfrm>
            <a:off x="2453925" y="3541425"/>
            <a:ext cx="13548300" cy="28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63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Diplomatura en </a:t>
            </a:r>
            <a:endParaRPr b="1" i="0" sz="6399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63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6399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91" name="Google Shape;91;g364d11ed934_1_0"/>
          <p:cNvCxnSpPr/>
          <p:nvPr/>
        </p:nvCxnSpPr>
        <p:spPr>
          <a:xfrm>
            <a:off x="3309050" y="6495825"/>
            <a:ext cx="12100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g364d11ed934_1_0"/>
          <p:cNvSpPr txBox="1"/>
          <p:nvPr/>
        </p:nvSpPr>
        <p:spPr>
          <a:xfrm>
            <a:off x="11559950" y="6513400"/>
            <a:ext cx="38196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lang="en-US" sz="50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r>
              <a:rPr b="1" i="0" lang="en-US" sz="50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 cohorte</a:t>
            </a:r>
            <a:endParaRPr b="0" i="0" sz="5099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64d11ed934_1_12" title="fondo2.png"/>
          <p:cNvPicPr preferRelativeResize="0"/>
          <p:nvPr/>
        </p:nvPicPr>
        <p:blipFill rotWithShape="1">
          <a:blip r:embed="rId3">
            <a:alphaModFix/>
          </a:blip>
          <a:srcRect b="30852" l="55231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g364d11ed934_1_12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g364d11ed934_1_12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20" l="0" r="-32958" t="0"/>
            </a:stretch>
          </a:blipFill>
          <a:ln>
            <a:noFill/>
          </a:ln>
        </p:spPr>
      </p:sp>
      <p:sp>
        <p:nvSpPr>
          <p:cNvPr id="100" name="Google Shape;100;g364d11ed934_1_12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364d11ed934_1_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25099" y="8540400"/>
            <a:ext cx="3677153" cy="14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64d11ed934_1_12"/>
          <p:cNvSpPr txBox="1"/>
          <p:nvPr/>
        </p:nvSpPr>
        <p:spPr>
          <a:xfrm>
            <a:off x="2369850" y="3794225"/>
            <a:ext cx="135483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Módulo 2</a:t>
            </a:r>
            <a:endParaRPr b="0" i="0" sz="90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103" name="Google Shape;103;g364d11ed934_1_12"/>
          <p:cNvCxnSpPr/>
          <p:nvPr/>
        </p:nvCxnSpPr>
        <p:spPr>
          <a:xfrm>
            <a:off x="3309050" y="5137925"/>
            <a:ext cx="12100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g364d11ed934_1_12"/>
          <p:cNvSpPr txBox="1"/>
          <p:nvPr/>
        </p:nvSpPr>
        <p:spPr>
          <a:xfrm>
            <a:off x="4004300" y="5453963"/>
            <a:ext cx="107097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Herramientas de IA generativa para el trabajo</a:t>
            </a:r>
            <a:endParaRPr b="0" i="0" sz="60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5" name="Google Shape;105;g364d11ed934_1_12"/>
          <p:cNvSpPr txBox="1"/>
          <p:nvPr/>
        </p:nvSpPr>
        <p:spPr>
          <a:xfrm>
            <a:off x="5783901" y="7561600"/>
            <a:ext cx="71505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Mg. María Della Torre</a:t>
            </a:r>
            <a:endParaRPr b="0" i="0" sz="4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06" name="Google Shape;106;g364d11ed934_1_12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894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d582ec0d_0_22"/>
          <p:cNvSpPr txBox="1"/>
          <p:nvPr/>
        </p:nvSpPr>
        <p:spPr>
          <a:xfrm>
            <a:off x="2443350" y="4081550"/>
            <a:ext cx="134013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¿Qué recordamos?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12" name="Google Shape;112;g395d582ec0d_0_22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95d582ec0d_0_22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g395d582ec0d_0_22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g395d582ec0d_0_22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g395d582ec0d_0_22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63891c3f2_0_0"/>
          <p:cNvSpPr txBox="1"/>
          <p:nvPr/>
        </p:nvSpPr>
        <p:spPr>
          <a:xfrm>
            <a:off x="1995475" y="3528500"/>
            <a:ext cx="140358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ACTIVAR EL PENSAMIENTO CRÍTICO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22" name="Google Shape;122;g3963891c3f2_0_0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963891c3f2_0_0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g3963891c3f2_0_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g3963891c3f2_0_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963891c3f2_0_0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3891c3f2_0_9"/>
          <p:cNvSpPr txBox="1"/>
          <p:nvPr/>
        </p:nvSpPr>
        <p:spPr>
          <a:xfrm>
            <a:off x="1224054" y="4098300"/>
            <a:ext cx="60006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7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5</a:t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7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20’</a:t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2" name="Google Shape;132;g3963891c3f2_0_9"/>
          <p:cNvSpPr txBox="1"/>
          <p:nvPr/>
        </p:nvSpPr>
        <p:spPr>
          <a:xfrm>
            <a:off x="7729725" y="1661499"/>
            <a:ext cx="9564600" cy="4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En grupos:</a:t>
            </a:r>
            <a:endParaRPr b="0" i="0" sz="20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Raleway SemiBold"/>
              <a:buChar char="●"/>
            </a:pP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Construir un prompt para algún punto de dolor y/o solución necesaria para sus trabajos.</a:t>
            </a:r>
            <a:endParaRPr b="0" i="0" sz="20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Raleway SemiBold"/>
              <a:buChar char="●"/>
            </a:pP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Probar ejecutarlo en 2 herramientas</a:t>
            </a:r>
            <a:endParaRPr b="0" i="0" sz="20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Raleway SemiBold"/>
              <a:buChar char="●"/>
            </a:pP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Comparar resultados</a:t>
            </a:r>
            <a:endParaRPr b="0" i="0" sz="20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Raleway SemiBold"/>
              <a:buChar char="●"/>
            </a:pP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Destacar 1 punto positivo y 1 oportunidad de mejora de cada caso.</a:t>
            </a:r>
            <a:endParaRPr b="0" i="0" sz="20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Tabla de referencia:</a:t>
            </a:r>
            <a:endParaRPr b="0" i="0" sz="2000" u="none" cap="none" strike="noStrike">
              <a:solidFill>
                <a:srgbClr val="2A8519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33" name="Google Shape;133;g3963891c3f2_0_9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963891c3f2_0_9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g3963891c3f2_0_9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g3963891c3f2_0_9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963891c3f2_0_9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g3963891c3f2_0_9"/>
          <p:cNvGraphicFramePr/>
          <p:nvPr/>
        </p:nvGraphicFramePr>
        <p:xfrm>
          <a:off x="8021900" y="618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{B0E8851E-6F50-4C57-BB45-14D599032E97}</a:tableStyleId>
              </a:tblPr>
              <a:tblGrid>
                <a:gridCol w="4490125"/>
                <a:gridCol w="44901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Prompt </a:t>
                      </a:r>
                      <a:endParaRPr sz="2000" u="none" cap="none" strike="noStrike">
                        <a:solidFill>
                          <a:srgbClr val="888888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Prompt</a:t>
                      </a:r>
                      <a:endParaRPr sz="2000" u="none" cap="none" strike="noStrike">
                        <a:solidFill>
                          <a:srgbClr val="888888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Resultado prompt H1</a:t>
                      </a:r>
                      <a:endParaRPr sz="2000" u="none" cap="none" strike="noStrike">
                        <a:solidFill>
                          <a:srgbClr val="888888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Resultado prom</a:t>
                      </a:r>
                      <a:r>
                        <a:rPr lang="en-US" sz="2000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p</a:t>
                      </a: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t H2</a:t>
                      </a:r>
                      <a:endParaRPr sz="2000" u="none" cap="none" strike="noStrike">
                        <a:solidFill>
                          <a:srgbClr val="888888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Punto positivo</a:t>
                      </a:r>
                      <a:endParaRPr sz="2000" u="none" cap="none" strike="noStrike">
                        <a:solidFill>
                          <a:srgbClr val="888888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Punto positivo</a:t>
                      </a:r>
                      <a:endParaRPr sz="2000" u="none" cap="none" strike="noStrike">
                        <a:solidFill>
                          <a:srgbClr val="888888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Oportunidad de mejora</a:t>
                      </a:r>
                      <a:endParaRPr sz="2000" u="none" cap="none" strike="noStrike">
                        <a:solidFill>
                          <a:srgbClr val="888888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888888"/>
                          </a:solidFill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Oportunidad de mejora</a:t>
                      </a:r>
                      <a:endParaRPr sz="2000" u="none" cap="none" strike="noStrike">
                        <a:solidFill>
                          <a:srgbClr val="888888"/>
                        </a:solidFill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6D7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5d850d01f_0_95"/>
          <p:cNvSpPr txBox="1"/>
          <p:nvPr/>
        </p:nvSpPr>
        <p:spPr>
          <a:xfrm>
            <a:off x="1375411" y="5507139"/>
            <a:ext cx="52764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69"/>
              <a:buFont typeface="Arial"/>
              <a:buNone/>
            </a:pPr>
            <a:r>
              <a:rPr b="0" i="0" lang="en-US" sz="7969" u="none" cap="none" strike="noStrike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95d850d01f_0_95"/>
          <p:cNvSpPr txBox="1"/>
          <p:nvPr/>
        </p:nvSpPr>
        <p:spPr>
          <a:xfrm>
            <a:off x="6651800" y="3429000"/>
            <a:ext cx="113217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4662" lvl="1" marL="9144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75"/>
              <a:buFont typeface="Raleway"/>
              <a:buChar char="•"/>
            </a:pPr>
            <a:r>
              <a:rPr b="0" i="0" lang="en-US" sz="387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1: Ingeniería de prompts</a:t>
            </a:r>
            <a:endParaRPr b="0" i="0" sz="3875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74662" lvl="1" marL="9144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75"/>
              <a:buFont typeface="Raleway"/>
              <a:buChar char="•"/>
            </a:pPr>
            <a:r>
              <a:rPr b="0" i="0" lang="en-US" sz="387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2: </a:t>
            </a:r>
            <a:r>
              <a:rPr lang="en-US" sz="387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Conceptos generales de IAG</a:t>
            </a:r>
            <a:endParaRPr b="0" i="0" sz="3875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74662" lvl="1" marL="9144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75"/>
              <a:buFont typeface="Raleway"/>
              <a:buChar char="•"/>
            </a:pPr>
            <a:r>
              <a:rPr b="0" i="0" lang="en-US" sz="387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3: </a:t>
            </a:r>
            <a:r>
              <a:rPr lang="en-US" sz="387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Situaciones cotidianas para acompañar con IAG</a:t>
            </a:r>
            <a:endParaRPr b="0" i="0" sz="3875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5" name="Google Shape;145;g395d850d01f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3300" y="8764850"/>
            <a:ext cx="3267226" cy="1317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g395d850d01f_0_9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g395d850d01f_0_95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59" t="0"/>
            </a:stretch>
          </a:blipFill>
          <a:ln>
            <a:noFill/>
          </a:ln>
        </p:spPr>
      </p:sp>
      <p:sp>
        <p:nvSpPr>
          <p:cNvPr id="148" name="Google Shape;148;g395d850d01f_0_9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95d850d01f_0_95" title="Diseño_sin_título-removebg-preview.png"/>
          <p:cNvPicPr preferRelativeResize="0"/>
          <p:nvPr/>
        </p:nvPicPr>
        <p:blipFill rotWithShape="1">
          <a:blip r:embed="rId5">
            <a:alphaModFix/>
          </a:blip>
          <a:srcRect b="0" l="22050" r="16971" t="70621"/>
          <a:stretch/>
        </p:blipFill>
        <p:spPr>
          <a:xfrm>
            <a:off x="1375400" y="6435625"/>
            <a:ext cx="4857751" cy="1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95d850d01f_0_95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6D7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95d582ec0d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3300" y="8764850"/>
            <a:ext cx="3267226" cy="1317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g395d582ec0d_0_11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g395d582ec0d_0_11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50" t="0"/>
            </a:stretch>
          </a:blipFill>
          <a:ln>
            <a:noFill/>
          </a:ln>
        </p:spPr>
      </p:sp>
      <p:sp>
        <p:nvSpPr>
          <p:cNvPr id="158" name="Google Shape;158;g395d582ec0d_0_11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395d582ec0d_0_11" title="Diseño_sin_título-removebg-preview.png"/>
          <p:cNvPicPr preferRelativeResize="0"/>
          <p:nvPr/>
        </p:nvPicPr>
        <p:blipFill rotWithShape="1">
          <a:blip r:embed="rId5">
            <a:alphaModFix/>
          </a:blip>
          <a:srcRect b="0" l="22050" r="16971" t="70621"/>
          <a:stretch/>
        </p:blipFill>
        <p:spPr>
          <a:xfrm>
            <a:off x="9888425" y="7664800"/>
            <a:ext cx="4857751" cy="1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95d582ec0d_0_11"/>
          <p:cNvSpPr txBox="1"/>
          <p:nvPr/>
        </p:nvSpPr>
        <p:spPr>
          <a:xfrm>
            <a:off x="8991169" y="4104695"/>
            <a:ext cx="70368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45"/>
              <a:buFont typeface="Arial"/>
              <a:buNone/>
            </a:pPr>
            <a:r>
              <a:rPr b="0" i="0" lang="en-US" sz="11845" u="none" cap="none" strike="noStrike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Unidad </a:t>
            </a:r>
            <a:r>
              <a:rPr lang="en-US" sz="11845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95d582ec0d_0_11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  <p:sp>
        <p:nvSpPr>
          <p:cNvPr id="162" name="Google Shape;162;g395d582ec0d_0_11"/>
          <p:cNvSpPr txBox="1"/>
          <p:nvPr/>
        </p:nvSpPr>
        <p:spPr>
          <a:xfrm>
            <a:off x="9277028" y="5873190"/>
            <a:ext cx="70368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Conceptos generales de IAG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5d582ec0d_0_34"/>
          <p:cNvSpPr txBox="1"/>
          <p:nvPr/>
        </p:nvSpPr>
        <p:spPr>
          <a:xfrm>
            <a:off x="1572475" y="4081550"/>
            <a:ext cx="71088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Inteligencia artificial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95d582ec0d_0_34"/>
          <p:cNvSpPr txBox="1"/>
          <p:nvPr/>
        </p:nvSpPr>
        <p:spPr>
          <a:xfrm>
            <a:off x="9596788" y="3893218"/>
            <a:ext cx="9564600" cy="2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Concepto abordado en </a:t>
            </a:r>
            <a:r>
              <a:rPr b="0" i="0" lang="en-US" sz="3600" u="none" cap="none" strike="noStrike">
                <a:solidFill>
                  <a:srgbClr val="056D7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módulo 1</a:t>
            </a:r>
            <a:endParaRPr b="0" i="0" sz="36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93700" lvl="0" marL="4572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Raleway SemiBold"/>
              <a:buChar char="●"/>
            </a:pPr>
            <a:r>
              <a:rPr b="0" i="0" lang="en-US" sz="2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Capacidad de interpretar acciones humanas</a:t>
            </a:r>
            <a:endParaRPr b="0" i="0" sz="2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93700" lvl="0" marL="4572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Raleway SemiBold"/>
              <a:buChar char="●"/>
            </a:pPr>
            <a:r>
              <a:rPr b="0" i="0" lang="en-US" sz="2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Procesa gran cantidad de datos</a:t>
            </a:r>
            <a:endParaRPr b="0" i="0" sz="2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93700" lvl="0" marL="4572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Raleway SemiBold"/>
              <a:buChar char="●"/>
            </a:pPr>
            <a:r>
              <a:rPr b="0" i="0" lang="en-US" sz="2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Se adapta al contexto</a:t>
            </a:r>
            <a:endParaRPr b="0" i="0" sz="2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93700" lvl="0" marL="4572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Raleway SemiBold"/>
              <a:buChar char="●"/>
            </a:pPr>
            <a:r>
              <a:rPr b="0" i="0" lang="en-US" sz="2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Facilita la ejecución de tareas</a:t>
            </a:r>
            <a:endParaRPr b="0" i="0" sz="2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69" name="Google Shape;169;g395d582ec0d_0_3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95d582ec0d_0_3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g395d582ec0d_0_3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95d582ec0d_0_3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95d582ec0d_0_3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d582ec0d_0_44"/>
          <p:cNvSpPr txBox="1"/>
          <p:nvPr/>
        </p:nvSpPr>
        <p:spPr>
          <a:xfrm>
            <a:off x="1502125" y="2956150"/>
            <a:ext cx="7108800" cy="4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Inteligencia artificial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generativa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79" name="Google Shape;179;g395d582ec0d_0_44"/>
          <p:cNvSpPr txBox="1"/>
          <p:nvPr/>
        </p:nvSpPr>
        <p:spPr>
          <a:xfrm>
            <a:off x="9596788" y="3893218"/>
            <a:ext cx="95646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Concepto abordado en </a:t>
            </a:r>
            <a:r>
              <a:rPr b="0" i="0" lang="en-US" sz="3600" u="none" cap="none" strike="noStrike">
                <a:solidFill>
                  <a:srgbClr val="056D7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módulo 1</a:t>
            </a:r>
            <a:endParaRPr b="0" i="0" sz="36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80" name="Google Shape;180;g395d582ec0d_0_44"/>
          <p:cNvSpPr txBox="1"/>
          <p:nvPr/>
        </p:nvSpPr>
        <p:spPr>
          <a:xfrm>
            <a:off x="8471388" y="5276334"/>
            <a:ext cx="9564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Rama de la IA capaz de generar contenido de manera automática en respuesta a indicaciones escritas en interfaces conversacionales de lenguaje natural. En lugar de seleccionar contenidos de páginas webs existentes, estas tecnologías </a:t>
            </a:r>
            <a:r>
              <a:rPr b="0" i="0" lang="en-US" sz="2000" u="none" cap="none" strike="noStrike">
                <a:solidFill>
                  <a:schemeClr val="lt1"/>
                </a:solidFill>
                <a:highlight>
                  <a:srgbClr val="056D73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toman esos insumos y producen contenido nuevo</a:t>
            </a: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que puede aparecer en formatos que comprenden todas las representaciones simbólicas del pensamiento humano: textos, escritos en lenguaje natural, imágenes, videos, música y código de software.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5d582ec0d_0_44"/>
          <p:cNvSpPr txBox="1"/>
          <p:nvPr/>
        </p:nvSpPr>
        <p:spPr>
          <a:xfrm>
            <a:off x="8955475" y="1847025"/>
            <a:ext cx="8152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¿Dónde está la/s obsolescencia/s?</a:t>
            </a:r>
            <a:endParaRPr b="1" i="0" sz="3200" u="none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2" name="Google Shape;182;g395d582ec0d_0_4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95d582ec0d_0_4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g395d582ec0d_0_4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g395d582ec0d_0_4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95d582ec0d_0_4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95d582ec0d_0_44">
            <a:hlinkClick r:id="rId6"/>
          </p:cNvPr>
          <p:cNvSpPr txBox="1"/>
          <p:nvPr/>
        </p:nvSpPr>
        <p:spPr>
          <a:xfrm>
            <a:off x="278475" y="9358425"/>
            <a:ext cx="37563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+bibliografía</a:t>
            </a:r>
            <a:endParaRPr b="1" i="0" sz="2800" u="sng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5d850d01f_0_181"/>
          <p:cNvSpPr txBox="1"/>
          <p:nvPr/>
        </p:nvSpPr>
        <p:spPr>
          <a:xfrm>
            <a:off x="1502125" y="2956150"/>
            <a:ext cx="7108800" cy="4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Inteligencia artificial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generativa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93" name="Google Shape;193;g395d850d01f_0_181"/>
          <p:cNvSpPr txBox="1"/>
          <p:nvPr/>
        </p:nvSpPr>
        <p:spPr>
          <a:xfrm>
            <a:off x="9596788" y="3893218"/>
            <a:ext cx="95646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Concepto abordado en </a:t>
            </a:r>
            <a:r>
              <a:rPr b="0" i="0" lang="en-US" sz="3600" u="none" cap="none" strike="noStrike">
                <a:solidFill>
                  <a:srgbClr val="056D7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módulo 1</a:t>
            </a:r>
            <a:endParaRPr b="0" i="0" sz="36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94" name="Google Shape;194;g395d850d01f_0_181"/>
          <p:cNvSpPr txBox="1"/>
          <p:nvPr/>
        </p:nvSpPr>
        <p:spPr>
          <a:xfrm>
            <a:off x="8471388" y="5276334"/>
            <a:ext cx="9564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Rama de la IA capaz de generar contenido de manera automática en respuesta a </a:t>
            </a:r>
            <a:r>
              <a:rPr b="0" i="0" lang="en-US" sz="2000" u="none" cap="none" strike="noStrike">
                <a:solidFill>
                  <a:srgbClr val="888888"/>
                </a:solidFill>
                <a:highlight>
                  <a:srgbClr val="F9CB9C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indicaciones escritas</a:t>
            </a: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en interfaces conversacionales de lenguaje natural. </a:t>
            </a:r>
            <a:r>
              <a:rPr b="0" i="0" lang="en-US" sz="2000" u="none" cap="none" strike="noStrike">
                <a:solidFill>
                  <a:srgbClr val="888888"/>
                </a:solidFill>
                <a:highlight>
                  <a:srgbClr val="F9CB9C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En lugar de seleccionar contenidos de páginas webs existentes</a:t>
            </a: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, estas tecnologías </a:t>
            </a:r>
            <a:r>
              <a:rPr b="0" i="0" lang="en-US" sz="2000" u="none" cap="none" strike="noStrike">
                <a:solidFill>
                  <a:schemeClr val="lt1"/>
                </a:solidFill>
                <a:highlight>
                  <a:srgbClr val="056D73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toman esos insumos y producen contenido nuevo</a:t>
            </a:r>
            <a:r>
              <a:rPr b="0" i="0" lang="en-US" sz="20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que puede aparecer en formatos que comprenden todas las representaciones simbólicas del pensamiento humano: textos, escritos en lenguaje natural, imágenes, videos, música y código de software.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95d850d01f_0_181"/>
          <p:cNvSpPr txBox="1"/>
          <p:nvPr/>
        </p:nvSpPr>
        <p:spPr>
          <a:xfrm>
            <a:off x="8955475" y="1847025"/>
            <a:ext cx="8152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¿Dónde está la/s obsolescencia/s?</a:t>
            </a:r>
            <a:endParaRPr b="1" i="0" sz="3200" u="none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6" name="Google Shape;196;g395d850d01f_0_181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95d850d01f_0_181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g395d850d01f_0_181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95d850d01f_0_181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g395d850d01f_0_181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95d850d01f_0_181">
            <a:hlinkClick r:id="rId6"/>
          </p:cNvPr>
          <p:cNvSpPr txBox="1"/>
          <p:nvPr/>
        </p:nvSpPr>
        <p:spPr>
          <a:xfrm>
            <a:off x="278475" y="9358425"/>
            <a:ext cx="37563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+bibliografía</a:t>
            </a:r>
            <a:endParaRPr b="1" i="0" sz="2800" u="sng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5d850d01f_0_212"/>
          <p:cNvSpPr txBox="1"/>
          <p:nvPr/>
        </p:nvSpPr>
        <p:spPr>
          <a:xfrm>
            <a:off x="1148850" y="374010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Corte - 15’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07" name="Google Shape;207;g395d850d01f_0_212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95d850d01f_0_212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g395d850d01f_0_212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g395d850d01f_0_212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95d850d01f_0_212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d28bb24e3f_0_0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d28bb24e3f_0_0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g3d28bb24e3f_0_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g3d28bb24e3f_0_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g3d28bb24e3f_0_0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d28bb24e3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3400" y="3077296"/>
            <a:ext cx="4341200" cy="43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95d582ec0d_0_57"/>
          <p:cNvPicPr preferRelativeResize="0"/>
          <p:nvPr/>
        </p:nvPicPr>
        <p:blipFill rotWithShape="1">
          <a:blip r:embed="rId3">
            <a:alphaModFix/>
          </a:blip>
          <a:srcRect b="17270" l="24138" r="24503" t="17828"/>
          <a:stretch/>
        </p:blipFill>
        <p:spPr>
          <a:xfrm>
            <a:off x="1409475" y="113588"/>
            <a:ext cx="14158225" cy="1005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95d582ec0d_0_57" title="unraf1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95d582ec0d_0_57" title="unraf dipl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g395d582ec0d_0_57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g395d582ec0d_0_57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95d582ec0d_0_57" title="flecha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5d582ec0d_0_115"/>
          <p:cNvSpPr txBox="1"/>
          <p:nvPr/>
        </p:nvSpPr>
        <p:spPr>
          <a:xfrm>
            <a:off x="1627819" y="2973100"/>
            <a:ext cx="14422800" cy="41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7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¿Qué cuidados debemos tener al utilizar IAG?</a:t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t/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7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¿Qué beneficios nos otorga?</a:t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37" name="Google Shape;237;g395d582ec0d_0_11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95d582ec0d_0_11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g395d582ec0d_0_11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g395d582ec0d_0_11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g395d582ec0d_0_11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5d582ec0d_0_67"/>
          <p:cNvSpPr txBox="1"/>
          <p:nvPr/>
        </p:nvSpPr>
        <p:spPr>
          <a:xfrm>
            <a:off x="457250" y="3429000"/>
            <a:ext cx="71088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6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20’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47" name="Google Shape;247;g395d582ec0d_0_67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95d582ec0d_0_67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g395d582ec0d_0_67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g395d582ec0d_0_67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g395d582ec0d_0_67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arn how large language models go through a pre-training process to begin understanding language, then break up it's input into smaller bite-sized pieces.&#10;&#10;This video is a part of the Exploring Generative AI curriculum - learn more at https://code.org/ai&#10;&#10;Stay in touch with us on social media:&#10;• Twitter: https://twitter.com/codeorg&#10;• Facebook: https://www.facebook.com/Code.org&#10;• Instagram: https://instagram.com/codeorg&#10;• TikTok: https://tiktok.com/@code.org&#10;• LinkedIn: https://www.linkedin.com/company/code-org&#10;• Medium: https://medium.com/@codeorg&#10;&#10;Help make our work possible with a donation at http://code.org/donate!" id="252" name="Google Shape;252;g395d582ec0d_0_67" title="Generative AI: Input &amp; Pre-training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60675" y="2314467"/>
            <a:ext cx="9454325" cy="531805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5d582ec0d_0_67"/>
          <p:cNvSpPr txBox="1"/>
          <p:nvPr/>
        </p:nvSpPr>
        <p:spPr>
          <a:xfrm>
            <a:off x="457247" y="6822400"/>
            <a:ext cx="73062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Raleway SemiBold"/>
              <a:buAutoNum type="arabicPeriod"/>
            </a:pPr>
            <a:r>
              <a:rPr lang="en-US" sz="36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Visualizar el video</a:t>
            </a:r>
            <a:endParaRPr sz="36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600"/>
              <a:buFont typeface="Raleway"/>
              <a:buAutoNum type="arabicPeriod"/>
            </a:pPr>
            <a:r>
              <a:rPr lang="en-US" sz="36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Tomar nota de 3 conceptos que llamen la atención</a:t>
            </a:r>
            <a:endParaRPr sz="36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600"/>
              <a:buFont typeface="Raleway"/>
              <a:buAutoNum type="arabicPeriod"/>
            </a:pPr>
            <a:r>
              <a:rPr lang="en-US" sz="36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Responder: ¿cómo funciona la IAG?</a:t>
            </a:r>
            <a:endParaRPr sz="36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5d582ec0d_0_125"/>
          <p:cNvSpPr txBox="1"/>
          <p:nvPr/>
        </p:nvSpPr>
        <p:spPr>
          <a:xfrm>
            <a:off x="1224054" y="4098300"/>
            <a:ext cx="60006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7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7</a:t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7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20’</a:t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259" name="Google Shape;259;g395d582ec0d_0_125"/>
          <p:cNvSpPr txBox="1"/>
          <p:nvPr/>
        </p:nvSpPr>
        <p:spPr>
          <a:xfrm>
            <a:off x="8137263" y="3306884"/>
            <a:ext cx="9564600" cy="6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41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Beneficios y alertas de la IAG:</a:t>
            </a:r>
            <a:endParaRPr b="1" i="0" sz="4100" u="none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En grupos: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aleway SemiBold"/>
              <a:buChar char="●"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identificar, de acuerdo a la experiencia de uso, 2 beneficios / 2 alertas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aleway SemiBold"/>
              <a:buChar char="●"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seleccionar 1 de los 2 y asociarlo a un ejemplo / experiencia en donde se haya visto reflejado el beneficio / la alerta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Exposición: por grupos - 2 minutos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A8519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60" name="Google Shape;260;g395d582ec0d_0_12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95d582ec0d_0_12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g395d582ec0d_0_12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g395d582ec0d_0_12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95d582ec0d_0_12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5d582ec0d_0_145"/>
          <p:cNvSpPr txBox="1"/>
          <p:nvPr/>
        </p:nvSpPr>
        <p:spPr>
          <a:xfrm>
            <a:off x="1068150" y="4351925"/>
            <a:ext cx="7007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Alertas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270" name="Google Shape;270;g395d582ec0d_0_145"/>
          <p:cNvSpPr txBox="1"/>
          <p:nvPr/>
        </p:nvSpPr>
        <p:spPr>
          <a:xfrm>
            <a:off x="8917000" y="3500625"/>
            <a:ext cx="8748600" cy="3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🙄Fuente -&gt; mitigada</a:t>
            </a:r>
            <a:endParaRPr b="1" i="0" sz="46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😡Sesgo -&gt; aún en proceso</a:t>
            </a:r>
            <a:endParaRPr b="1" i="0" sz="46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😶‍🌫️Alucinación -&gt; mitigada</a:t>
            </a:r>
            <a:endParaRPr b="1" i="0" sz="46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71" name="Google Shape;271;g395d582ec0d_0_14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95d582ec0d_0_14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g395d582ec0d_0_14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g395d582ec0d_0_14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95d582ec0d_0_14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d28bb24e3f_0_8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d28bb24e3f_0_8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g3d28bb24e3f_0_8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g3d28bb24e3f_0_8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g3d28bb24e3f_0_8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d28bb24e3f_0_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3400" y="3077296"/>
            <a:ext cx="4341200" cy="43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5d850d01f_0_296"/>
          <p:cNvSpPr txBox="1"/>
          <p:nvPr/>
        </p:nvSpPr>
        <p:spPr>
          <a:xfrm>
            <a:off x="597150" y="2121475"/>
            <a:ext cx="170937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Otras funcionalidades en el prompteo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91" name="Google Shape;291;g395d850d01f_0_296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95d850d01f_0_296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g395d850d01f_0_296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g395d850d01f_0_296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g395d850d01f_0_296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95d850d01f_0_296"/>
          <p:cNvPicPr preferRelativeResize="0"/>
          <p:nvPr/>
        </p:nvPicPr>
        <p:blipFill rotWithShape="1">
          <a:blip r:embed="rId6">
            <a:alphaModFix/>
          </a:blip>
          <a:srcRect b="22931" l="29054" r="23887" t="31796"/>
          <a:stretch/>
        </p:blipFill>
        <p:spPr>
          <a:xfrm>
            <a:off x="4487275" y="5072450"/>
            <a:ext cx="9313449" cy="50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5d850d01f_0_0"/>
          <p:cNvSpPr txBox="1"/>
          <p:nvPr/>
        </p:nvSpPr>
        <p:spPr>
          <a:xfrm>
            <a:off x="1380175" y="3740100"/>
            <a:ext cx="71088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Modelo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ROCEF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02" name="Google Shape;302;g395d850d01f_0_0"/>
          <p:cNvSpPr txBox="1"/>
          <p:nvPr/>
        </p:nvSpPr>
        <p:spPr>
          <a:xfrm>
            <a:off x="7282675" y="1836250"/>
            <a:ext cx="10344600" cy="24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Sos responsable de armar el sistema de créditos de una Universidad. 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Actualmente, te toca actualizar la normativa de la Institución con respecto a la nueva Normativa. Contás con el Reglamento anterior, la Normativa anterior y la vigente.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Adaptá la normativa actual a la vigente y hacelo considerando: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-el ejemplo de Reglamento que te comparto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-en formato texto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Al finalizar, armá una tabla comparativa con los principales cambios de una versión a la otra del documento.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03" name="Google Shape;303;g395d850d01f_0_0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95d850d01f_0_0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g395d850d01f_0_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g395d850d01f_0_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95d850d01f_0_0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5d850d01f_0_10"/>
          <p:cNvSpPr txBox="1"/>
          <p:nvPr/>
        </p:nvSpPr>
        <p:spPr>
          <a:xfrm>
            <a:off x="1142554" y="3617600"/>
            <a:ext cx="6000600" cy="3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120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Bonus</a:t>
            </a:r>
            <a:endParaRPr b="0" i="0" sz="120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120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track</a:t>
            </a:r>
            <a:endParaRPr b="0" i="0" sz="120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313" name="Google Shape;313;g395d850d01f_0_10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95d850d01f_0_10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g395d850d01f_0_1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g395d850d01f_0_1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95d850d01f_0_10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95d850d01f_0_10"/>
          <p:cNvSpPr txBox="1"/>
          <p:nvPr/>
        </p:nvSpPr>
        <p:spPr>
          <a:xfrm>
            <a:off x="8403400" y="2707950"/>
            <a:ext cx="8673900" cy="52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660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Char char="●"/>
            </a:pPr>
            <a:r>
              <a:rPr b="0" i="0" lang="en-US" sz="3200" u="none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Palabras que podemos omitir </a:t>
            </a:r>
            <a:r>
              <a:rPr b="0" i="0" lang="en-US" sz="3200" u="sng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endParaRPr b="0" i="0" sz="32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660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Char char="●"/>
            </a:pPr>
            <a:r>
              <a:rPr b="0" i="0" lang="en-US" sz="3200" u="none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Cursos:</a:t>
            </a:r>
            <a:endParaRPr b="0" i="0" sz="32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Propuesta 1</a:t>
            </a:r>
            <a:r>
              <a:rPr b="0" i="0" lang="en-US" sz="3200" u="none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 - inicial</a:t>
            </a:r>
            <a:endParaRPr b="0" i="0" sz="32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Propuesta 2</a:t>
            </a:r>
            <a:r>
              <a:rPr b="0" i="0" lang="en-US" sz="3200" u="none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 - avanzada</a:t>
            </a:r>
            <a:endParaRPr b="0" i="0" sz="32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5d850d01f_0_307"/>
          <p:cNvSpPr txBox="1"/>
          <p:nvPr/>
        </p:nvSpPr>
        <p:spPr>
          <a:xfrm>
            <a:off x="1224054" y="4098300"/>
            <a:ext cx="60006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7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8</a:t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7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20’</a:t>
            </a:r>
            <a:endParaRPr sz="7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24" name="Google Shape;324;g395d850d01f_0_307"/>
          <p:cNvSpPr txBox="1"/>
          <p:nvPr/>
        </p:nvSpPr>
        <p:spPr>
          <a:xfrm>
            <a:off x="8137263" y="3306884"/>
            <a:ext cx="9564600" cy="5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4100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Construcción de prompt con funcionalidad adicional</a:t>
            </a:r>
            <a:endParaRPr b="1" i="0" sz="4100" u="none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En grupos: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aleway SemiBold"/>
              <a:buChar char="●"/>
            </a:pPr>
            <a:r>
              <a:rPr lang="en-US" sz="2500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Utilizar las funcionalidades de adjuntar archivos y/o explorar en drive para realizar actividad.</a:t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A8519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25" name="Google Shape;325;g395d850d01f_0_307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95d850d01f_0_307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g395d850d01f_0_307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g395d850d01f_0_307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g395d850d01f_0_307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g364d11ed934_1_47" title="fondo2.png"/>
          <p:cNvPicPr preferRelativeResize="0"/>
          <p:nvPr/>
        </p:nvPicPr>
        <p:blipFill rotWithShape="1">
          <a:blip r:embed="rId3">
            <a:alphaModFix/>
          </a:blip>
          <a:srcRect b="30852" l="55231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g364d11ed934_1_47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g364d11ed934_1_47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20" l="0" r="-32958" t="0"/>
            </a:stretch>
          </a:blipFill>
          <a:ln>
            <a:noFill/>
          </a:ln>
        </p:spPr>
      </p:sp>
      <p:sp>
        <p:nvSpPr>
          <p:cNvPr id="337" name="Google Shape;337;g364d11ed934_1_47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g364d11ed934_1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25099" y="8540400"/>
            <a:ext cx="3677153" cy="14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64d11ed934_1_47"/>
          <p:cNvSpPr txBox="1"/>
          <p:nvPr/>
        </p:nvSpPr>
        <p:spPr>
          <a:xfrm>
            <a:off x="2369850" y="5152125"/>
            <a:ext cx="135483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¡Muchas gracias!</a:t>
            </a:r>
            <a:endParaRPr b="0" i="0" sz="90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340" name="Google Shape;340;g364d11ed934_1_47"/>
          <p:cNvCxnSpPr/>
          <p:nvPr/>
        </p:nvCxnSpPr>
        <p:spPr>
          <a:xfrm>
            <a:off x="3309050" y="6495825"/>
            <a:ext cx="12100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g364d11ed934_1_47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894" r="0" t="0"/>
            </a:stretch>
          </a:blipFill>
          <a:ln>
            <a:noFill/>
          </a:ln>
        </p:spPr>
      </p:sp>
      <p:sp>
        <p:nvSpPr>
          <p:cNvPr id="342" name="Google Shape;342;g364d11ed934_1_47"/>
          <p:cNvSpPr txBox="1"/>
          <p:nvPr/>
        </p:nvSpPr>
        <p:spPr>
          <a:xfrm>
            <a:off x="5568751" y="6810025"/>
            <a:ext cx="71505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Mg. María Della Torre</a:t>
            </a:r>
            <a:endParaRPr b="0" i="0" sz="4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