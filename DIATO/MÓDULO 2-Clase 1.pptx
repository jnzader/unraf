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10287000" cx="18288000"/>
  <p:notesSz cx="6858000" cy="9144000"/>
  <p:embeddedFontLst>
    <p:embeddedFont>
      <p:font typeface="Raleway"/>
      <p:regular r:id="rId42"/>
      <p:bold r:id="rId43"/>
      <p:italic r:id="rId44"/>
      <p:boldItalic r:id="rId45"/>
    </p:embeddedFont>
    <p:embeddedFont>
      <p:font typeface="Raleway SemiBold"/>
      <p:regular r:id="rId46"/>
      <p:bold r:id="rId47"/>
      <p:italic r:id="rId48"/>
      <p:boldItalic r:id="rId49"/>
    </p:embeddedFont>
    <p:embeddedFont>
      <p:font typeface="Raleway Black"/>
      <p:bold r:id="rId50"/>
      <p:boldItalic r:id="rId51"/>
    </p:embeddedFont>
    <p:embeddedFont>
      <p:font typeface="Raleway Light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6" roundtripDataSignature="AMtx7mgnHwJOxunTWCiMvwJal/51GEYQ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aleway-regular.fntdata"/><Relationship Id="rId41" Type="http://schemas.openxmlformats.org/officeDocument/2006/relationships/slide" Target="slides/slide36.xml"/><Relationship Id="rId44" Type="http://schemas.openxmlformats.org/officeDocument/2006/relationships/font" Target="fonts/Raleway-italic.fntdata"/><Relationship Id="rId43" Type="http://schemas.openxmlformats.org/officeDocument/2006/relationships/font" Target="fonts/Raleway-bold.fntdata"/><Relationship Id="rId46" Type="http://schemas.openxmlformats.org/officeDocument/2006/relationships/font" Target="fonts/RalewaySemiBold-regular.fntdata"/><Relationship Id="rId45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alewaySemiBold-italic.fntdata"/><Relationship Id="rId47" Type="http://schemas.openxmlformats.org/officeDocument/2006/relationships/font" Target="fonts/RalewaySemiBold-bold.fntdata"/><Relationship Id="rId49" Type="http://schemas.openxmlformats.org/officeDocument/2006/relationships/font" Target="fonts/Raleway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alewayBlack-boldItalic.fntdata"/><Relationship Id="rId50" Type="http://schemas.openxmlformats.org/officeDocument/2006/relationships/font" Target="fonts/RalewayBlack-bold.fntdata"/><Relationship Id="rId53" Type="http://schemas.openxmlformats.org/officeDocument/2006/relationships/font" Target="fonts/RalewayLight-bold.fntdata"/><Relationship Id="rId52" Type="http://schemas.openxmlformats.org/officeDocument/2006/relationships/font" Target="fonts/RalewayLight-regular.fntdata"/><Relationship Id="rId11" Type="http://schemas.openxmlformats.org/officeDocument/2006/relationships/slide" Target="slides/slide6.xml"/><Relationship Id="rId55" Type="http://schemas.openxmlformats.org/officeDocument/2006/relationships/font" Target="fonts/RalewayLight-boldItalic.fntdata"/><Relationship Id="rId10" Type="http://schemas.openxmlformats.org/officeDocument/2006/relationships/slide" Target="slides/slide5.xml"/><Relationship Id="rId54" Type="http://schemas.openxmlformats.org/officeDocument/2006/relationships/font" Target="fonts/RalewayLigh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4d11ed93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64d11ed934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4d11ed93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64d11ed934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924f75ed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7924f75ed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62355ad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962355ad2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62355ad2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962355ad27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62355ad2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962355ad27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4d11ed934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64d11ed934_1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62c80a18f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962c80a18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30c586fe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830c586fe0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4d11ed934_1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64d11ed934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5d4dcc31c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95d4dcc31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5d4dcc31c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95d4dcc31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5d4dcc31c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95d4dcc31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5d4dcc31c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95d4dcc31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631cb64f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9631cb64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5d4dcc31c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95d4dcc31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5d4dcc31c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95d4dcc31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5d4dcc31c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95d4dcc31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5d4dcc31c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95d4dcc31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5d4dcc31c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95d4dcc31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62c80a18f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962c80a18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5d4dcc31c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95d4dcc31c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5d4dcc31c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95d4dcc31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7924f75ed9_0_2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7924f75ed9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Mencionar buenas prácticas que ofrecemos para construcción de los prompts.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7924f75ed9_0_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7924f75ed9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5d4dcc31c_0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95d4dcc31c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5d4dcc31c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95d4dcc31c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95d4dcc31c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95d4dcc31c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5d4dcc31c_0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95d4dcc31c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5d4dcc31c_0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95d4dcc31c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95d4dcc31c_0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95d4dcc31c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962c80a18f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962c80a18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5d4dcc31c_0_2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95d4dcc31c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95d4dcc31c_0_2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395d4dcc31c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Consulto si utilizan alguna buena práctica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830c586fe0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3830c586fe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Mencionar buenas prácticas que ofrecemos para construcción de los prompts.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64d11ed934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2" name="Google Shape;472;g364d11ed934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hyperlink" Target="http://drive.google.com/file/d/1v5G3plX3ayxYLGjxJfnGZk_7PPLJNwvC/view" TargetMode="External"/><Relationship Id="rId7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64d11ed934_1_0" title="fondo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3298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g364d11ed934_1_0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g364d11ed934_1_0"/>
          <p:cNvSpPr/>
          <p:nvPr/>
        </p:nvSpPr>
        <p:spPr>
          <a:xfrm>
            <a:off x="1142543" y="293278"/>
            <a:ext cx="2412928" cy="683823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30" l="0" r="-32949" t="0"/>
            </a:stretch>
          </a:blipFill>
          <a:ln>
            <a:noFill/>
          </a:ln>
        </p:spPr>
      </p:sp>
      <p:sp>
        <p:nvSpPr>
          <p:cNvPr id="87" name="Google Shape;87;g364d11ed934_1_0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64d11ed934_1_0"/>
          <p:cNvSpPr/>
          <p:nvPr/>
        </p:nvSpPr>
        <p:spPr>
          <a:xfrm>
            <a:off x="16002225" y="-12"/>
            <a:ext cx="2350084" cy="1483043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920" r="0" t="0"/>
            </a:stretch>
          </a:blipFill>
          <a:ln>
            <a:noFill/>
          </a:ln>
        </p:spPr>
      </p:sp>
      <p:pic>
        <p:nvPicPr>
          <p:cNvPr id="89" name="Google Shape;89;g364d11ed934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4187" y="7947650"/>
            <a:ext cx="5099628" cy="205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64d11ed934_1_0"/>
          <p:cNvSpPr txBox="1"/>
          <p:nvPr/>
        </p:nvSpPr>
        <p:spPr>
          <a:xfrm>
            <a:off x="2453925" y="3541425"/>
            <a:ext cx="13548300" cy="28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1" i="0" lang="en-US" sz="63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Diplomatura en </a:t>
            </a:r>
            <a:endParaRPr b="1" i="0" sz="6399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1" i="0" lang="en-US" sz="63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6399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cxnSp>
        <p:nvCxnSpPr>
          <p:cNvPr id="91" name="Google Shape;91;g364d11ed934_1_0"/>
          <p:cNvCxnSpPr/>
          <p:nvPr/>
        </p:nvCxnSpPr>
        <p:spPr>
          <a:xfrm>
            <a:off x="3309050" y="6495825"/>
            <a:ext cx="12100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g364d11ed934_1_0"/>
          <p:cNvSpPr txBox="1"/>
          <p:nvPr/>
        </p:nvSpPr>
        <p:spPr>
          <a:xfrm>
            <a:off x="11559950" y="6513400"/>
            <a:ext cx="38196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1" lang="en-US" sz="50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r>
              <a:rPr b="1" i="0" lang="en-US" sz="50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ta cohorte</a:t>
            </a:r>
            <a:endParaRPr b="0" i="0" sz="5099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364d11ed934_1_12" title="fondo2.png"/>
          <p:cNvPicPr preferRelativeResize="0"/>
          <p:nvPr/>
        </p:nvPicPr>
        <p:blipFill rotWithShape="1">
          <a:blip r:embed="rId3">
            <a:alphaModFix/>
          </a:blip>
          <a:srcRect b="30853" l="55231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g364d11ed934_1_12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g364d11ed934_1_12"/>
          <p:cNvSpPr/>
          <p:nvPr/>
        </p:nvSpPr>
        <p:spPr>
          <a:xfrm>
            <a:off x="1142543" y="293278"/>
            <a:ext cx="2412928" cy="683823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30" l="0" r="-32959" t="0"/>
            </a:stretch>
          </a:blipFill>
          <a:ln>
            <a:noFill/>
          </a:ln>
        </p:spPr>
      </p:sp>
      <p:sp>
        <p:nvSpPr>
          <p:cNvPr id="100" name="Google Shape;100;g364d11ed934_1_12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64d11ed934_1_12"/>
          <p:cNvSpPr txBox="1"/>
          <p:nvPr/>
        </p:nvSpPr>
        <p:spPr>
          <a:xfrm>
            <a:off x="2369850" y="3794225"/>
            <a:ext cx="135483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Módulo 2</a:t>
            </a:r>
            <a:endParaRPr b="0" i="0" sz="9000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cxnSp>
        <p:nvCxnSpPr>
          <p:cNvPr id="102" name="Google Shape;102;g364d11ed934_1_12"/>
          <p:cNvCxnSpPr/>
          <p:nvPr/>
        </p:nvCxnSpPr>
        <p:spPr>
          <a:xfrm>
            <a:off x="3309050" y="5137925"/>
            <a:ext cx="12100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g364d11ed934_1_12"/>
          <p:cNvSpPr txBox="1"/>
          <p:nvPr/>
        </p:nvSpPr>
        <p:spPr>
          <a:xfrm>
            <a:off x="4004300" y="5453963"/>
            <a:ext cx="107097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Herramientas de IA generativa para el trabajo</a:t>
            </a:r>
            <a:endParaRPr b="0" i="0" sz="6000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4" name="Google Shape;104;g364d11ed934_1_12"/>
          <p:cNvSpPr txBox="1"/>
          <p:nvPr/>
        </p:nvSpPr>
        <p:spPr>
          <a:xfrm>
            <a:off x="5783901" y="7561600"/>
            <a:ext cx="71505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Mg. María Della Torre</a:t>
            </a:r>
            <a:endParaRPr b="0" i="0" sz="4000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05" name="Google Shape;105;g364d11ed934_1_12"/>
          <p:cNvSpPr/>
          <p:nvPr/>
        </p:nvSpPr>
        <p:spPr>
          <a:xfrm>
            <a:off x="16002225" y="-12"/>
            <a:ext cx="2350084" cy="1483043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920" r="0" t="0"/>
            </a:stretch>
          </a:blipFill>
          <a:ln>
            <a:noFill/>
          </a:ln>
        </p:spPr>
      </p:sp>
      <p:pic>
        <p:nvPicPr>
          <p:cNvPr id="106" name="Google Shape;106;g364d11ed934_1_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25099" y="8540400"/>
            <a:ext cx="3677153" cy="148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7924f75ed9_0_6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7924f75ed9_0_6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g37924f75ed9_0_6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g37924f75ed9_0_6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g37924f75ed9_0_6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7924f75ed9_0_6"/>
          <p:cNvSpPr txBox="1"/>
          <p:nvPr/>
        </p:nvSpPr>
        <p:spPr>
          <a:xfrm>
            <a:off x="1361472" y="4299055"/>
            <a:ext cx="480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94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¡Hola!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7924f75ed9_0_6"/>
          <p:cNvSpPr txBox="1"/>
          <p:nvPr/>
        </p:nvSpPr>
        <p:spPr>
          <a:xfrm>
            <a:off x="11759721" y="3760100"/>
            <a:ext cx="6188400" cy="21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Soy </a:t>
            </a:r>
            <a:r>
              <a:rPr b="1" i="0" lang="en-US" sz="3600" u="none" cap="none" strike="noStrik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Maru</a:t>
            </a:r>
            <a:r>
              <a:rPr b="0" i="0" lang="en-US" sz="36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y estaremos juntxs durante </a:t>
            </a:r>
            <a:r>
              <a:rPr lang="en-US" sz="3600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este módulo</a:t>
            </a:r>
            <a:endParaRPr b="0" i="0" sz="36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Les doy la bienvenida. 😊</a:t>
            </a:r>
            <a:endParaRPr b="0" i="0" sz="36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118" name="Google Shape;118;g37924f75ed9_0_6" title="Maru_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8625" y="1418552"/>
            <a:ext cx="6188400" cy="7164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962355ad27_0_0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962355ad27_0_0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g3962355ad27_0_0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g3962355ad27_0_0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962355ad27_0_0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962355ad27_0_0"/>
          <p:cNvSpPr txBox="1"/>
          <p:nvPr/>
        </p:nvSpPr>
        <p:spPr>
          <a:xfrm>
            <a:off x="485253" y="4228950"/>
            <a:ext cx="94980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Me acompaña…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g3962355ad27_0_0" title="WhatsApp Video 2026-03-17 at 18.53.47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168528" y="1392950"/>
            <a:ext cx="4419600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962355ad27_0_21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962355ad27_0_21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g3962355ad27_0_21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g3962355ad27_0_21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g3962355ad27_0_21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962355ad27_0_21"/>
          <p:cNvSpPr txBox="1"/>
          <p:nvPr/>
        </p:nvSpPr>
        <p:spPr>
          <a:xfrm>
            <a:off x="485253" y="4228950"/>
            <a:ext cx="94980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¡Hola!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3962355ad27_0_21" title="WhatsApp Image 2026-03-06 at 16.31.30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1665" y="862200"/>
            <a:ext cx="6421800" cy="856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41" name="Google Shape;141;g3962355ad27_0_21"/>
          <p:cNvSpPr txBox="1"/>
          <p:nvPr/>
        </p:nvSpPr>
        <p:spPr>
          <a:xfrm>
            <a:off x="11759721" y="3760100"/>
            <a:ext cx="6188400" cy="28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Soy </a:t>
            </a:r>
            <a:r>
              <a:rPr b="1" lang="en-US" sz="36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Laika </a:t>
            </a:r>
            <a:r>
              <a:rPr b="0" i="0" lang="en-US" sz="36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y </a:t>
            </a:r>
            <a:r>
              <a:rPr lang="en-US" sz="3600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guauuuujaksnajbnnmsdnnjeioqelasfksdmgnalksuwklas 🐾🐾🐾🐾🐾</a:t>
            </a:r>
            <a:endParaRPr b="0" i="0" sz="36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962355ad27_0_11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962355ad27_0_11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g3962355ad27_0_11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g3962355ad27_0_11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g3962355ad27_0_11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962355ad27_0_11"/>
          <p:cNvSpPr txBox="1"/>
          <p:nvPr/>
        </p:nvSpPr>
        <p:spPr>
          <a:xfrm>
            <a:off x="4395003" y="4141325"/>
            <a:ext cx="94980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¿Y ustedes?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6D73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4d11ed934_1_36"/>
          <p:cNvSpPr txBox="1"/>
          <p:nvPr/>
        </p:nvSpPr>
        <p:spPr>
          <a:xfrm>
            <a:off x="1375411" y="5507139"/>
            <a:ext cx="5276400" cy="11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69"/>
              <a:buFont typeface="Arial"/>
              <a:buNone/>
            </a:pPr>
            <a:r>
              <a:rPr b="0" i="0" lang="en-US" sz="7969" u="none" cap="none" strike="noStrike">
                <a:solidFill>
                  <a:srgbClr val="FFFFFF"/>
                </a:solidFill>
                <a:latin typeface="Raleway Black"/>
                <a:ea typeface="Raleway Black"/>
                <a:cs typeface="Raleway Black"/>
                <a:sym typeface="Raleway Black"/>
              </a:rPr>
              <a:t>Unidades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64d11ed934_1_36"/>
          <p:cNvSpPr txBox="1"/>
          <p:nvPr/>
        </p:nvSpPr>
        <p:spPr>
          <a:xfrm>
            <a:off x="6651800" y="3429000"/>
            <a:ext cx="113217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4662" lvl="1" marL="91440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75"/>
              <a:buFont typeface="Raleway"/>
              <a:buChar char="•"/>
            </a:pPr>
            <a:r>
              <a:rPr b="0" i="0" lang="en-US" sz="387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Unidad 1: Ingeniería de prompts</a:t>
            </a:r>
            <a:endParaRPr b="0" i="0" sz="3875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74662" lvl="1" marL="91440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75"/>
              <a:buFont typeface="Raleway"/>
              <a:buChar char="•"/>
            </a:pPr>
            <a:r>
              <a:rPr b="0" i="0" lang="en-US" sz="387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Unidad 2: </a:t>
            </a:r>
            <a:r>
              <a:rPr lang="en-US" sz="3875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Conceptos generales de IAG</a:t>
            </a:r>
            <a:endParaRPr b="0" i="0" sz="3875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74662" lvl="1" marL="91440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75"/>
              <a:buFont typeface="Raleway"/>
              <a:buChar char="•"/>
            </a:pPr>
            <a:r>
              <a:rPr b="0" i="0" lang="en-US" sz="387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Unidad 3: </a:t>
            </a:r>
            <a:r>
              <a:rPr lang="en-US" sz="3875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Situaciones cotidianas para acompañar con IAG</a:t>
            </a:r>
            <a:endParaRPr b="0" i="0" sz="3875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8" name="Google Shape;158;g364d11ed934_1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23300" y="8764850"/>
            <a:ext cx="3267226" cy="13177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g364d11ed934_1_36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g364d11ed934_1_36"/>
          <p:cNvSpPr/>
          <p:nvPr/>
        </p:nvSpPr>
        <p:spPr>
          <a:xfrm>
            <a:off x="1142543" y="293278"/>
            <a:ext cx="2412928" cy="683823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30" l="0" r="-32959" t="0"/>
            </a:stretch>
          </a:blipFill>
          <a:ln>
            <a:noFill/>
          </a:ln>
        </p:spPr>
      </p:sp>
      <p:sp>
        <p:nvSpPr>
          <p:cNvPr id="161" name="Google Shape;161;g364d11ed934_1_36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64d11ed934_1_36" title="Diseño_sin_título-removebg-preview.png"/>
          <p:cNvPicPr preferRelativeResize="0"/>
          <p:nvPr/>
        </p:nvPicPr>
        <p:blipFill rotWithShape="1">
          <a:blip r:embed="rId5">
            <a:alphaModFix/>
          </a:blip>
          <a:srcRect b="0" l="22050" r="16970" t="70621"/>
          <a:stretch/>
        </p:blipFill>
        <p:spPr>
          <a:xfrm>
            <a:off x="1375400" y="6435625"/>
            <a:ext cx="4857751" cy="1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64d11ed934_1_36"/>
          <p:cNvSpPr/>
          <p:nvPr/>
        </p:nvSpPr>
        <p:spPr>
          <a:xfrm>
            <a:off x="16002225" y="-12"/>
            <a:ext cx="2350084" cy="1483043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92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3962c80a18f_1_0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962c80a18f_1_0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g3962c80a18f_1_0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g3962c80a18f_1_0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g3962c80a18f_1_0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962c80a18f_1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3400" y="3077296"/>
            <a:ext cx="4341200" cy="43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6D73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830c586fe0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23300" y="8764850"/>
            <a:ext cx="3267226" cy="13177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g3830c586fe0_0_107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g3830c586fe0_0_107"/>
          <p:cNvSpPr/>
          <p:nvPr/>
        </p:nvSpPr>
        <p:spPr>
          <a:xfrm>
            <a:off x="1142543" y="293278"/>
            <a:ext cx="2412928" cy="683823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30" l="0" r="-32949" t="0"/>
            </a:stretch>
          </a:blipFill>
          <a:ln>
            <a:noFill/>
          </a:ln>
        </p:spPr>
      </p:sp>
      <p:sp>
        <p:nvSpPr>
          <p:cNvPr id="181" name="Google Shape;181;g3830c586fe0_0_107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g3830c586fe0_0_107" title="Diseño_sin_título-removebg-preview.png"/>
          <p:cNvPicPr preferRelativeResize="0"/>
          <p:nvPr/>
        </p:nvPicPr>
        <p:blipFill rotWithShape="1">
          <a:blip r:embed="rId5">
            <a:alphaModFix/>
          </a:blip>
          <a:srcRect b="0" l="22050" r="16970" t="70621"/>
          <a:stretch/>
        </p:blipFill>
        <p:spPr>
          <a:xfrm>
            <a:off x="9888425" y="7664800"/>
            <a:ext cx="4857751" cy="1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830c586fe0_0_107"/>
          <p:cNvSpPr txBox="1"/>
          <p:nvPr/>
        </p:nvSpPr>
        <p:spPr>
          <a:xfrm>
            <a:off x="8991169" y="4104695"/>
            <a:ext cx="7036800" cy="17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45"/>
              <a:buFont typeface="Arial"/>
              <a:buNone/>
            </a:pPr>
            <a:r>
              <a:rPr b="0" i="0" lang="en-US" sz="11845" u="none" cap="none" strike="noStrike">
                <a:solidFill>
                  <a:srgbClr val="FFFFFF"/>
                </a:solidFill>
                <a:latin typeface="Raleway Black"/>
                <a:ea typeface="Raleway Black"/>
                <a:cs typeface="Raleway Black"/>
                <a:sym typeface="Raleway Black"/>
              </a:rPr>
              <a:t>Unidad </a:t>
            </a:r>
            <a:r>
              <a:rPr lang="en-US" sz="11845">
                <a:solidFill>
                  <a:srgbClr val="FFFFFF"/>
                </a:solidFill>
                <a:latin typeface="Raleway Black"/>
                <a:ea typeface="Raleway Black"/>
                <a:cs typeface="Raleway Black"/>
                <a:sym typeface="Raleway Black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830c586fe0_0_107"/>
          <p:cNvSpPr/>
          <p:nvPr/>
        </p:nvSpPr>
        <p:spPr>
          <a:xfrm>
            <a:off x="16002225" y="-12"/>
            <a:ext cx="2350084" cy="1483043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920" r="0" t="0"/>
            </a:stretch>
          </a:blipFill>
          <a:ln>
            <a:noFill/>
          </a:ln>
        </p:spPr>
      </p:sp>
      <p:sp>
        <p:nvSpPr>
          <p:cNvPr id="185" name="Google Shape;185;g3830c586fe0_0_107"/>
          <p:cNvSpPr txBox="1"/>
          <p:nvPr/>
        </p:nvSpPr>
        <p:spPr>
          <a:xfrm>
            <a:off x="9277028" y="5873190"/>
            <a:ext cx="70368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Ingeniería de prompts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4d11ed934_1_173"/>
          <p:cNvSpPr txBox="1"/>
          <p:nvPr/>
        </p:nvSpPr>
        <p:spPr>
          <a:xfrm>
            <a:off x="1017600" y="3956950"/>
            <a:ext cx="16859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Prompt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g364d11ed934_1_173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64d11ed934_1_173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g364d11ed934_1_173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g364d11ed934_1_173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g364d11ed934_1_173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5d4dcc31c_0_14"/>
          <p:cNvSpPr txBox="1"/>
          <p:nvPr/>
        </p:nvSpPr>
        <p:spPr>
          <a:xfrm>
            <a:off x="1017600" y="3956950"/>
            <a:ext cx="16859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50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Prompt =</a:t>
            </a: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 instrucción</a:t>
            </a:r>
            <a:endParaRPr b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g395d4dcc31c_0_14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95d4dcc31c_0_14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g395d4dcc31c_0_14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g395d4dcc31c_0_14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g395d4dcc31c_0_14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5d4dcc31c_0_35"/>
          <p:cNvSpPr txBox="1"/>
          <p:nvPr/>
        </p:nvSpPr>
        <p:spPr>
          <a:xfrm>
            <a:off x="1017600" y="3956950"/>
            <a:ext cx="4534500" cy="3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50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Ingeniería de </a:t>
            </a:r>
            <a:endParaRPr sz="50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50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prompts</a:t>
            </a:r>
            <a:r>
              <a:rPr lang="en-US" sz="50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 =</a:t>
            </a: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 			</a:t>
            </a:r>
            <a:r>
              <a:rPr lang="en-US" sz="50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	</a:t>
            </a:r>
            <a:endParaRPr sz="94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211" name="Google Shape;211;g395d4dcc31c_0_35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95d4dcc31c_0_35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g395d4dcc31c_0_35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g395d4dcc31c_0_35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395d4dcc31c_0_35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95d4dcc31c_0_35"/>
          <p:cNvSpPr txBox="1"/>
          <p:nvPr/>
        </p:nvSpPr>
        <p:spPr>
          <a:xfrm>
            <a:off x="6071250" y="1666450"/>
            <a:ext cx="12113700" cy="56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None/>
            </a:pPr>
            <a:r>
              <a:rPr lang="en-US" sz="93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proceso de </a:t>
            </a:r>
            <a:r>
              <a:rPr lang="en-US" sz="9300">
                <a:solidFill>
                  <a:srgbClr val="056D73"/>
                </a:solidFill>
                <a:highlight>
                  <a:srgbClr val="F1C232"/>
                </a:highlight>
                <a:latin typeface="Raleway Black"/>
                <a:ea typeface="Raleway Black"/>
                <a:cs typeface="Raleway Black"/>
                <a:sym typeface="Raleway Black"/>
              </a:rPr>
              <a:t>diseño de pautas</a:t>
            </a:r>
            <a:r>
              <a:rPr lang="en-US" sz="93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 de alta calidad que guíen a los </a:t>
            </a:r>
            <a:r>
              <a:rPr lang="en-US" sz="9300">
                <a:solidFill>
                  <a:srgbClr val="FFFFFF"/>
                </a:solidFill>
                <a:highlight>
                  <a:srgbClr val="056D73"/>
                </a:highlight>
                <a:latin typeface="Raleway Black"/>
                <a:ea typeface="Raleway Black"/>
                <a:cs typeface="Raleway Black"/>
                <a:sym typeface="Raleway Black"/>
              </a:rPr>
              <a:t>LLM</a:t>
            </a:r>
            <a:r>
              <a:rPr lang="en-US" sz="93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 a producir </a:t>
            </a:r>
            <a:r>
              <a:rPr lang="en-US" sz="9300">
                <a:solidFill>
                  <a:srgbClr val="056D73"/>
                </a:solidFill>
                <a:highlight>
                  <a:srgbClr val="F1C232"/>
                </a:highlight>
                <a:latin typeface="Raleway Black"/>
                <a:ea typeface="Raleway Black"/>
                <a:cs typeface="Raleway Black"/>
                <a:sym typeface="Raleway Black"/>
              </a:rPr>
              <a:t>resultados precisos.</a:t>
            </a:r>
            <a:endParaRPr sz="9300">
              <a:solidFill>
                <a:srgbClr val="E8EAED"/>
              </a:solidFill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5d4dcc31c_0_2"/>
          <p:cNvSpPr txBox="1"/>
          <p:nvPr/>
        </p:nvSpPr>
        <p:spPr>
          <a:xfrm>
            <a:off x="1142550" y="3128563"/>
            <a:ext cx="16247100" cy="4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¿Por qué es importante desarrollar la habilidad de promptear ?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g395d4dcc31c_0_2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95d4dcc31c_0_2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g395d4dcc31c_0_2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g395d4dcc31c_0_2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g395d4dcc31c_0_2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5d4dcc31c_0_64"/>
          <p:cNvSpPr txBox="1"/>
          <p:nvPr/>
        </p:nvSpPr>
        <p:spPr>
          <a:xfrm>
            <a:off x="1296650" y="4441788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Actividad 1 - 15’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g395d4dcc31c_0_64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95d4dcc31c_0_64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g395d4dcc31c_0_64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g395d4dcc31c_0_64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g395d4dcc31c_0_64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95d4dcc31c_0_64"/>
          <p:cNvSpPr txBox="1"/>
          <p:nvPr/>
        </p:nvSpPr>
        <p:spPr>
          <a:xfrm>
            <a:off x="664500" y="6553000"/>
            <a:ext cx="16959000" cy="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Raleway"/>
              <a:buAutoNum type="arabicPeriod"/>
            </a:pPr>
            <a:r>
              <a:rPr lang="en-US" sz="32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Identificar las partes</a:t>
            </a:r>
            <a:endParaRPr sz="32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Raleway"/>
              <a:buAutoNum type="arabicPeriod"/>
            </a:pPr>
            <a:r>
              <a:rPr lang="en-US" sz="32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Reflexionar: ¿cómo se compone un prompt?</a:t>
            </a:r>
            <a:endParaRPr sz="32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g39631cb64fe_0_0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9631cb64fe_0_0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g39631cb64fe_0_0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g39631cb64fe_0_0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g39631cb64fe_0_0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9631cb64f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3400" y="3077296"/>
            <a:ext cx="4341200" cy="43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5d4dcc31c_0_74"/>
          <p:cNvSpPr txBox="1"/>
          <p:nvPr/>
        </p:nvSpPr>
        <p:spPr>
          <a:xfrm>
            <a:off x="1148850" y="2230350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Estructura de un prompt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g395d4dcc31c_0_74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95d4dcc31c_0_74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g395d4dcc31c_0_74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g395d4dcc31c_0_74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g395d4dcc31c_0_74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95d4dcc31c_0_74"/>
          <p:cNvSpPr txBox="1"/>
          <p:nvPr/>
        </p:nvSpPr>
        <p:spPr>
          <a:xfrm>
            <a:off x="975750" y="4493550"/>
            <a:ext cx="165933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highlight>
                  <a:srgbClr val="EA9999"/>
                </a:highlight>
                <a:latin typeface="Raleway"/>
                <a:ea typeface="Raleway"/>
                <a:cs typeface="Raleway"/>
                <a:sym typeface="Raleway"/>
              </a:rPr>
              <a:t>PERSONA</a:t>
            </a: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 + </a:t>
            </a:r>
            <a:r>
              <a:rPr b="1" lang="en-US" sz="6000">
                <a:solidFill>
                  <a:srgbClr val="888888"/>
                </a:solidFill>
                <a:highlight>
                  <a:srgbClr val="FFE599"/>
                </a:highlight>
                <a:latin typeface="Raleway"/>
                <a:ea typeface="Raleway"/>
                <a:cs typeface="Raleway"/>
                <a:sym typeface="Raleway"/>
              </a:rPr>
              <a:t>TAREA</a:t>
            </a: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 + </a:t>
            </a:r>
            <a:r>
              <a:rPr b="1" lang="en-US" sz="6000">
                <a:solidFill>
                  <a:srgbClr val="888888"/>
                </a:solidFill>
                <a:highlight>
                  <a:srgbClr val="B4A7D6"/>
                </a:highlight>
                <a:latin typeface="Raleway"/>
                <a:ea typeface="Raleway"/>
                <a:cs typeface="Raleway"/>
                <a:sym typeface="Raleway"/>
              </a:rPr>
              <a:t>CONTEXTO</a:t>
            </a: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 + </a:t>
            </a:r>
            <a:r>
              <a:rPr b="1" lang="en-US" sz="6000">
                <a:solidFill>
                  <a:srgbClr val="888888"/>
                </a:solidFill>
                <a:highlight>
                  <a:srgbClr val="B6D7A8"/>
                </a:highlight>
                <a:latin typeface="Raleway"/>
                <a:ea typeface="Raleway"/>
                <a:cs typeface="Raleway"/>
                <a:sym typeface="Raleway"/>
              </a:rPr>
              <a:t>FORMATO</a:t>
            </a:r>
            <a:endParaRPr b="1" sz="6000">
              <a:solidFill>
                <a:srgbClr val="888888"/>
              </a:solidFill>
              <a:highlight>
                <a:srgbClr val="B6D7A8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5d4dcc31c_0_85"/>
          <p:cNvSpPr txBox="1"/>
          <p:nvPr/>
        </p:nvSpPr>
        <p:spPr>
          <a:xfrm>
            <a:off x="1148850" y="2230350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Estructura de un prompt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g395d4dcc31c_0_85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95d4dcc31c_0_85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g395d4dcc31c_0_85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g395d4dcc31c_0_85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g395d4dcc31c_0_85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95d4dcc31c_0_85"/>
          <p:cNvSpPr txBox="1"/>
          <p:nvPr/>
        </p:nvSpPr>
        <p:spPr>
          <a:xfrm>
            <a:off x="975750" y="4493550"/>
            <a:ext cx="165933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highlight>
                  <a:srgbClr val="EA9999"/>
                </a:highlight>
                <a:latin typeface="Raleway"/>
                <a:ea typeface="Raleway"/>
                <a:cs typeface="Raleway"/>
                <a:sym typeface="Raleway"/>
              </a:rPr>
              <a:t>PERSONA / ROL</a:t>
            </a: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 - ¿por qué?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“Actuá como”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“Sos especialista en…”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“Te comportás como”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“Ocupá el rol de…”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5d4dcc31c_0_95"/>
          <p:cNvSpPr txBox="1"/>
          <p:nvPr/>
        </p:nvSpPr>
        <p:spPr>
          <a:xfrm>
            <a:off x="1148850" y="2230350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Estructura de un prompt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95d4dcc31c_0_95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95d4dcc31c_0_95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g395d4dcc31c_0_95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g395d4dcc31c_0_95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g395d4dcc31c_0_95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95d4dcc31c_0_95"/>
          <p:cNvSpPr txBox="1"/>
          <p:nvPr/>
        </p:nvSpPr>
        <p:spPr>
          <a:xfrm>
            <a:off x="975750" y="4493550"/>
            <a:ext cx="165933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highlight>
                  <a:srgbClr val="FFE599"/>
                </a:highlight>
                <a:latin typeface="Raleway"/>
                <a:ea typeface="Raleway"/>
                <a:cs typeface="Raleway"/>
                <a:sym typeface="Raleway"/>
              </a:rPr>
              <a:t>TAREA / OBJETIVO </a:t>
            </a: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- ¿por qué?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Hacé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Completá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Estructurá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Listá 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highlight>
                  <a:srgbClr val="FFE599"/>
                </a:highlight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6000">
              <a:solidFill>
                <a:srgbClr val="888888"/>
              </a:solidFill>
              <a:highlight>
                <a:srgbClr val="F9CB9C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5d4dcc31c_0_105"/>
          <p:cNvSpPr txBox="1"/>
          <p:nvPr/>
        </p:nvSpPr>
        <p:spPr>
          <a:xfrm>
            <a:off x="1148850" y="2230350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Estructura de un prompt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g395d4dcc31c_0_105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95d4dcc31c_0_105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8" name="Google Shape;288;g395d4dcc31c_0_105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g395d4dcc31c_0_105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g395d4dcc31c_0_105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95d4dcc31c_0_105"/>
          <p:cNvSpPr txBox="1"/>
          <p:nvPr/>
        </p:nvSpPr>
        <p:spPr>
          <a:xfrm>
            <a:off x="975750" y="4493550"/>
            <a:ext cx="165933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highlight>
                  <a:srgbClr val="B4A7D6"/>
                </a:highlight>
                <a:latin typeface="Raleway"/>
                <a:ea typeface="Raleway"/>
                <a:cs typeface="Raleway"/>
                <a:sym typeface="Raleway"/>
              </a:rPr>
              <a:t>CONTEXTO + EJEMPLO</a:t>
            </a: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- ¿por qué?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“Tené presente que…”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“Es una organización que…”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“La respuesta está dirigida a…”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5d4dcc31c_0_115"/>
          <p:cNvSpPr txBox="1"/>
          <p:nvPr/>
        </p:nvSpPr>
        <p:spPr>
          <a:xfrm>
            <a:off x="1148850" y="2230350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Estructura de un prompt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g395d4dcc31c_0_115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g395d4dcc31c_0_115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9" name="Google Shape;299;g395d4dcc31c_0_115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g395d4dcc31c_0_115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g395d4dcc31c_0_115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95d4dcc31c_0_115"/>
          <p:cNvSpPr txBox="1"/>
          <p:nvPr/>
        </p:nvSpPr>
        <p:spPr>
          <a:xfrm>
            <a:off x="975750" y="4493550"/>
            <a:ext cx="165933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highlight>
                  <a:srgbClr val="B6D7A8"/>
                </a:highlight>
                <a:latin typeface="Raleway"/>
                <a:ea typeface="Raleway"/>
                <a:cs typeface="Raleway"/>
                <a:sym typeface="Raleway"/>
              </a:rPr>
              <a:t>FORMATO </a:t>
            </a: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- ¿por qué?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Tabla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Párrafo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Informe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…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3962c80a18f_1_11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962c80a18f_1_11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" name="Google Shape;309;g3962c80a18f_1_11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g3962c80a18f_1_11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g3962c80a18f_1_11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962c80a18f_1_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3400" y="3077296"/>
            <a:ext cx="4341200" cy="43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5d4dcc31c_0_145"/>
          <p:cNvSpPr txBox="1"/>
          <p:nvPr/>
        </p:nvSpPr>
        <p:spPr>
          <a:xfrm>
            <a:off x="1148850" y="3740100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Actividad 2 - 10’</a:t>
            </a:r>
            <a:endParaRPr sz="94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318" name="Google Shape;318;g395d4dcc31c_0_145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95d4dcc31c_0_145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g395d4dcc31c_0_145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g395d4dcc31c_0_145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g395d4dcc31c_0_145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95d4dcc31c_0_145"/>
          <p:cNvSpPr txBox="1"/>
          <p:nvPr/>
        </p:nvSpPr>
        <p:spPr>
          <a:xfrm>
            <a:off x="664500" y="6553000"/>
            <a:ext cx="16959000" cy="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Raleway"/>
              <a:buAutoNum type="arabicPeriod"/>
            </a:pPr>
            <a:r>
              <a:rPr lang="en-US" sz="32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Ubicar los fragmentos en la columna correspondiente</a:t>
            </a:r>
            <a:endParaRPr sz="32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5d4dcc31c_0_125"/>
          <p:cNvSpPr txBox="1"/>
          <p:nvPr/>
        </p:nvSpPr>
        <p:spPr>
          <a:xfrm>
            <a:off x="1148850" y="3740100"/>
            <a:ext cx="16247100" cy="28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Estructura de un prompt</a:t>
            </a:r>
            <a:endParaRPr sz="94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(</a:t>
            </a:r>
            <a:r>
              <a:rPr lang="en-US" sz="9400">
                <a:solidFill>
                  <a:srgbClr val="056D73"/>
                </a:solidFill>
                <a:highlight>
                  <a:srgbClr val="EA9999"/>
                </a:highlight>
                <a:latin typeface="Raleway Black"/>
                <a:ea typeface="Raleway Black"/>
                <a:cs typeface="Raleway Black"/>
                <a:sym typeface="Raleway Black"/>
              </a:rPr>
              <a:t>R</a:t>
            </a:r>
            <a:r>
              <a:rPr lang="en-US" sz="9400">
                <a:solidFill>
                  <a:srgbClr val="056D73"/>
                </a:solidFill>
                <a:highlight>
                  <a:srgbClr val="F9CB9C"/>
                </a:highlight>
                <a:latin typeface="Raleway Black"/>
                <a:ea typeface="Raleway Black"/>
                <a:cs typeface="Raleway Black"/>
                <a:sym typeface="Raleway Black"/>
              </a:rPr>
              <a:t>O</a:t>
            </a:r>
            <a:r>
              <a:rPr lang="en-US" sz="9400">
                <a:solidFill>
                  <a:srgbClr val="056D73"/>
                </a:solidFill>
                <a:highlight>
                  <a:srgbClr val="B4A7D6"/>
                </a:highlight>
                <a:latin typeface="Raleway Black"/>
                <a:ea typeface="Raleway Black"/>
                <a:cs typeface="Raleway Black"/>
                <a:sym typeface="Raleway Black"/>
              </a:rPr>
              <a:t>CE</a:t>
            </a:r>
            <a:r>
              <a:rPr lang="en-US" sz="9400">
                <a:solidFill>
                  <a:srgbClr val="056D73"/>
                </a:solidFill>
                <a:highlight>
                  <a:srgbClr val="B6D7A8"/>
                </a:highlight>
                <a:latin typeface="Raleway Black"/>
                <a:ea typeface="Raleway Black"/>
                <a:cs typeface="Raleway Black"/>
                <a:sym typeface="Raleway Black"/>
              </a:rPr>
              <a:t>F</a:t>
            </a: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)</a:t>
            </a:r>
            <a:endParaRPr sz="94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329" name="Google Shape;329;g395d4dcc31c_0_125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395d4dcc31c_0_125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1" name="Google Shape;331;g395d4dcc31c_0_125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g395d4dcc31c_0_125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g395d4dcc31c_0_125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g37924f75ed9_0_274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7924f75ed9_0_274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g37924f75ed9_0_274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g37924f75ed9_0_274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g37924f75ed9_0_274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37924f75ed9_0_274" title="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4225" y="1242053"/>
            <a:ext cx="9258300" cy="816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44" name="Google Shape;344;g37924f75ed9_0_274"/>
          <p:cNvSpPr txBox="1"/>
          <p:nvPr/>
        </p:nvSpPr>
        <p:spPr>
          <a:xfrm>
            <a:off x="1995475" y="3220850"/>
            <a:ext cx="14035800" cy="4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9400" u="none" cap="none" strike="noStrike">
                <a:solidFill>
                  <a:schemeClr val="lt1"/>
                </a:solidFill>
                <a:highlight>
                  <a:srgbClr val="056D73"/>
                </a:highlight>
                <a:latin typeface="Raleway Black"/>
                <a:ea typeface="Raleway Black"/>
                <a:cs typeface="Raleway Black"/>
                <a:sym typeface="Raleway Black"/>
              </a:rPr>
              <a:t>SABER </a:t>
            </a:r>
            <a:r>
              <a:rPr lang="en-US" sz="9400">
                <a:solidFill>
                  <a:schemeClr val="lt1"/>
                </a:solidFill>
                <a:highlight>
                  <a:srgbClr val="056D73"/>
                </a:highlight>
                <a:latin typeface="Raleway Black"/>
                <a:ea typeface="Raleway Black"/>
                <a:cs typeface="Raleway Black"/>
                <a:sym typeface="Raleway Black"/>
              </a:rPr>
              <a:t>CONSTRUIR UN BUEN PROMPT</a:t>
            </a:r>
            <a:r>
              <a:rPr b="0" i="0" lang="en-US" sz="9400" u="none" cap="none" strike="noStrike">
                <a:solidFill>
                  <a:schemeClr val="lt1"/>
                </a:solidFill>
                <a:highlight>
                  <a:srgbClr val="056D73"/>
                </a:highlight>
                <a:latin typeface="Raleway Black"/>
                <a:ea typeface="Raleway Black"/>
                <a:cs typeface="Raleway Black"/>
                <a:sym typeface="Raleway Black"/>
              </a:rPr>
              <a:t> ES LA CLAVE</a:t>
            </a:r>
            <a:endParaRPr b="0" i="0" sz="9400" u="none" cap="none" strike="noStrike">
              <a:solidFill>
                <a:schemeClr val="lt1"/>
              </a:solidFill>
              <a:highlight>
                <a:srgbClr val="056D73"/>
              </a:highlight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7924f75ed9_0_242"/>
          <p:cNvSpPr txBox="1"/>
          <p:nvPr/>
        </p:nvSpPr>
        <p:spPr>
          <a:xfrm>
            <a:off x="1380175" y="3740100"/>
            <a:ext cx="7108800" cy="28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94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Modelo</a:t>
            </a:r>
            <a:endParaRPr b="0" i="0" sz="94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94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ROCEF</a:t>
            </a:r>
            <a:endParaRPr b="0" i="0" sz="94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50" name="Google Shape;350;g37924f75ed9_0_242"/>
          <p:cNvSpPr txBox="1"/>
          <p:nvPr/>
        </p:nvSpPr>
        <p:spPr>
          <a:xfrm>
            <a:off x="7263450" y="2429100"/>
            <a:ext cx="10344600" cy="24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en-US" sz="37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Sos responsable de armar el sistema de créditos de una Universidad. </a:t>
            </a:r>
            <a:endParaRPr b="0" i="1" sz="37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en-US" sz="37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Actualmente, te toca actualizar la normativa de la Institución con respecto a la nueva Normativa. </a:t>
            </a:r>
            <a:r>
              <a:rPr i="1" lang="en-US" sz="3700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Considerando que la situación actual es …. y debés llegar a …. armá una lista de los pasos a seguir para iniciar el proceso.</a:t>
            </a:r>
            <a:endParaRPr b="0" i="1" sz="37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51" name="Google Shape;351;g37924f75ed9_0_242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g37924f75ed9_0_242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3" name="Google Shape;353;g37924f75ed9_0_242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g37924f75ed9_0_242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g37924f75ed9_0_242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5d4dcc31c_0_234"/>
          <p:cNvSpPr txBox="1"/>
          <p:nvPr/>
        </p:nvSpPr>
        <p:spPr>
          <a:xfrm>
            <a:off x="1148850" y="3740100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Corte - 10’</a:t>
            </a:r>
            <a:endParaRPr sz="94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361" name="Google Shape;361;g395d4dcc31c_0_234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g395d4dcc31c_0_234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3" name="Google Shape;363;g395d4dcc31c_0_234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g395d4dcc31c_0_234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g395d4dcc31c_0_234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5d4dcc31c_0_157"/>
          <p:cNvSpPr txBox="1"/>
          <p:nvPr/>
        </p:nvSpPr>
        <p:spPr>
          <a:xfrm>
            <a:off x="1148850" y="2230350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Situaciones frecuentes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g395d4dcc31c_0_157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395d4dcc31c_0_157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3" name="Google Shape;373;g395d4dcc31c_0_157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g395d4dcc31c_0_157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g395d4dcc31c_0_157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95d4dcc31c_0_157"/>
          <p:cNvSpPr txBox="1"/>
          <p:nvPr/>
        </p:nvSpPr>
        <p:spPr>
          <a:xfrm>
            <a:off x="847350" y="4493563"/>
            <a:ext cx="165933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“No me respondió lo que necesitaba”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7" name="Google Shape;377;g395d4dcc31c_0_157"/>
          <p:cNvSpPr txBox="1"/>
          <p:nvPr/>
        </p:nvSpPr>
        <p:spPr>
          <a:xfrm>
            <a:off x="847350" y="6203438"/>
            <a:ext cx="165933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“Di muchas vueltas y lo terminé cerrando”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8" name="Google Shape;378;g395d4dcc31c_0_157"/>
          <p:cNvSpPr txBox="1"/>
          <p:nvPr/>
        </p:nvSpPr>
        <p:spPr>
          <a:xfrm>
            <a:off x="975750" y="7913313"/>
            <a:ext cx="165933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“No me entiende”</a:t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79" name="Google Shape;379;g395d4dcc31c_0_1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3500" y="1506475"/>
            <a:ext cx="12533324" cy="78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5d4dcc31c_0_179"/>
          <p:cNvSpPr txBox="1"/>
          <p:nvPr/>
        </p:nvSpPr>
        <p:spPr>
          <a:xfrm>
            <a:off x="1148850" y="2230350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¿Cómo resolverlas?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g395d4dcc31c_0_179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395d4dcc31c_0_179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7" name="Google Shape;387;g395d4dcc31c_0_179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g395d4dcc31c_0_179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g395d4dcc31c_0_179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95d4dcc31c_0_179"/>
          <p:cNvSpPr txBox="1"/>
          <p:nvPr/>
        </p:nvSpPr>
        <p:spPr>
          <a:xfrm>
            <a:off x="847350" y="4493563"/>
            <a:ext cx="165933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“No me respondió lo que necesitaba” </a:t>
            </a:r>
            <a:endParaRPr b="1" sz="3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¿Tenía claro qué era lo que necesitaba? ¿Pregunté correctamente? ¿Le di la suficiente información para que lo resuelva? Si le pleantease la misma situación a una persona que no sabe de lo que le estoy hablando, ¿lo podría resolver (mejor)?</a:t>
            </a:r>
            <a:endParaRPr b="1" sz="4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5d4dcc31c_0_192"/>
          <p:cNvSpPr txBox="1"/>
          <p:nvPr/>
        </p:nvSpPr>
        <p:spPr>
          <a:xfrm>
            <a:off x="1148850" y="2230350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¿Cómo resolverlas?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g395d4dcc31c_0_192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g395d4dcc31c_0_192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g395d4dcc31c_0_192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g395d4dcc31c_0_192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g395d4dcc31c_0_192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395d4dcc31c_0_192"/>
          <p:cNvSpPr txBox="1"/>
          <p:nvPr/>
        </p:nvSpPr>
        <p:spPr>
          <a:xfrm>
            <a:off x="847350" y="4493563"/>
            <a:ext cx="165933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“Me daba muchas vueltas y lo terminé cerrando” // “No me entiende”</a:t>
            </a:r>
            <a:endParaRPr b="1" sz="3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¿Pregunté correctamente? ¿Era una situación que podía resolverla sin usar IAG?</a:t>
            </a:r>
            <a:endParaRPr b="1" sz="4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95d4dcc31c_0_214"/>
          <p:cNvSpPr txBox="1"/>
          <p:nvPr/>
        </p:nvSpPr>
        <p:spPr>
          <a:xfrm>
            <a:off x="1148850" y="2230350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Buenas prácticas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g395d4dcc31c_0_214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g395d4dcc31c_0_214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9" name="Google Shape;409;g395d4dcc31c_0_214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g395d4dcc31c_0_214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1" name="Google Shape;411;g395d4dcc31c_0_214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395d4dcc31c_0_214"/>
          <p:cNvSpPr txBox="1"/>
          <p:nvPr/>
        </p:nvSpPr>
        <p:spPr>
          <a:xfrm>
            <a:off x="558950" y="4493550"/>
            <a:ext cx="176259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300"/>
              <a:buFont typeface="Raleway"/>
              <a:buChar char="●"/>
            </a:pPr>
            <a:r>
              <a:rPr lang="en-US" sz="33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Utilizá lenguaje natural: como si le hablases a otra persona. Es importante que armes oraciones completas.</a:t>
            </a:r>
            <a:endParaRPr sz="33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300"/>
              <a:buFont typeface="Raleway"/>
              <a:buChar char="●"/>
            </a:pPr>
            <a:r>
              <a:rPr lang="en-US" sz="33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Sé específico/a: explicá lo que sí necesitás y las restricciones. </a:t>
            </a:r>
            <a:endParaRPr sz="33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300"/>
              <a:buFont typeface="Raleway"/>
              <a:buChar char="●"/>
            </a:pPr>
            <a:r>
              <a:rPr lang="en-US" sz="33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Sé conciso/a y evitá la jerga.</a:t>
            </a:r>
            <a:endParaRPr sz="33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300"/>
              <a:buFont typeface="Raleway"/>
              <a:buChar char="●"/>
            </a:pPr>
            <a:r>
              <a:rPr lang="en-US" sz="33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Mantené un proceso iterativo con el fin de mejorar el resultado.</a:t>
            </a:r>
            <a:endParaRPr sz="33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95d4dcc31c_0_224"/>
          <p:cNvSpPr txBox="1"/>
          <p:nvPr/>
        </p:nvSpPr>
        <p:spPr>
          <a:xfrm>
            <a:off x="1148850" y="3740100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Actividad 3</a:t>
            </a:r>
            <a:endParaRPr sz="94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418" name="Google Shape;418;g395d4dcc31c_0_224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g395d4dcc31c_0_224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0" name="Google Shape;420;g395d4dcc31c_0_224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g395d4dcc31c_0_224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" name="Google Shape;422;g395d4dcc31c_0_224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95d4dcc31c_0_224"/>
          <p:cNvSpPr txBox="1"/>
          <p:nvPr/>
        </p:nvSpPr>
        <p:spPr>
          <a:xfrm>
            <a:off x="664500" y="6033850"/>
            <a:ext cx="16959000" cy="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Raleway"/>
              <a:buAutoNum type="arabicPeriod"/>
            </a:pPr>
            <a:r>
              <a:rPr lang="en-US" sz="32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Construir el prompt para el resultado otorgado. Preguntas disparadoras:</a:t>
            </a:r>
            <a:endParaRPr sz="32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Raleway"/>
              <a:buAutoNum type="alphaLcParenR"/>
            </a:pPr>
            <a:r>
              <a:rPr lang="en-US" sz="32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¿Quién creen que dio la orden? (Persona)</a:t>
            </a:r>
            <a:endParaRPr sz="32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Raleway"/>
              <a:buAutoNum type="alphaLcParenR"/>
            </a:pPr>
            <a:r>
              <a:rPr lang="en-US" sz="32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¿Para qué se generó el texto? (Tarea)</a:t>
            </a:r>
            <a:endParaRPr sz="32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Raleway"/>
              <a:buAutoNum type="alphaLcParenR"/>
            </a:pPr>
            <a:r>
              <a:rPr lang="en-US" sz="32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¿En qué situación se encuentran? (Contexto)</a:t>
            </a:r>
            <a:endParaRPr sz="32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Raleway"/>
              <a:buAutoNum type="alphaLcParenR"/>
            </a:pPr>
            <a:r>
              <a:rPr lang="en-US" sz="32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¿Cómo pidieron que se vea el texto? (Formato/Tono)</a:t>
            </a:r>
            <a:endParaRPr sz="32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g3962c80a18f_1_21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g3962c80a18f_1_21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g3962c80a18f_1_21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g3962c80a18f_1_21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g3962c80a18f_1_21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g3962c80a18f_1_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3400" y="3077296"/>
            <a:ext cx="4341200" cy="43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95d4dcc31c_0_244"/>
          <p:cNvSpPr txBox="1"/>
          <p:nvPr/>
        </p:nvSpPr>
        <p:spPr>
          <a:xfrm>
            <a:off x="1020450" y="1878363"/>
            <a:ext cx="16247100" cy="28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Recorrido por Herramientas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" name="Google Shape;439;g395d4dcc31c_0_244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395d4dcc31c_0_244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" name="Google Shape;441;g395d4dcc31c_0_244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g395d4dcc31c_0_244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g395d4dcc31c_0_244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395d4dcc31c_0_2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00425" y="5170575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395d4dcc31c_0_244"/>
          <p:cNvPicPr preferRelativeResize="0"/>
          <p:nvPr/>
        </p:nvPicPr>
        <p:blipFill rotWithShape="1">
          <a:blip r:embed="rId7">
            <a:alphaModFix/>
          </a:blip>
          <a:srcRect b="0" l="24672" r="24854" t="0"/>
          <a:stretch/>
        </p:blipFill>
        <p:spPr>
          <a:xfrm>
            <a:off x="6453650" y="5047925"/>
            <a:ext cx="2143124" cy="238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395d4dcc31c_0_24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83388" y="5170575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g395d4dcc31c_0_24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713150" y="5170577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g395d4dcc31c_0_244"/>
          <p:cNvSpPr txBox="1"/>
          <p:nvPr/>
        </p:nvSpPr>
        <p:spPr>
          <a:xfrm>
            <a:off x="6453650" y="8285850"/>
            <a:ext cx="6462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¿Cuál es mejor?</a:t>
            </a:r>
            <a:endParaRPr b="1" sz="45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95d4dcc31c_0_271"/>
          <p:cNvSpPr txBox="1"/>
          <p:nvPr/>
        </p:nvSpPr>
        <p:spPr>
          <a:xfrm>
            <a:off x="1148850" y="3740100"/>
            <a:ext cx="16247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lang="en-US" sz="94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Actividad 4 - 20’</a:t>
            </a:r>
            <a:endParaRPr sz="94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454" name="Google Shape;454;g395d4dcc31c_0_271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95d4dcc31c_0_271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6" name="Google Shape;456;g395d4dcc31c_0_271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" name="Google Shape;457;g395d4dcc31c_0_271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8" name="Google Shape;458;g395d4dcc31c_0_271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95d4dcc31c_0_271"/>
          <p:cNvSpPr txBox="1"/>
          <p:nvPr/>
        </p:nvSpPr>
        <p:spPr>
          <a:xfrm>
            <a:off x="664500" y="6033850"/>
            <a:ext cx="16959000" cy="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Raleway"/>
              <a:buAutoNum type="arabicPeriod"/>
            </a:pPr>
            <a:r>
              <a:rPr lang="en-US" sz="32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Realizar un análisis comparativo de las 4 herramientas</a:t>
            </a:r>
            <a:endParaRPr sz="32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Raleway"/>
              <a:buAutoNum type="arabicPeriod"/>
            </a:pPr>
            <a:r>
              <a:rPr lang="en-US" sz="3200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rPr>
              <a:t>Responder a la pregunta: ¿cuál es mejor?</a:t>
            </a:r>
            <a:endParaRPr sz="32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8888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830c586fe0_0_23"/>
          <p:cNvSpPr txBox="1"/>
          <p:nvPr/>
        </p:nvSpPr>
        <p:spPr>
          <a:xfrm>
            <a:off x="2126100" y="3038250"/>
            <a:ext cx="14035800" cy="4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US" sz="94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LA ÚLTIMA PALABRA LA TENEMOS QUIENES PREGUNTAMOS</a:t>
            </a:r>
            <a:endParaRPr b="0" i="0" sz="94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465" name="Google Shape;465;g3830c586fe0_0_23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6273" y="9074675"/>
            <a:ext cx="2901882" cy="7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g3830c586fe0_0_23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650" y="517950"/>
            <a:ext cx="1737625" cy="271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g3830c586fe0_0_23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g3830c586fe0_0_23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9" name="Google Shape;469;g3830c586fe0_0_23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09925" y="-176925"/>
            <a:ext cx="1642375" cy="156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g364d11ed934_1_47" title="fondo2.png"/>
          <p:cNvPicPr preferRelativeResize="0"/>
          <p:nvPr/>
        </p:nvPicPr>
        <p:blipFill rotWithShape="1">
          <a:blip r:embed="rId3">
            <a:alphaModFix/>
          </a:blip>
          <a:srcRect b="30853" l="55231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5" name="Google Shape;475;g364d11ed934_1_47"/>
          <p:cNvCxnSpPr/>
          <p:nvPr/>
        </p:nvCxnSpPr>
        <p:spPr>
          <a:xfrm rot="10800000">
            <a:off x="1142538" y="517955"/>
            <a:ext cx="6300" cy="852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g364d11ed934_1_47"/>
          <p:cNvSpPr/>
          <p:nvPr/>
        </p:nvSpPr>
        <p:spPr>
          <a:xfrm>
            <a:off x="1142543" y="293278"/>
            <a:ext cx="2412928" cy="683823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30" l="0" r="-32959" t="0"/>
            </a:stretch>
          </a:blipFill>
          <a:ln>
            <a:noFill/>
          </a:ln>
        </p:spPr>
      </p:sp>
      <p:sp>
        <p:nvSpPr>
          <p:cNvPr id="477" name="Google Shape;477;g364d11ed934_1_47"/>
          <p:cNvSpPr txBox="1"/>
          <p:nvPr/>
        </p:nvSpPr>
        <p:spPr>
          <a:xfrm>
            <a:off x="1296657" y="846453"/>
            <a:ext cx="34446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r>
              <a:rPr b="0" i="0" lang="en-US" sz="1661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8" name="Google Shape;478;g364d11ed934_1_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25099" y="8540400"/>
            <a:ext cx="3677153" cy="148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g364d11ed934_1_47"/>
          <p:cNvSpPr txBox="1"/>
          <p:nvPr/>
        </p:nvSpPr>
        <p:spPr>
          <a:xfrm>
            <a:off x="2369850" y="5152125"/>
            <a:ext cx="135483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¡Muchas gracias!</a:t>
            </a:r>
            <a:endParaRPr b="0" i="0" sz="9000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cxnSp>
        <p:nvCxnSpPr>
          <p:cNvPr id="480" name="Google Shape;480;g364d11ed934_1_47"/>
          <p:cNvCxnSpPr/>
          <p:nvPr/>
        </p:nvCxnSpPr>
        <p:spPr>
          <a:xfrm>
            <a:off x="3309050" y="6495825"/>
            <a:ext cx="12100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g364d11ed934_1_47"/>
          <p:cNvSpPr/>
          <p:nvPr/>
        </p:nvSpPr>
        <p:spPr>
          <a:xfrm>
            <a:off x="16002225" y="-12"/>
            <a:ext cx="2350084" cy="1483043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920" r="0" t="0"/>
            </a:stretch>
          </a:blipFill>
          <a:ln>
            <a:noFill/>
          </a:ln>
        </p:spPr>
      </p:sp>
      <p:sp>
        <p:nvSpPr>
          <p:cNvPr id="482" name="Google Shape;482;g364d11ed934_1_47"/>
          <p:cNvSpPr txBox="1"/>
          <p:nvPr/>
        </p:nvSpPr>
        <p:spPr>
          <a:xfrm>
            <a:off x="5568751" y="6810025"/>
            <a:ext cx="71505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Mg. María Della Torre</a:t>
            </a:r>
            <a:endParaRPr b="0" i="0" sz="4000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9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