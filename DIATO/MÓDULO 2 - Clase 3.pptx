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Raleway"/>
      <p:regular r:id="rId27"/>
      <p:bold r:id="rId28"/>
      <p:italic r:id="rId29"/>
      <p:boldItalic r:id="rId30"/>
    </p:embeddedFont>
    <p:embeddedFont>
      <p:font typeface="Raleway SemiBold"/>
      <p:regular r:id="rId31"/>
      <p:bold r:id="rId32"/>
      <p:italic r:id="rId33"/>
      <p:boldItalic r:id="rId34"/>
    </p:embeddedFont>
    <p:embeddedFont>
      <p:font typeface="Raleway Black"/>
      <p:bold r:id="rId35"/>
      <p:boldItalic r:id="rId36"/>
    </p:embeddedFont>
    <p:embeddedFont>
      <p:font typeface="Raleway Light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Light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aleway-bold.fntdata"/><Relationship Id="rId27" Type="http://schemas.openxmlformats.org/officeDocument/2006/relationships/font" Target="fonts/Raleway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aleway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alewaySemiBold-regular.fntdata"/><Relationship Id="rId30" Type="http://schemas.openxmlformats.org/officeDocument/2006/relationships/font" Target="fonts/Raleway-boldItalic.fntdata"/><Relationship Id="rId11" Type="http://schemas.openxmlformats.org/officeDocument/2006/relationships/slide" Target="slides/slide5.xml"/><Relationship Id="rId33" Type="http://schemas.openxmlformats.org/officeDocument/2006/relationships/font" Target="fonts/RalewaySemiBold-italic.fntdata"/><Relationship Id="rId10" Type="http://schemas.openxmlformats.org/officeDocument/2006/relationships/slide" Target="slides/slide4.xml"/><Relationship Id="rId32" Type="http://schemas.openxmlformats.org/officeDocument/2006/relationships/font" Target="fonts/RalewaySemiBold-bold.fntdata"/><Relationship Id="rId13" Type="http://schemas.openxmlformats.org/officeDocument/2006/relationships/slide" Target="slides/slide7.xml"/><Relationship Id="rId35" Type="http://schemas.openxmlformats.org/officeDocument/2006/relationships/font" Target="fonts/RalewayBlack-bold.fntdata"/><Relationship Id="rId12" Type="http://schemas.openxmlformats.org/officeDocument/2006/relationships/slide" Target="slides/slide6.xml"/><Relationship Id="rId34" Type="http://schemas.openxmlformats.org/officeDocument/2006/relationships/font" Target="fonts/RalewaySemiBold-boldItalic.fntdata"/><Relationship Id="rId15" Type="http://schemas.openxmlformats.org/officeDocument/2006/relationships/slide" Target="slides/slide9.xml"/><Relationship Id="rId37" Type="http://schemas.openxmlformats.org/officeDocument/2006/relationships/font" Target="fonts/RalewayLight-regular.fntdata"/><Relationship Id="rId14" Type="http://schemas.openxmlformats.org/officeDocument/2006/relationships/slide" Target="slides/slide8.xml"/><Relationship Id="rId36" Type="http://schemas.openxmlformats.org/officeDocument/2006/relationships/font" Target="fonts/RalewayBlack-boldItalic.fntdata"/><Relationship Id="rId17" Type="http://schemas.openxmlformats.org/officeDocument/2006/relationships/slide" Target="slides/slide11.xml"/><Relationship Id="rId39" Type="http://schemas.openxmlformats.org/officeDocument/2006/relationships/font" Target="fonts/RalewayLight-italic.fntdata"/><Relationship Id="rId16" Type="http://schemas.openxmlformats.org/officeDocument/2006/relationships/slide" Target="slides/slide10.xml"/><Relationship Id="rId38" Type="http://schemas.openxmlformats.org/officeDocument/2006/relationships/font" Target="fonts/RalewayLight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fdba5ee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6fdba5ee3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dbf2475d4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g3cdbf2475d4_0_2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5de3b51b2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395de3b51b2_0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5de3b51b2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95de3b51b2_0_1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19d142170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a19d14217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/>
              <a:t>¿Qué tipo de resultado lograremos con esta nueva funcionalidad?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19d142170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a19d14217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/>
              <a:t>¿Qué tipo de resultado lograremos con esta nueva funcionalidad?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19d142170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a19d14217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/>
              <a:t>¿Qué tipo de resultado lograremos con esta nueva funcionalidad?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19d142170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a19d142170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/>
              <a:t>¿Qué tipo de resultado lograremos con esta nueva funcionalidad?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95de3b51b2_0_2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95de3b51b2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/>
              <a:t>¿Qué tipo de resultado lograremos con esta nueva funcionalidad?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95de3b51b2_0_2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395de3b51b2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/>
              <a:t>¿Qué tipo de resultado lograremos con esta nueva funcionalidad?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95de3b51b2_0_2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g395de3b51b2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/>
              <a:t>¿Qué tipo de resultado lograremos con esta nueva funcionalidad?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cdbf2475d4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cdbf2475d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/>
              <a:t>¿Qué puedo hacer?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cdbf2475d4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g3cdbf2475d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cdbf2475d4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3cdbf2475d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/>
              <a:t>https://www.skills.google/catalog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cdbf2475d4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g3cdbf2475d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cdbf2475d4_0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g3cdbf2475d4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cdbf2475d4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g3cdbf2475d4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d2ae10cc9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g3d2ae10cc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d2cfc2c8b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g3d2cfc2c8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95de3b51b2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7" name="Google Shape;367;g395de3b51b2_0_3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42900" y="1065213"/>
            <a:ext cx="38862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61156" y="2203450"/>
            <a:ext cx="38862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61156" y="1453357"/>
            <a:ext cx="38862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28600" y="800100"/>
            <a:ext cx="20193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324100" y="800100"/>
            <a:ext cx="20193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28600" y="767556"/>
            <a:ext cx="202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28600" y="1087438"/>
            <a:ext cx="2020200" cy="19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322513" y="767556"/>
            <a:ext cx="2021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322513" y="1087438"/>
            <a:ext cx="2021100" cy="19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28600" y="136525"/>
            <a:ext cx="15042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787525" y="136525"/>
            <a:ext cx="2556000" cy="29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28600" y="717550"/>
            <a:ext cx="1504200" cy="23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896144" y="2400300"/>
            <a:ext cx="2743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896144" y="2683669"/>
            <a:ext cx="27432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154400" y="-125700"/>
            <a:ext cx="2263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366100" y="1085919"/>
            <a:ext cx="29259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70600" y="95319"/>
            <a:ext cx="2925900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Relationship Id="rId4" Type="http://schemas.openxmlformats.org/officeDocument/2006/relationships/image" Target="../media/image14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14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Relationship Id="rId7" Type="http://schemas.openxmlformats.org/officeDocument/2006/relationships/image" Target="../media/image7.png"/><Relationship Id="rId8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Relationship Id="rId4" Type="http://schemas.openxmlformats.org/officeDocument/2006/relationships/image" Target="../media/image38.png"/><Relationship Id="rId11" Type="http://schemas.openxmlformats.org/officeDocument/2006/relationships/image" Target="../media/image13.png"/><Relationship Id="rId10" Type="http://schemas.openxmlformats.org/officeDocument/2006/relationships/image" Target="../media/image21.png"/><Relationship Id="rId12" Type="http://schemas.openxmlformats.org/officeDocument/2006/relationships/image" Target="../media/image10.png"/><Relationship Id="rId9" Type="http://schemas.openxmlformats.org/officeDocument/2006/relationships/image" Target="../media/image23.png"/><Relationship Id="rId5" Type="http://schemas.openxmlformats.org/officeDocument/2006/relationships/image" Target="../media/image31.png"/><Relationship Id="rId6" Type="http://schemas.openxmlformats.org/officeDocument/2006/relationships/image" Target="../media/image30.png"/><Relationship Id="rId7" Type="http://schemas.openxmlformats.org/officeDocument/2006/relationships/image" Target="../media/image36.png"/><Relationship Id="rId8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rive.google.com/file/d/1AtluM9fYwV7okb7rvX8-3dA07KqHxoCi/view?usp=sharing" TargetMode="External"/><Relationship Id="rId4" Type="http://schemas.openxmlformats.org/officeDocument/2006/relationships/image" Target="../media/image21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39.jpg"/><Relationship Id="rId7" Type="http://schemas.openxmlformats.org/officeDocument/2006/relationships/image" Target="../media/image3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14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5" title="fondo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649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0" name="Google Shape;130;p25"/>
          <p:cNvCxnSpPr/>
          <p:nvPr/>
        </p:nvCxnSpPr>
        <p:spPr>
          <a:xfrm rot="10800000">
            <a:off x="571419" y="258977"/>
            <a:ext cx="3000" cy="426300"/>
          </a:xfrm>
          <a:prstGeom prst="straightConnector1">
            <a:avLst/>
          </a:prstGeom>
          <a:noFill/>
          <a:ln cap="flat" cmpd="sng" w="47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25"/>
          <p:cNvSpPr/>
          <p:nvPr/>
        </p:nvSpPr>
        <p:spPr>
          <a:xfrm>
            <a:off x="571272" y="146639"/>
            <a:ext cx="1206464" cy="341912"/>
          </a:xfrm>
          <a:custGeom>
            <a:rect b="b" l="l" r="r" t="t"/>
            <a:pathLst>
              <a:path extrusionOk="0" h="683823" w="2412928">
                <a:moveTo>
                  <a:pt x="0" y="0"/>
                </a:moveTo>
                <a:lnTo>
                  <a:pt x="2412928" y="0"/>
                </a:lnTo>
                <a:lnTo>
                  <a:pt x="2412928" y="683823"/>
                </a:lnTo>
                <a:lnTo>
                  <a:pt x="0" y="6838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12940" l="0" r="-32950" t="0"/>
            </a:stretch>
          </a:blipFill>
          <a:ln>
            <a:noFill/>
          </a:ln>
        </p:spPr>
      </p:sp>
      <p:sp>
        <p:nvSpPr>
          <p:cNvPr id="132" name="Google Shape;132;p25"/>
          <p:cNvSpPr txBox="1"/>
          <p:nvPr/>
        </p:nvSpPr>
        <p:spPr>
          <a:xfrm>
            <a:off x="648329" y="423227"/>
            <a:ext cx="1722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5"/>
          <p:cNvSpPr/>
          <p:nvPr/>
        </p:nvSpPr>
        <p:spPr>
          <a:xfrm>
            <a:off x="8001113" y="-6"/>
            <a:ext cx="1175042" cy="742950"/>
          </a:xfrm>
          <a:custGeom>
            <a:rect b="b" l="l" r="r" t="t"/>
            <a:pathLst>
              <a:path extrusionOk="0" h="1143000" w="2176004">
                <a:moveTo>
                  <a:pt x="0" y="0"/>
                </a:moveTo>
                <a:lnTo>
                  <a:pt x="2176004" y="0"/>
                </a:lnTo>
                <a:lnTo>
                  <a:pt x="2176004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43915" l="-406920" r="0" t="0"/>
            </a:stretch>
          </a:blipFill>
          <a:ln>
            <a:noFill/>
          </a:ln>
        </p:spPr>
      </p:sp>
      <p:pic>
        <p:nvPicPr>
          <p:cNvPr id="134" name="Google Shape;13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97093" y="3973825"/>
            <a:ext cx="2549811" cy="102837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5"/>
          <p:cNvSpPr txBox="1"/>
          <p:nvPr/>
        </p:nvSpPr>
        <p:spPr>
          <a:xfrm>
            <a:off x="1226963" y="1770713"/>
            <a:ext cx="6774300" cy="14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b="1" i="0" lang="es-419" sz="32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Diplomatura en </a:t>
            </a:r>
            <a:endParaRPr b="1" i="0" sz="3200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b="1" i="0" lang="es-419" sz="32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3200" u="none" cap="none" strike="noStrike">
              <a:solidFill>
                <a:srgbClr val="FFFFFF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cxnSp>
        <p:nvCxnSpPr>
          <p:cNvPr id="136" name="Google Shape;136;p25"/>
          <p:cNvCxnSpPr/>
          <p:nvPr/>
        </p:nvCxnSpPr>
        <p:spPr>
          <a:xfrm>
            <a:off x="1654525" y="3247913"/>
            <a:ext cx="6050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p25"/>
          <p:cNvSpPr txBox="1"/>
          <p:nvPr/>
        </p:nvSpPr>
        <p:spPr>
          <a:xfrm>
            <a:off x="5779975" y="3256700"/>
            <a:ext cx="19098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b="1" lang="es-419" sz="25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5</a:t>
            </a:r>
            <a:r>
              <a:rPr b="1" i="0" lang="es-419" sz="25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ta cohorte</a:t>
            </a:r>
            <a:endParaRPr b="0" i="0" sz="2500" u="none" cap="none" strike="noStrike">
              <a:solidFill>
                <a:srgbClr val="FFFFFF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6" title="fondo2.png"/>
          <p:cNvPicPr preferRelativeResize="0"/>
          <p:nvPr/>
        </p:nvPicPr>
        <p:blipFill rotWithShape="1">
          <a:blip r:embed="rId3">
            <a:alphaModFix/>
          </a:blip>
          <a:srcRect b="30853" l="55231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" name="Google Shape;143;p26"/>
          <p:cNvCxnSpPr/>
          <p:nvPr/>
        </p:nvCxnSpPr>
        <p:spPr>
          <a:xfrm rot="10800000">
            <a:off x="571419" y="258977"/>
            <a:ext cx="3000" cy="426300"/>
          </a:xfrm>
          <a:prstGeom prst="straightConnector1">
            <a:avLst/>
          </a:prstGeom>
          <a:noFill/>
          <a:ln cap="flat" cmpd="sng" w="47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26"/>
          <p:cNvSpPr/>
          <p:nvPr/>
        </p:nvSpPr>
        <p:spPr>
          <a:xfrm>
            <a:off x="571272" y="146639"/>
            <a:ext cx="1206464" cy="341912"/>
          </a:xfrm>
          <a:custGeom>
            <a:rect b="b" l="l" r="r" t="t"/>
            <a:pathLst>
              <a:path extrusionOk="0" h="683823" w="2412928">
                <a:moveTo>
                  <a:pt x="0" y="0"/>
                </a:moveTo>
                <a:lnTo>
                  <a:pt x="2412928" y="0"/>
                </a:lnTo>
                <a:lnTo>
                  <a:pt x="2412928" y="683823"/>
                </a:lnTo>
                <a:lnTo>
                  <a:pt x="0" y="6838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12920" l="0" r="-32959" t="0"/>
            </a:stretch>
          </a:blipFill>
          <a:ln>
            <a:noFill/>
          </a:ln>
        </p:spPr>
      </p:sp>
      <p:sp>
        <p:nvSpPr>
          <p:cNvPr id="145" name="Google Shape;145;p26"/>
          <p:cNvSpPr txBox="1"/>
          <p:nvPr/>
        </p:nvSpPr>
        <p:spPr>
          <a:xfrm>
            <a:off x="648329" y="423227"/>
            <a:ext cx="1722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62549" y="4270200"/>
            <a:ext cx="1838577" cy="74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6"/>
          <p:cNvSpPr txBox="1"/>
          <p:nvPr/>
        </p:nvSpPr>
        <p:spPr>
          <a:xfrm>
            <a:off x="1184925" y="1897113"/>
            <a:ext cx="6774300" cy="6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b="1" i="0" lang="es-419" sz="45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Módulo 2</a:t>
            </a:r>
            <a:endParaRPr b="0" i="0" sz="4500" u="none" cap="none" strike="noStrike">
              <a:solidFill>
                <a:srgbClr val="FFFFFF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cxnSp>
        <p:nvCxnSpPr>
          <p:cNvPr id="148" name="Google Shape;148;p26"/>
          <p:cNvCxnSpPr/>
          <p:nvPr/>
        </p:nvCxnSpPr>
        <p:spPr>
          <a:xfrm>
            <a:off x="1654525" y="2568963"/>
            <a:ext cx="6050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26"/>
          <p:cNvSpPr txBox="1"/>
          <p:nvPr/>
        </p:nvSpPr>
        <p:spPr>
          <a:xfrm>
            <a:off x="2002150" y="2726981"/>
            <a:ext cx="53550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b="1" i="0" lang="es-419" sz="3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Herramientas de IA generativa para el trabajo</a:t>
            </a:r>
            <a:endParaRPr b="0" i="0" sz="3000" u="none" cap="none" strike="noStrike">
              <a:solidFill>
                <a:srgbClr val="FFFFFF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50" name="Google Shape;150;p26"/>
          <p:cNvSpPr txBox="1"/>
          <p:nvPr/>
        </p:nvSpPr>
        <p:spPr>
          <a:xfrm>
            <a:off x="2891951" y="3780800"/>
            <a:ext cx="35754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b="0" i="0" lang="es-419" sz="2000" u="none" cap="none" strike="noStrike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Mg. María Della Torre</a:t>
            </a:r>
            <a:endParaRPr b="0" i="0" sz="2000" u="none" cap="none" strike="noStrike">
              <a:solidFill>
                <a:srgbClr val="FFFFFF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151" name="Google Shape;151;p26"/>
          <p:cNvSpPr/>
          <p:nvPr/>
        </p:nvSpPr>
        <p:spPr>
          <a:xfrm>
            <a:off x="8001113" y="-6"/>
            <a:ext cx="1175042" cy="742950"/>
          </a:xfrm>
          <a:custGeom>
            <a:rect b="b" l="l" r="r" t="t"/>
            <a:pathLst>
              <a:path extrusionOk="0" h="1143000" w="2176004">
                <a:moveTo>
                  <a:pt x="0" y="0"/>
                </a:moveTo>
                <a:lnTo>
                  <a:pt x="2176004" y="0"/>
                </a:lnTo>
                <a:lnTo>
                  <a:pt x="2176004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43915" l="-406894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6D73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/>
        </p:nvSpPr>
        <p:spPr>
          <a:xfrm>
            <a:off x="687706" y="2753570"/>
            <a:ext cx="26382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s-419" sz="4000" u="none" cap="none" strike="noStrike">
                <a:solidFill>
                  <a:srgbClr val="FFFFFF"/>
                </a:solidFill>
                <a:latin typeface="Raleway Black"/>
                <a:ea typeface="Raleway Black"/>
                <a:cs typeface="Raleway Black"/>
                <a:sym typeface="Raleway Black"/>
              </a:rPr>
              <a:t>Unidades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7"/>
          <p:cNvSpPr txBox="1"/>
          <p:nvPr/>
        </p:nvSpPr>
        <p:spPr>
          <a:xfrm>
            <a:off x="3325900" y="1714500"/>
            <a:ext cx="5661000" cy="1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34950" lvl="1" marL="45720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aleway"/>
              <a:buChar char="•"/>
            </a:pPr>
            <a:r>
              <a:rPr b="0" i="0" lang="es-419" sz="19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Unidad 1: Ingeniería de prompts</a:t>
            </a:r>
            <a:endParaRPr b="0" i="0" sz="1900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34950" lvl="1" marL="45720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aleway"/>
              <a:buChar char="•"/>
            </a:pPr>
            <a:r>
              <a:rPr b="0" i="0" lang="es-419" sz="19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Unidad 2: </a:t>
            </a:r>
            <a:r>
              <a:rPr lang="es-419" sz="1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Conceptos generales de IAG</a:t>
            </a:r>
            <a:endParaRPr b="0" i="0" sz="1900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34950" lvl="1" marL="45720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aleway"/>
              <a:buChar char="•"/>
            </a:pPr>
            <a:r>
              <a:rPr b="0" i="0" lang="es-419" sz="19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Unidad 3: </a:t>
            </a:r>
            <a:r>
              <a:rPr lang="es-419" sz="1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Situaciones cotidianas para acompañar con IAG</a:t>
            </a:r>
            <a:endParaRPr b="0" i="0" sz="1900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58" name="Google Shape;15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1650" y="4382425"/>
            <a:ext cx="1633613" cy="658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p27"/>
          <p:cNvCxnSpPr/>
          <p:nvPr/>
        </p:nvCxnSpPr>
        <p:spPr>
          <a:xfrm rot="10800000">
            <a:off x="571419" y="258977"/>
            <a:ext cx="3000" cy="426300"/>
          </a:xfrm>
          <a:prstGeom prst="straightConnector1">
            <a:avLst/>
          </a:prstGeom>
          <a:noFill/>
          <a:ln cap="flat" cmpd="sng" w="47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27"/>
          <p:cNvSpPr/>
          <p:nvPr/>
        </p:nvSpPr>
        <p:spPr>
          <a:xfrm>
            <a:off x="571272" y="146639"/>
            <a:ext cx="1206464" cy="341912"/>
          </a:xfrm>
          <a:custGeom>
            <a:rect b="b" l="l" r="r" t="t"/>
            <a:pathLst>
              <a:path extrusionOk="0" h="683823" w="2412928">
                <a:moveTo>
                  <a:pt x="0" y="0"/>
                </a:moveTo>
                <a:lnTo>
                  <a:pt x="2412928" y="0"/>
                </a:lnTo>
                <a:lnTo>
                  <a:pt x="2412928" y="683823"/>
                </a:lnTo>
                <a:lnTo>
                  <a:pt x="0" y="6838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12930" l="0" r="-32959" t="0"/>
            </a:stretch>
          </a:blipFill>
          <a:ln>
            <a:noFill/>
          </a:ln>
        </p:spPr>
      </p:sp>
      <p:sp>
        <p:nvSpPr>
          <p:cNvPr id="161" name="Google Shape;161;p27"/>
          <p:cNvSpPr txBox="1"/>
          <p:nvPr/>
        </p:nvSpPr>
        <p:spPr>
          <a:xfrm>
            <a:off x="648329" y="423227"/>
            <a:ext cx="1722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27" title="Diseño_sin_título-removebg-preview.png"/>
          <p:cNvPicPr preferRelativeResize="0"/>
          <p:nvPr/>
        </p:nvPicPr>
        <p:blipFill rotWithShape="1">
          <a:blip r:embed="rId5">
            <a:alphaModFix/>
          </a:blip>
          <a:srcRect b="0" l="22050" r="16971" t="70621"/>
          <a:stretch/>
        </p:blipFill>
        <p:spPr>
          <a:xfrm>
            <a:off x="687700" y="3217813"/>
            <a:ext cx="2428875" cy="65886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7"/>
          <p:cNvSpPr/>
          <p:nvPr/>
        </p:nvSpPr>
        <p:spPr>
          <a:xfrm>
            <a:off x="8001113" y="-6"/>
            <a:ext cx="1175042" cy="742950"/>
          </a:xfrm>
          <a:custGeom>
            <a:rect b="b" l="l" r="r" t="t"/>
            <a:pathLst>
              <a:path extrusionOk="0" h="1143000" w="2176004">
                <a:moveTo>
                  <a:pt x="0" y="0"/>
                </a:moveTo>
                <a:lnTo>
                  <a:pt x="2176004" y="0"/>
                </a:lnTo>
                <a:lnTo>
                  <a:pt x="2176004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43915" l="-40692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6D73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1650" y="4382425"/>
            <a:ext cx="1633613" cy="658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" name="Google Shape;169;p28"/>
          <p:cNvCxnSpPr/>
          <p:nvPr/>
        </p:nvCxnSpPr>
        <p:spPr>
          <a:xfrm rot="10800000">
            <a:off x="571419" y="258977"/>
            <a:ext cx="3000" cy="426300"/>
          </a:xfrm>
          <a:prstGeom prst="straightConnector1">
            <a:avLst/>
          </a:prstGeom>
          <a:noFill/>
          <a:ln cap="flat" cmpd="sng" w="47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28"/>
          <p:cNvSpPr/>
          <p:nvPr/>
        </p:nvSpPr>
        <p:spPr>
          <a:xfrm>
            <a:off x="571272" y="146639"/>
            <a:ext cx="1206464" cy="341912"/>
          </a:xfrm>
          <a:custGeom>
            <a:rect b="b" l="l" r="r" t="t"/>
            <a:pathLst>
              <a:path extrusionOk="0" h="683823" w="2412928">
                <a:moveTo>
                  <a:pt x="0" y="0"/>
                </a:moveTo>
                <a:lnTo>
                  <a:pt x="2412928" y="0"/>
                </a:lnTo>
                <a:lnTo>
                  <a:pt x="2412928" y="683823"/>
                </a:lnTo>
                <a:lnTo>
                  <a:pt x="0" y="6838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12930" l="0" r="-32950" t="0"/>
            </a:stretch>
          </a:blipFill>
          <a:ln>
            <a:noFill/>
          </a:ln>
        </p:spPr>
      </p:sp>
      <p:sp>
        <p:nvSpPr>
          <p:cNvPr id="171" name="Google Shape;171;p28"/>
          <p:cNvSpPr txBox="1"/>
          <p:nvPr/>
        </p:nvSpPr>
        <p:spPr>
          <a:xfrm>
            <a:off x="648329" y="423227"/>
            <a:ext cx="1722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28" title="Diseño_sin_título-removebg-preview.png"/>
          <p:cNvPicPr preferRelativeResize="0"/>
          <p:nvPr/>
        </p:nvPicPr>
        <p:blipFill rotWithShape="1">
          <a:blip r:embed="rId5">
            <a:alphaModFix/>
          </a:blip>
          <a:srcRect b="0" l="22050" r="16971" t="70621"/>
          <a:stretch/>
        </p:blipFill>
        <p:spPr>
          <a:xfrm>
            <a:off x="4944213" y="3832400"/>
            <a:ext cx="2428875" cy="658863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8"/>
          <p:cNvSpPr txBox="1"/>
          <p:nvPr/>
        </p:nvSpPr>
        <p:spPr>
          <a:xfrm>
            <a:off x="4572010" y="1448710"/>
            <a:ext cx="3518400" cy="8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0"/>
              <a:buFont typeface="Arial"/>
              <a:buNone/>
            </a:pPr>
            <a:r>
              <a:rPr b="0" i="0" lang="es-419" sz="5900" u="none" cap="none" strike="noStrike">
                <a:solidFill>
                  <a:srgbClr val="FFFFFF"/>
                </a:solidFill>
                <a:latin typeface="Raleway Black"/>
                <a:ea typeface="Raleway Black"/>
                <a:cs typeface="Raleway Black"/>
                <a:sym typeface="Raleway Black"/>
              </a:rPr>
              <a:t>Unidad </a:t>
            </a:r>
            <a:r>
              <a:rPr lang="es-419" sz="5900">
                <a:solidFill>
                  <a:srgbClr val="FFFFFF"/>
                </a:solidFill>
                <a:latin typeface="Raleway Black"/>
                <a:ea typeface="Raleway Black"/>
                <a:cs typeface="Raleway Black"/>
                <a:sym typeface="Raleway Black"/>
              </a:rPr>
              <a:t>3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8"/>
          <p:cNvSpPr/>
          <p:nvPr/>
        </p:nvSpPr>
        <p:spPr>
          <a:xfrm>
            <a:off x="8001113" y="-6"/>
            <a:ext cx="1175042" cy="742950"/>
          </a:xfrm>
          <a:custGeom>
            <a:rect b="b" l="l" r="r" t="t"/>
            <a:pathLst>
              <a:path extrusionOk="0" h="1143000" w="2176004">
                <a:moveTo>
                  <a:pt x="0" y="0"/>
                </a:moveTo>
                <a:lnTo>
                  <a:pt x="2176004" y="0"/>
                </a:lnTo>
                <a:lnTo>
                  <a:pt x="2176004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43915" l="-406920" r="0" t="0"/>
            </a:stretch>
          </a:blipFill>
          <a:ln>
            <a:noFill/>
          </a:ln>
        </p:spPr>
      </p:sp>
      <p:sp>
        <p:nvSpPr>
          <p:cNvPr id="175" name="Google Shape;175;p28"/>
          <p:cNvSpPr txBox="1"/>
          <p:nvPr/>
        </p:nvSpPr>
        <p:spPr>
          <a:xfrm>
            <a:off x="4714939" y="2332958"/>
            <a:ext cx="3518400" cy="13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s-419" sz="3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Situaciones cotidianas para acompañar con IAG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/>
        </p:nvSpPr>
        <p:spPr>
          <a:xfrm>
            <a:off x="148376" y="2172800"/>
            <a:ext cx="4540800" cy="10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lang="es-419" sz="36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Gemini</a:t>
            </a:r>
            <a:endParaRPr sz="3600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lang="es-419" sz="36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Deepresearch</a:t>
            </a:r>
            <a:endParaRPr sz="3600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pic>
        <p:nvPicPr>
          <p:cNvPr id="181" name="Google Shape;181;p29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8137" y="4537338"/>
            <a:ext cx="1450941" cy="386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9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325" y="258975"/>
            <a:ext cx="868813" cy="1355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183;p29"/>
          <p:cNvCxnSpPr/>
          <p:nvPr/>
        </p:nvCxnSpPr>
        <p:spPr>
          <a:xfrm rot="10800000">
            <a:off x="571419" y="258977"/>
            <a:ext cx="3000" cy="426300"/>
          </a:xfrm>
          <a:prstGeom prst="straightConnector1">
            <a:avLst/>
          </a:prstGeom>
          <a:noFill/>
          <a:ln cap="flat" cmpd="sng" w="477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p29"/>
          <p:cNvSpPr txBox="1"/>
          <p:nvPr/>
        </p:nvSpPr>
        <p:spPr>
          <a:xfrm>
            <a:off x="648329" y="423227"/>
            <a:ext cx="1722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7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29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54963" y="-88462"/>
            <a:ext cx="821188" cy="78494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9"/>
          <p:cNvSpPr txBox="1"/>
          <p:nvPr/>
        </p:nvSpPr>
        <p:spPr>
          <a:xfrm>
            <a:off x="3977800" y="1026825"/>
            <a:ext cx="4951200" cy="3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Nueva funcionalidad</a:t>
            </a:r>
            <a:endParaRPr b="1" sz="18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87" name="Google Shape;187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96125" y="1702178"/>
            <a:ext cx="2619575" cy="267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39084" y="1462276"/>
            <a:ext cx="333650" cy="33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9" title="png-clipart-triangle-yellow-green-google-drive-google-drive-logo-angle-rectangle-thumbnail-removebg-preview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60338" y="2462250"/>
            <a:ext cx="386125" cy="38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9" title="png-transparent-google-mail-gmail-logo-icon-removebg-preview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699725" y="2462250"/>
            <a:ext cx="431475" cy="3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9"/>
          <p:cNvSpPr txBox="1"/>
          <p:nvPr/>
        </p:nvSpPr>
        <p:spPr>
          <a:xfrm>
            <a:off x="6140950" y="4497475"/>
            <a:ext cx="12306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¿?</a:t>
            </a:r>
            <a:endParaRPr b="1" sz="18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/>
          <p:nvPr/>
        </p:nvSpPr>
        <p:spPr>
          <a:xfrm>
            <a:off x="148376" y="2172800"/>
            <a:ext cx="4540800" cy="10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lang="es-419" sz="36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Gemini</a:t>
            </a:r>
            <a:endParaRPr sz="3600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lang="es-419" sz="36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Deepresearch</a:t>
            </a:r>
            <a:endParaRPr sz="3600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pic>
        <p:nvPicPr>
          <p:cNvPr id="197" name="Google Shape;197;p30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8137" y="4537338"/>
            <a:ext cx="1450941" cy="386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0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325" y="258975"/>
            <a:ext cx="868813" cy="1355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9" name="Google Shape;199;p30"/>
          <p:cNvCxnSpPr/>
          <p:nvPr/>
        </p:nvCxnSpPr>
        <p:spPr>
          <a:xfrm rot="10800000">
            <a:off x="571419" y="258977"/>
            <a:ext cx="3000" cy="426300"/>
          </a:xfrm>
          <a:prstGeom prst="straightConnector1">
            <a:avLst/>
          </a:prstGeom>
          <a:noFill/>
          <a:ln cap="flat" cmpd="sng" w="477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30"/>
          <p:cNvSpPr txBox="1"/>
          <p:nvPr/>
        </p:nvSpPr>
        <p:spPr>
          <a:xfrm>
            <a:off x="648329" y="423227"/>
            <a:ext cx="1722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7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p30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54963" y="-88462"/>
            <a:ext cx="821188" cy="78494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0"/>
          <p:cNvSpPr txBox="1"/>
          <p:nvPr/>
        </p:nvSpPr>
        <p:spPr>
          <a:xfrm>
            <a:off x="3977800" y="1026825"/>
            <a:ext cx="4951200" cy="3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Me encuentro en el proceso de construcción de una hoja de ruta de transformación digital para el sector de la construcción argentino. </a:t>
            </a:r>
            <a:r>
              <a:rPr i="1" lang="es-419" sz="2000">
                <a:solidFill>
                  <a:schemeClr val="dk1"/>
                </a:solidFill>
                <a:highlight>
                  <a:schemeClr val="accent6"/>
                </a:highlight>
                <a:latin typeface="Raleway"/>
                <a:ea typeface="Raleway"/>
                <a:cs typeface="Raleway"/>
                <a:sym typeface="Raleway"/>
              </a:rPr>
              <a:t>En función a los documentos que rastrees en mis accesos</a:t>
            </a:r>
            <a:r>
              <a:rPr i="1" lang="es-419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establecé los pasos a seguir para dicho sector.</a:t>
            </a:r>
            <a:endParaRPr b="1" i="1" sz="2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1"/>
          <p:cNvSpPr txBox="1"/>
          <p:nvPr/>
        </p:nvSpPr>
        <p:spPr>
          <a:xfrm>
            <a:off x="148376" y="2172800"/>
            <a:ext cx="4540800" cy="10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lang="es-419" sz="36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Gemini</a:t>
            </a:r>
            <a:endParaRPr sz="3600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lang="es-419" sz="36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Deepresearch</a:t>
            </a:r>
            <a:endParaRPr sz="3600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pic>
        <p:nvPicPr>
          <p:cNvPr id="208" name="Google Shape;208;p31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8137" y="4537338"/>
            <a:ext cx="1450941" cy="386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1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325" y="258975"/>
            <a:ext cx="868813" cy="1355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0" name="Google Shape;210;p31"/>
          <p:cNvCxnSpPr/>
          <p:nvPr/>
        </p:nvCxnSpPr>
        <p:spPr>
          <a:xfrm rot="10800000">
            <a:off x="571419" y="258977"/>
            <a:ext cx="3000" cy="426300"/>
          </a:xfrm>
          <a:prstGeom prst="straightConnector1">
            <a:avLst/>
          </a:prstGeom>
          <a:noFill/>
          <a:ln cap="flat" cmpd="sng" w="477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31"/>
          <p:cNvSpPr txBox="1"/>
          <p:nvPr/>
        </p:nvSpPr>
        <p:spPr>
          <a:xfrm>
            <a:off x="648329" y="423227"/>
            <a:ext cx="1722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7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31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54963" y="-88462"/>
            <a:ext cx="821188" cy="784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81875" y="696475"/>
            <a:ext cx="4322350" cy="3561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/>
          <p:nvPr/>
        </p:nvSpPr>
        <p:spPr>
          <a:xfrm>
            <a:off x="148376" y="2172800"/>
            <a:ext cx="4540800" cy="10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lang="es-419" sz="36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Actividad 9</a:t>
            </a:r>
            <a:endParaRPr sz="3600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lang="es-419" sz="36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20’</a:t>
            </a:r>
            <a:endParaRPr sz="3600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pic>
        <p:nvPicPr>
          <p:cNvPr id="219" name="Google Shape;219;p32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8137" y="4537338"/>
            <a:ext cx="1450941" cy="386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2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325" y="258975"/>
            <a:ext cx="868813" cy="1355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1" name="Google Shape;221;p32"/>
          <p:cNvCxnSpPr/>
          <p:nvPr/>
        </p:nvCxnSpPr>
        <p:spPr>
          <a:xfrm rot="10800000">
            <a:off x="571419" y="258977"/>
            <a:ext cx="3000" cy="426300"/>
          </a:xfrm>
          <a:prstGeom prst="straightConnector1">
            <a:avLst/>
          </a:prstGeom>
          <a:noFill/>
          <a:ln cap="flat" cmpd="sng" w="477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32"/>
          <p:cNvSpPr txBox="1"/>
          <p:nvPr/>
        </p:nvSpPr>
        <p:spPr>
          <a:xfrm>
            <a:off x="648329" y="423227"/>
            <a:ext cx="1722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7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32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54963" y="-88462"/>
            <a:ext cx="821188" cy="78494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2"/>
          <p:cNvSpPr txBox="1"/>
          <p:nvPr/>
        </p:nvSpPr>
        <p:spPr>
          <a:xfrm>
            <a:off x="3977800" y="1026825"/>
            <a:ext cx="4951200" cy="3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Utilizar la herramienta deepresearch (investigación en profundidad) para aplicarla a la búsqueda de clientes / proveedores / </a:t>
            </a:r>
            <a:r>
              <a:rPr lang="es-419" sz="2000">
                <a:solidFill>
                  <a:schemeClr val="lt1"/>
                </a:solidFill>
                <a:highlight>
                  <a:srgbClr val="FF0000"/>
                </a:highlight>
                <a:latin typeface="Raleway"/>
                <a:ea typeface="Raleway"/>
                <a:cs typeface="Raleway"/>
                <a:sym typeface="Raleway"/>
              </a:rPr>
              <a:t>señales de futuro</a:t>
            </a:r>
            <a:r>
              <a:rPr lang="es-419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(módulo 3).</a:t>
            </a:r>
            <a:endParaRPr sz="2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/>
          <p:cNvSpPr txBox="1"/>
          <p:nvPr/>
        </p:nvSpPr>
        <p:spPr>
          <a:xfrm>
            <a:off x="148376" y="2172800"/>
            <a:ext cx="4540800" cy="10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lang="es-419" sz="36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Google</a:t>
            </a:r>
            <a:endParaRPr sz="3600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lang="es-419" sz="36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Gems</a:t>
            </a:r>
            <a:endParaRPr sz="3600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pic>
        <p:nvPicPr>
          <p:cNvPr id="230" name="Google Shape;230;p33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8137" y="4537338"/>
            <a:ext cx="1450941" cy="386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3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325" y="258975"/>
            <a:ext cx="868813" cy="1355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2" name="Google Shape;232;p33"/>
          <p:cNvCxnSpPr/>
          <p:nvPr/>
        </p:nvCxnSpPr>
        <p:spPr>
          <a:xfrm rot="10800000">
            <a:off x="571419" y="258977"/>
            <a:ext cx="3000" cy="426300"/>
          </a:xfrm>
          <a:prstGeom prst="straightConnector1">
            <a:avLst/>
          </a:prstGeom>
          <a:noFill/>
          <a:ln cap="flat" cmpd="sng" w="477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" name="Google Shape;233;p33"/>
          <p:cNvSpPr txBox="1"/>
          <p:nvPr/>
        </p:nvSpPr>
        <p:spPr>
          <a:xfrm>
            <a:off x="648329" y="423227"/>
            <a:ext cx="1722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7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p33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54963" y="-88462"/>
            <a:ext cx="821188" cy="78494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3"/>
          <p:cNvSpPr txBox="1"/>
          <p:nvPr/>
        </p:nvSpPr>
        <p:spPr>
          <a:xfrm>
            <a:off x="3275975" y="1844000"/>
            <a:ext cx="5480100" cy="13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dk1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Los Gems son expertos de IA personalizados que te ayudan con cualquier tema.</a:t>
            </a:r>
            <a:endParaRPr sz="25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 txBox="1"/>
          <p:nvPr/>
        </p:nvSpPr>
        <p:spPr>
          <a:xfrm>
            <a:off x="148376" y="2172800"/>
            <a:ext cx="4540800" cy="10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lang="es-419" sz="36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Ejercicio</a:t>
            </a:r>
            <a:endParaRPr sz="3600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lang="es-419" sz="36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20’</a:t>
            </a:r>
            <a:endParaRPr sz="3600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pic>
        <p:nvPicPr>
          <p:cNvPr id="241" name="Google Shape;241;p34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8137" y="4537338"/>
            <a:ext cx="1450941" cy="386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4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325" y="258975"/>
            <a:ext cx="868813" cy="1355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3" name="Google Shape;243;p34"/>
          <p:cNvCxnSpPr/>
          <p:nvPr/>
        </p:nvCxnSpPr>
        <p:spPr>
          <a:xfrm rot="10800000">
            <a:off x="571419" y="258977"/>
            <a:ext cx="3000" cy="426300"/>
          </a:xfrm>
          <a:prstGeom prst="straightConnector1">
            <a:avLst/>
          </a:prstGeom>
          <a:noFill/>
          <a:ln cap="flat" cmpd="sng" w="477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" name="Google Shape;244;p34"/>
          <p:cNvSpPr txBox="1"/>
          <p:nvPr/>
        </p:nvSpPr>
        <p:spPr>
          <a:xfrm>
            <a:off x="648329" y="423227"/>
            <a:ext cx="1722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7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5" name="Google Shape;245;p34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54963" y="-88462"/>
            <a:ext cx="821188" cy="78494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4"/>
          <p:cNvSpPr txBox="1"/>
          <p:nvPr/>
        </p:nvSpPr>
        <p:spPr>
          <a:xfrm>
            <a:off x="3977800" y="1026825"/>
            <a:ext cx="4951200" cy="3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De acuerdo a tus actividades cotidianas, pensá en una Gema que sería de utilidad construir.</a:t>
            </a:r>
            <a:endParaRPr sz="2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Importante: agentes se profundizarán en el módulo 4</a:t>
            </a:r>
            <a:endParaRPr sz="2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5"/>
          <p:cNvSpPr txBox="1"/>
          <p:nvPr/>
        </p:nvSpPr>
        <p:spPr>
          <a:xfrm>
            <a:off x="148376" y="2172800"/>
            <a:ext cx="4540800" cy="10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lang="es-419" sz="36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Gemini</a:t>
            </a:r>
            <a:endParaRPr sz="3600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lang="es-419" sz="36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Canvas</a:t>
            </a:r>
            <a:endParaRPr sz="3600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pic>
        <p:nvPicPr>
          <p:cNvPr id="252" name="Google Shape;252;p35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8137" y="4537338"/>
            <a:ext cx="1450941" cy="386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35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325" y="258975"/>
            <a:ext cx="868813" cy="1355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4" name="Google Shape;254;p35"/>
          <p:cNvCxnSpPr/>
          <p:nvPr/>
        </p:nvCxnSpPr>
        <p:spPr>
          <a:xfrm rot="10800000">
            <a:off x="571419" y="258977"/>
            <a:ext cx="3000" cy="426300"/>
          </a:xfrm>
          <a:prstGeom prst="straightConnector1">
            <a:avLst/>
          </a:prstGeom>
          <a:noFill/>
          <a:ln cap="flat" cmpd="sng" w="477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5" name="Google Shape;255;p35"/>
          <p:cNvSpPr txBox="1"/>
          <p:nvPr/>
        </p:nvSpPr>
        <p:spPr>
          <a:xfrm>
            <a:off x="648329" y="423227"/>
            <a:ext cx="1722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7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35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54963" y="-88462"/>
            <a:ext cx="821188" cy="784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6"/>
          <p:cNvSpPr txBox="1"/>
          <p:nvPr/>
        </p:nvSpPr>
        <p:spPr>
          <a:xfrm>
            <a:off x="457238" y="2133682"/>
            <a:ext cx="34170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b="0" i="0" lang="es-419" sz="4700" u="none" cap="none" strike="noStrike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¿Entonces?</a:t>
            </a:r>
            <a:endParaRPr b="0" i="0" sz="4700" u="none" cap="none" strike="noStrike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262" name="Google Shape;262;p36"/>
          <p:cNvSpPr/>
          <p:nvPr/>
        </p:nvSpPr>
        <p:spPr>
          <a:xfrm rot="-2700000">
            <a:off x="5111508" y="1908599"/>
            <a:ext cx="1323704" cy="1320734"/>
          </a:xfrm>
          <a:prstGeom prst="ellipse">
            <a:avLst/>
          </a:prstGeom>
          <a:solidFill>
            <a:srgbClr val="96F7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36"/>
          <p:cNvSpPr/>
          <p:nvPr/>
        </p:nvSpPr>
        <p:spPr>
          <a:xfrm rot="-2700000">
            <a:off x="3645317" y="1708989"/>
            <a:ext cx="1621029" cy="2151664"/>
          </a:xfrm>
          <a:custGeom>
            <a:rect b="b" l="l" r="r" t="t"/>
            <a:pathLst>
              <a:path extrusionOk="0" h="332" w="250">
                <a:moveTo>
                  <a:pt x="32" y="286"/>
                </a:moveTo>
                <a:cubicBezTo>
                  <a:pt x="32" y="157"/>
                  <a:pt x="127" y="49"/>
                  <a:pt x="250" y="29"/>
                </a:cubicBezTo>
                <a:cubicBezTo>
                  <a:pt x="245" y="19"/>
                  <a:pt x="239" y="9"/>
                  <a:pt x="232" y="0"/>
                </a:cubicBezTo>
                <a:cubicBezTo>
                  <a:pt x="100" y="28"/>
                  <a:pt x="0" y="145"/>
                  <a:pt x="0" y="286"/>
                </a:cubicBezTo>
                <a:cubicBezTo>
                  <a:pt x="0" y="302"/>
                  <a:pt x="1" y="317"/>
                  <a:pt x="3" y="332"/>
                </a:cubicBezTo>
                <a:cubicBezTo>
                  <a:pt x="13" y="325"/>
                  <a:pt x="23" y="319"/>
                  <a:pt x="33" y="314"/>
                </a:cubicBezTo>
                <a:cubicBezTo>
                  <a:pt x="33" y="305"/>
                  <a:pt x="32" y="296"/>
                  <a:pt x="32" y="286"/>
                </a:cubicBezTo>
                <a:close/>
              </a:path>
            </a:pathLst>
          </a:custGeom>
          <a:solidFill>
            <a:srgbClr val="96F797"/>
          </a:solidFill>
          <a:ln cap="flat" cmpd="sng" w="477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6"/>
          <p:cNvSpPr/>
          <p:nvPr/>
        </p:nvSpPr>
        <p:spPr>
          <a:xfrm rot="-2700000">
            <a:off x="3893585" y="1768616"/>
            <a:ext cx="1575643" cy="1769691"/>
          </a:xfrm>
          <a:custGeom>
            <a:rect b="b" l="l" r="r" t="t"/>
            <a:pathLst>
              <a:path extrusionOk="0" h="285" w="254">
                <a:moveTo>
                  <a:pt x="200" y="153"/>
                </a:moveTo>
                <a:cubicBezTo>
                  <a:pt x="217" y="143"/>
                  <a:pt x="236" y="137"/>
                  <a:pt x="254" y="136"/>
                </a:cubicBezTo>
                <a:cubicBezTo>
                  <a:pt x="253" y="87"/>
                  <a:pt x="240" y="41"/>
                  <a:pt x="218" y="0"/>
                </a:cubicBezTo>
                <a:cubicBezTo>
                  <a:pt x="95" y="20"/>
                  <a:pt x="0" y="128"/>
                  <a:pt x="0" y="257"/>
                </a:cubicBezTo>
                <a:cubicBezTo>
                  <a:pt x="0" y="267"/>
                  <a:pt x="1" y="276"/>
                  <a:pt x="1" y="285"/>
                </a:cubicBezTo>
                <a:cubicBezTo>
                  <a:pt x="43" y="263"/>
                  <a:pt x="90" y="251"/>
                  <a:pt x="140" y="250"/>
                </a:cubicBezTo>
                <a:cubicBezTo>
                  <a:pt x="142" y="211"/>
                  <a:pt x="164" y="174"/>
                  <a:pt x="200" y="153"/>
                </a:cubicBezTo>
                <a:close/>
              </a:path>
            </a:pathLst>
          </a:custGeom>
          <a:solidFill>
            <a:srgbClr val="056D73"/>
          </a:solidFill>
          <a:ln cap="flat" cmpd="sng" w="477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6"/>
          <p:cNvSpPr txBox="1"/>
          <p:nvPr/>
        </p:nvSpPr>
        <p:spPr>
          <a:xfrm rot="-5400000">
            <a:off x="3891458" y="2287472"/>
            <a:ext cx="14961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419" sz="15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Escalar</a:t>
            </a:r>
            <a:endParaRPr b="0" i="0" sz="1500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66" name="Google Shape;266;p36"/>
          <p:cNvSpPr/>
          <p:nvPr/>
        </p:nvSpPr>
        <p:spPr>
          <a:xfrm rot="-2700000">
            <a:off x="4913697" y="3077778"/>
            <a:ext cx="2153650" cy="1621060"/>
          </a:xfrm>
          <a:custGeom>
            <a:rect b="b" l="l" r="r" t="t"/>
            <a:pathLst>
              <a:path extrusionOk="0" h="250" w="333">
                <a:moveTo>
                  <a:pt x="287" y="218"/>
                </a:moveTo>
                <a:cubicBezTo>
                  <a:pt x="157" y="218"/>
                  <a:pt x="50" y="124"/>
                  <a:pt x="30" y="0"/>
                </a:cubicBezTo>
                <a:cubicBezTo>
                  <a:pt x="19" y="5"/>
                  <a:pt x="10" y="11"/>
                  <a:pt x="0" y="18"/>
                </a:cubicBezTo>
                <a:cubicBezTo>
                  <a:pt x="28" y="151"/>
                  <a:pt x="146" y="250"/>
                  <a:pt x="287" y="250"/>
                </a:cubicBezTo>
                <a:cubicBezTo>
                  <a:pt x="302" y="250"/>
                  <a:pt x="318" y="249"/>
                  <a:pt x="333" y="247"/>
                </a:cubicBezTo>
                <a:cubicBezTo>
                  <a:pt x="326" y="237"/>
                  <a:pt x="320" y="227"/>
                  <a:pt x="315" y="217"/>
                </a:cubicBezTo>
                <a:cubicBezTo>
                  <a:pt x="306" y="218"/>
                  <a:pt x="296" y="218"/>
                  <a:pt x="287" y="218"/>
                </a:cubicBezTo>
                <a:close/>
              </a:path>
            </a:pathLst>
          </a:custGeom>
          <a:solidFill>
            <a:srgbClr val="96F797"/>
          </a:solidFill>
          <a:ln cap="flat" cmpd="sng" w="477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6"/>
          <p:cNvSpPr/>
          <p:nvPr/>
        </p:nvSpPr>
        <p:spPr>
          <a:xfrm rot="-2700000">
            <a:off x="4978284" y="2870497"/>
            <a:ext cx="1764275" cy="1573502"/>
          </a:xfrm>
          <a:custGeom>
            <a:rect b="b" l="l" r="r" t="t"/>
            <a:pathLst>
              <a:path extrusionOk="0" h="254" w="285">
                <a:moveTo>
                  <a:pt x="152" y="54"/>
                </a:moveTo>
                <a:cubicBezTo>
                  <a:pt x="142" y="37"/>
                  <a:pt x="137" y="19"/>
                  <a:pt x="136" y="0"/>
                </a:cubicBezTo>
                <a:cubicBezTo>
                  <a:pt x="86" y="1"/>
                  <a:pt x="40" y="14"/>
                  <a:pt x="0" y="36"/>
                </a:cubicBezTo>
                <a:cubicBezTo>
                  <a:pt x="20" y="160"/>
                  <a:pt x="127" y="254"/>
                  <a:pt x="257" y="254"/>
                </a:cubicBezTo>
                <a:cubicBezTo>
                  <a:pt x="266" y="254"/>
                  <a:pt x="276" y="254"/>
                  <a:pt x="285" y="253"/>
                </a:cubicBezTo>
                <a:cubicBezTo>
                  <a:pt x="263" y="211"/>
                  <a:pt x="251" y="164"/>
                  <a:pt x="250" y="115"/>
                </a:cubicBezTo>
                <a:cubicBezTo>
                  <a:pt x="210" y="112"/>
                  <a:pt x="173" y="91"/>
                  <a:pt x="152" y="54"/>
                </a:cubicBezTo>
                <a:close/>
              </a:path>
            </a:pathLst>
          </a:custGeom>
          <a:solidFill>
            <a:srgbClr val="056D73"/>
          </a:solidFill>
          <a:ln cap="flat" cmpd="sng" w="477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6"/>
          <p:cNvSpPr txBox="1"/>
          <p:nvPr/>
        </p:nvSpPr>
        <p:spPr>
          <a:xfrm>
            <a:off x="5028487" y="3424501"/>
            <a:ext cx="14961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419" sz="15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Ejecutar</a:t>
            </a:r>
            <a:endParaRPr b="0" i="0" sz="1500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69" name="Google Shape;269;p36"/>
          <p:cNvSpPr/>
          <p:nvPr/>
        </p:nvSpPr>
        <p:spPr>
          <a:xfrm rot="-2700000">
            <a:off x="6290024" y="1276022"/>
            <a:ext cx="1617163" cy="2151664"/>
          </a:xfrm>
          <a:custGeom>
            <a:rect b="b" l="l" r="r" t="t"/>
            <a:pathLst>
              <a:path extrusionOk="0" h="332" w="250">
                <a:moveTo>
                  <a:pt x="218" y="45"/>
                </a:moveTo>
                <a:cubicBezTo>
                  <a:pt x="218" y="175"/>
                  <a:pt x="123" y="282"/>
                  <a:pt x="0" y="303"/>
                </a:cubicBezTo>
                <a:cubicBezTo>
                  <a:pt x="5" y="313"/>
                  <a:pt x="11" y="323"/>
                  <a:pt x="18" y="332"/>
                </a:cubicBezTo>
                <a:cubicBezTo>
                  <a:pt x="150" y="304"/>
                  <a:pt x="250" y="186"/>
                  <a:pt x="250" y="45"/>
                </a:cubicBezTo>
                <a:cubicBezTo>
                  <a:pt x="250" y="30"/>
                  <a:pt x="248" y="15"/>
                  <a:pt x="246" y="0"/>
                </a:cubicBezTo>
                <a:cubicBezTo>
                  <a:pt x="237" y="6"/>
                  <a:pt x="226" y="12"/>
                  <a:pt x="216" y="18"/>
                </a:cubicBezTo>
                <a:cubicBezTo>
                  <a:pt x="217" y="27"/>
                  <a:pt x="218" y="36"/>
                  <a:pt x="218" y="45"/>
                </a:cubicBezTo>
                <a:close/>
              </a:path>
            </a:pathLst>
          </a:custGeom>
          <a:solidFill>
            <a:srgbClr val="96F797"/>
          </a:solidFill>
          <a:ln cap="flat" cmpd="sng" w="477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6"/>
          <p:cNvSpPr/>
          <p:nvPr/>
        </p:nvSpPr>
        <p:spPr>
          <a:xfrm rot="-2700000">
            <a:off x="6079254" y="1601692"/>
            <a:ext cx="1579339" cy="1765685"/>
          </a:xfrm>
          <a:custGeom>
            <a:rect b="b" l="l" r="r" t="t"/>
            <a:pathLst>
              <a:path extrusionOk="0" h="285" w="254">
                <a:moveTo>
                  <a:pt x="53" y="133"/>
                </a:moveTo>
                <a:cubicBezTo>
                  <a:pt x="37" y="142"/>
                  <a:pt x="18" y="148"/>
                  <a:pt x="0" y="149"/>
                </a:cubicBezTo>
                <a:cubicBezTo>
                  <a:pt x="1" y="198"/>
                  <a:pt x="14" y="244"/>
                  <a:pt x="36" y="285"/>
                </a:cubicBezTo>
                <a:cubicBezTo>
                  <a:pt x="159" y="264"/>
                  <a:pt x="254" y="157"/>
                  <a:pt x="254" y="27"/>
                </a:cubicBezTo>
                <a:cubicBezTo>
                  <a:pt x="254" y="18"/>
                  <a:pt x="253" y="9"/>
                  <a:pt x="252" y="0"/>
                </a:cubicBezTo>
                <a:cubicBezTo>
                  <a:pt x="211" y="21"/>
                  <a:pt x="164" y="34"/>
                  <a:pt x="114" y="34"/>
                </a:cubicBezTo>
                <a:cubicBezTo>
                  <a:pt x="112" y="74"/>
                  <a:pt x="90" y="111"/>
                  <a:pt x="53" y="133"/>
                </a:cubicBezTo>
                <a:close/>
              </a:path>
            </a:pathLst>
          </a:custGeom>
          <a:solidFill>
            <a:srgbClr val="056D73"/>
          </a:solidFill>
          <a:ln cap="flat" cmpd="sng" w="477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6"/>
          <p:cNvSpPr txBox="1"/>
          <p:nvPr/>
        </p:nvSpPr>
        <p:spPr>
          <a:xfrm rot="5400000">
            <a:off x="6165516" y="2287473"/>
            <a:ext cx="14961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419" sz="15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Evaluar </a:t>
            </a:r>
            <a:endParaRPr b="0" i="0" sz="1500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72" name="Google Shape;272;p36"/>
          <p:cNvSpPr/>
          <p:nvPr/>
        </p:nvSpPr>
        <p:spPr>
          <a:xfrm rot="-2700000">
            <a:off x="4487200" y="441792"/>
            <a:ext cx="2142068" cy="1612705"/>
          </a:xfrm>
          <a:custGeom>
            <a:rect b="b" l="l" r="r" t="t"/>
            <a:pathLst>
              <a:path extrusionOk="0" h="249" w="331">
                <a:moveTo>
                  <a:pt x="45" y="32"/>
                </a:moveTo>
                <a:cubicBezTo>
                  <a:pt x="174" y="32"/>
                  <a:pt x="281" y="126"/>
                  <a:pt x="302" y="249"/>
                </a:cubicBezTo>
                <a:cubicBezTo>
                  <a:pt x="312" y="244"/>
                  <a:pt x="322" y="238"/>
                  <a:pt x="331" y="231"/>
                </a:cubicBezTo>
                <a:cubicBezTo>
                  <a:pt x="303" y="99"/>
                  <a:pt x="186" y="0"/>
                  <a:pt x="45" y="0"/>
                </a:cubicBezTo>
                <a:cubicBezTo>
                  <a:pt x="29" y="0"/>
                  <a:pt x="14" y="1"/>
                  <a:pt x="0" y="3"/>
                </a:cubicBezTo>
                <a:cubicBezTo>
                  <a:pt x="6" y="13"/>
                  <a:pt x="12" y="23"/>
                  <a:pt x="17" y="33"/>
                </a:cubicBezTo>
                <a:cubicBezTo>
                  <a:pt x="26" y="32"/>
                  <a:pt x="36" y="32"/>
                  <a:pt x="45" y="32"/>
                </a:cubicBezTo>
                <a:close/>
              </a:path>
            </a:pathLst>
          </a:custGeom>
          <a:solidFill>
            <a:srgbClr val="96F797"/>
          </a:solidFill>
          <a:ln cap="flat" cmpd="sng" w="477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6"/>
          <p:cNvSpPr/>
          <p:nvPr/>
        </p:nvSpPr>
        <p:spPr>
          <a:xfrm rot="-2700000">
            <a:off x="4804506" y="692578"/>
            <a:ext cx="1767975" cy="1573496"/>
          </a:xfrm>
          <a:custGeom>
            <a:rect b="b" l="l" r="r" t="t"/>
            <a:pathLst>
              <a:path extrusionOk="0" h="253" w="285">
                <a:moveTo>
                  <a:pt x="28" y="0"/>
                </a:moveTo>
                <a:cubicBezTo>
                  <a:pt x="19" y="0"/>
                  <a:pt x="9" y="0"/>
                  <a:pt x="0" y="1"/>
                </a:cubicBezTo>
                <a:cubicBezTo>
                  <a:pt x="22" y="43"/>
                  <a:pt x="34" y="90"/>
                  <a:pt x="35" y="140"/>
                </a:cubicBezTo>
                <a:cubicBezTo>
                  <a:pt x="74" y="142"/>
                  <a:pt x="112" y="163"/>
                  <a:pt x="133" y="200"/>
                </a:cubicBezTo>
                <a:cubicBezTo>
                  <a:pt x="143" y="217"/>
                  <a:pt x="148" y="235"/>
                  <a:pt x="149" y="253"/>
                </a:cubicBezTo>
                <a:cubicBezTo>
                  <a:pt x="198" y="252"/>
                  <a:pt x="244" y="239"/>
                  <a:pt x="285" y="217"/>
                </a:cubicBezTo>
                <a:cubicBezTo>
                  <a:pt x="264" y="94"/>
                  <a:pt x="157" y="0"/>
                  <a:pt x="28" y="0"/>
                </a:cubicBezTo>
                <a:close/>
              </a:path>
            </a:pathLst>
          </a:custGeom>
          <a:solidFill>
            <a:srgbClr val="056D73"/>
          </a:solidFill>
          <a:ln cap="flat" cmpd="sng" w="477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6"/>
          <p:cNvSpPr txBox="1"/>
          <p:nvPr/>
        </p:nvSpPr>
        <p:spPr>
          <a:xfrm>
            <a:off x="5028463" y="1150444"/>
            <a:ext cx="14961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419" sz="15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Explorar</a:t>
            </a:r>
            <a:endParaRPr b="0" i="0" sz="1500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75" name="Google Shape;275;p36"/>
          <p:cNvSpPr txBox="1"/>
          <p:nvPr/>
        </p:nvSpPr>
        <p:spPr>
          <a:xfrm>
            <a:off x="5404793" y="2133682"/>
            <a:ext cx="9114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b="0" i="0" lang="es-419" sz="4700" u="none" cap="none" strike="noStrike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4E</a:t>
            </a:r>
            <a:endParaRPr b="0" i="0" sz="4700" u="none" cap="none" strike="noStrike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pic>
        <p:nvPicPr>
          <p:cNvPr id="276" name="Google Shape;276;p36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8137" y="4537338"/>
            <a:ext cx="1450941" cy="386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6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325" y="258975"/>
            <a:ext cx="868813" cy="1355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8" name="Google Shape;278;p36"/>
          <p:cNvCxnSpPr/>
          <p:nvPr/>
        </p:nvCxnSpPr>
        <p:spPr>
          <a:xfrm rot="10800000">
            <a:off x="571419" y="258977"/>
            <a:ext cx="3000" cy="426300"/>
          </a:xfrm>
          <a:prstGeom prst="straightConnector1">
            <a:avLst/>
          </a:prstGeom>
          <a:noFill/>
          <a:ln cap="flat" cmpd="sng" w="477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" name="Google Shape;279;p36"/>
          <p:cNvSpPr txBox="1"/>
          <p:nvPr/>
        </p:nvSpPr>
        <p:spPr>
          <a:xfrm>
            <a:off x="648329" y="423227"/>
            <a:ext cx="1722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7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0" name="Google Shape;280;p36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54963" y="-88462"/>
            <a:ext cx="821188" cy="784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7"/>
          <p:cNvSpPr txBox="1"/>
          <p:nvPr/>
        </p:nvSpPr>
        <p:spPr>
          <a:xfrm>
            <a:off x="663138" y="2220900"/>
            <a:ext cx="26664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b="0" i="0" lang="es-419" sz="4700" u="none" cap="none" strike="noStrike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Explorar</a:t>
            </a:r>
            <a:endParaRPr b="0" i="0" sz="7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7"/>
          <p:cNvSpPr txBox="1"/>
          <p:nvPr/>
        </p:nvSpPr>
        <p:spPr>
          <a:xfrm>
            <a:off x="3820007" y="1884547"/>
            <a:ext cx="4782300" cy="15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es-419" sz="15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Consiste en la </a:t>
            </a:r>
            <a:r>
              <a:rPr b="0" i="0" lang="es-419" sz="1500" u="none" cap="none" strike="noStrike">
                <a:solidFill>
                  <a:schemeClr val="lt1"/>
                </a:solidFill>
                <a:highlight>
                  <a:srgbClr val="056D73"/>
                </a:highlight>
                <a:latin typeface="Raleway SemiBold"/>
                <a:ea typeface="Raleway SemiBold"/>
                <a:cs typeface="Raleway SemiBold"/>
                <a:sym typeface="Raleway SemiBold"/>
              </a:rPr>
              <a:t>búsqueda de herramientas</a:t>
            </a:r>
            <a:r>
              <a:rPr b="0" i="0" lang="es-419" sz="1500" u="none" cap="none" strike="noStrike">
                <a:solidFill>
                  <a:srgbClr val="888888"/>
                </a:solidFill>
                <a:highlight>
                  <a:srgbClr val="056D73"/>
                </a:highlight>
                <a:latin typeface="Raleway SemiBold"/>
                <a:ea typeface="Raleway SemiBold"/>
                <a:cs typeface="Raleway SemiBold"/>
                <a:sym typeface="Raleway SemiBold"/>
              </a:rPr>
              <a:t> </a:t>
            </a:r>
            <a:r>
              <a:rPr b="0" i="0" lang="es-419" sz="15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adecuadas para resolver el problema / desafío y/o mejora planteada. En esta instancia, se proponen explorar recursos existentes que condensan múltiples herramientas de IA.</a:t>
            </a:r>
            <a:endParaRPr b="0" i="0" sz="15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highlight>
                <a:srgbClr val="056D73"/>
              </a:highlight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287" name="Google Shape;287;p37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8137" y="4537338"/>
            <a:ext cx="1450941" cy="386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7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325" y="258975"/>
            <a:ext cx="868813" cy="1355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9" name="Google Shape;289;p37"/>
          <p:cNvCxnSpPr/>
          <p:nvPr/>
        </p:nvCxnSpPr>
        <p:spPr>
          <a:xfrm rot="10800000">
            <a:off x="571419" y="258977"/>
            <a:ext cx="3000" cy="426300"/>
          </a:xfrm>
          <a:prstGeom prst="straightConnector1">
            <a:avLst/>
          </a:prstGeom>
          <a:noFill/>
          <a:ln cap="flat" cmpd="sng" w="477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p37"/>
          <p:cNvSpPr txBox="1"/>
          <p:nvPr/>
        </p:nvSpPr>
        <p:spPr>
          <a:xfrm>
            <a:off x="648329" y="423227"/>
            <a:ext cx="1722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7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p37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54963" y="-88462"/>
            <a:ext cx="821188" cy="784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1075" y="240338"/>
            <a:ext cx="2253613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9600" y="752025"/>
            <a:ext cx="1010388" cy="1010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88244" y="1018981"/>
            <a:ext cx="1071563" cy="1071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88238" y="2373875"/>
            <a:ext cx="1071563" cy="1071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41169" y="1356032"/>
            <a:ext cx="1071563" cy="1071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8"/>
          <p:cNvPicPr preferRelativeResize="0"/>
          <p:nvPr/>
        </p:nvPicPr>
        <p:blipFill rotWithShape="1">
          <a:blip r:embed="rId8">
            <a:alphaModFix/>
          </a:blip>
          <a:srcRect b="45182" l="27084" r="17723" t="19415"/>
          <a:stretch/>
        </p:blipFill>
        <p:spPr>
          <a:xfrm>
            <a:off x="5560950" y="2571750"/>
            <a:ext cx="3370523" cy="12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8" title="Captura de pantalla 2025-05-02 084450.png"/>
          <p:cNvPicPr preferRelativeResize="0"/>
          <p:nvPr/>
        </p:nvPicPr>
        <p:blipFill rotWithShape="1">
          <a:blip r:embed="rId9">
            <a:alphaModFix/>
          </a:blip>
          <a:srcRect b="8322" l="18739" r="53610" t="20549"/>
          <a:stretch/>
        </p:blipFill>
        <p:spPr>
          <a:xfrm>
            <a:off x="7852925" y="752031"/>
            <a:ext cx="1110076" cy="160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8" title="unraf10.png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428137" y="4537338"/>
            <a:ext cx="1450941" cy="386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8" title="unraf diplo.png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8325" y="258975"/>
            <a:ext cx="868813" cy="1355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5" name="Google Shape;305;p38"/>
          <p:cNvCxnSpPr/>
          <p:nvPr/>
        </p:nvCxnSpPr>
        <p:spPr>
          <a:xfrm rot="10800000">
            <a:off x="571419" y="258977"/>
            <a:ext cx="3000" cy="426300"/>
          </a:xfrm>
          <a:prstGeom prst="straightConnector1">
            <a:avLst/>
          </a:prstGeom>
          <a:noFill/>
          <a:ln cap="flat" cmpd="sng" w="477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38"/>
          <p:cNvSpPr txBox="1"/>
          <p:nvPr/>
        </p:nvSpPr>
        <p:spPr>
          <a:xfrm>
            <a:off x="648329" y="423227"/>
            <a:ext cx="1722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7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" name="Google Shape;307;p38" title="flecha.png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354963" y="-88462"/>
            <a:ext cx="821188" cy="78494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8"/>
          <p:cNvSpPr txBox="1"/>
          <p:nvPr/>
        </p:nvSpPr>
        <p:spPr>
          <a:xfrm>
            <a:off x="663138" y="2220900"/>
            <a:ext cx="26664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b="0" i="0" lang="es-419" sz="4700" u="none" cap="none" strike="noStrike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Explorar</a:t>
            </a:r>
            <a:endParaRPr b="0" i="0" sz="7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9"/>
          <p:cNvSpPr txBox="1"/>
          <p:nvPr/>
        </p:nvSpPr>
        <p:spPr>
          <a:xfrm>
            <a:off x="663138" y="2220900"/>
            <a:ext cx="26664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b="0" i="0" lang="es-419" sz="4700" u="none" cap="none" strike="noStrike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Evaluar</a:t>
            </a:r>
            <a:endParaRPr b="0" i="0" sz="7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9"/>
          <p:cNvSpPr txBox="1"/>
          <p:nvPr/>
        </p:nvSpPr>
        <p:spPr>
          <a:xfrm>
            <a:off x="3502700" y="1961350"/>
            <a:ext cx="50322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es-419" sz="15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En la instancia de evaluación, se propone la siguiente guía de preguntas que orientan la valoración de recursos con IA organizadas en tres categorías: Seguridad y privacidad, potencia de uso y características (términos &amp; condiciones).</a:t>
            </a:r>
            <a:endParaRPr b="0" i="0" sz="15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315" name="Google Shape;315;p39" title="unraf dipl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325" y="258975"/>
            <a:ext cx="868813" cy="1355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6" name="Google Shape;316;p39"/>
          <p:cNvCxnSpPr/>
          <p:nvPr/>
        </p:nvCxnSpPr>
        <p:spPr>
          <a:xfrm rot="10800000">
            <a:off x="571419" y="258977"/>
            <a:ext cx="3000" cy="426300"/>
          </a:xfrm>
          <a:prstGeom prst="straightConnector1">
            <a:avLst/>
          </a:prstGeom>
          <a:noFill/>
          <a:ln cap="flat" cmpd="sng" w="477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7" name="Google Shape;317;p39"/>
          <p:cNvSpPr txBox="1"/>
          <p:nvPr/>
        </p:nvSpPr>
        <p:spPr>
          <a:xfrm>
            <a:off x="648329" y="423227"/>
            <a:ext cx="1722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7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p39" title="flecha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4963" y="-88462"/>
            <a:ext cx="821188" cy="784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0"/>
          <p:cNvSpPr txBox="1"/>
          <p:nvPr/>
        </p:nvSpPr>
        <p:spPr>
          <a:xfrm>
            <a:off x="663138" y="2220900"/>
            <a:ext cx="26664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b="0" i="0" lang="es-419" sz="4700" u="none" cap="none" strike="noStrike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Evaluar</a:t>
            </a:r>
            <a:endParaRPr b="0" i="0" sz="7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40"/>
          <p:cNvSpPr txBox="1"/>
          <p:nvPr/>
        </p:nvSpPr>
        <p:spPr>
          <a:xfrm>
            <a:off x="3848832" y="2220897"/>
            <a:ext cx="4782300" cy="16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1" i="0" lang="es-419" sz="1800" u="sng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Guía</a:t>
            </a:r>
            <a:r>
              <a:rPr b="1" i="0" lang="es-419" sz="1800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 de evaluación</a:t>
            </a:r>
            <a:endParaRPr b="1" i="0" sz="1800" u="none" cap="none" strike="noStrike">
              <a:solidFill>
                <a:srgbClr val="056D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es-419" sz="1000" u="none" cap="none" strike="noStrike">
                <a:solidFill>
                  <a:srgbClr val="056D73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Contempla tres aristas: </a:t>
            </a:r>
            <a:endParaRPr b="0" i="0" sz="1000" u="none" cap="none" strike="noStrike">
              <a:solidFill>
                <a:srgbClr val="056D73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es-419" sz="1000" u="none" cap="none" strike="noStrike">
                <a:solidFill>
                  <a:srgbClr val="056D73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-potencia de uso</a:t>
            </a:r>
            <a:endParaRPr b="0" i="0" sz="1000" u="none" cap="none" strike="noStrike">
              <a:solidFill>
                <a:srgbClr val="056D73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es-419" sz="1000" u="none" cap="none" strike="noStrike">
                <a:solidFill>
                  <a:srgbClr val="056D73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seguridad y privacidad</a:t>
            </a:r>
            <a:endParaRPr b="0" i="0" sz="1000" u="none" cap="none" strike="noStrike">
              <a:solidFill>
                <a:srgbClr val="056D73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es-419" sz="1000" u="none" cap="none" strike="noStrike">
                <a:solidFill>
                  <a:srgbClr val="056D73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-características (términos y condiciones)</a:t>
            </a:r>
            <a:endParaRPr b="0" i="0" sz="1000" u="none" cap="none" strike="noStrike">
              <a:solidFill>
                <a:srgbClr val="056D73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56D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56D73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56D73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325" name="Google Shape;325;p40" title="unraf1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8137" y="4537338"/>
            <a:ext cx="1450941" cy="386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0" title="unraf diplo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325" y="258975"/>
            <a:ext cx="868813" cy="1355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7" name="Google Shape;327;p40"/>
          <p:cNvCxnSpPr/>
          <p:nvPr/>
        </p:nvCxnSpPr>
        <p:spPr>
          <a:xfrm rot="10800000">
            <a:off x="571419" y="258977"/>
            <a:ext cx="3000" cy="426300"/>
          </a:xfrm>
          <a:prstGeom prst="straightConnector1">
            <a:avLst/>
          </a:prstGeom>
          <a:noFill/>
          <a:ln cap="flat" cmpd="sng" w="477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8" name="Google Shape;328;p40"/>
          <p:cNvSpPr txBox="1"/>
          <p:nvPr/>
        </p:nvSpPr>
        <p:spPr>
          <a:xfrm>
            <a:off x="648329" y="423227"/>
            <a:ext cx="1722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7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9" name="Google Shape;329;p40" title="flecha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54963" y="-88462"/>
            <a:ext cx="821188" cy="784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1"/>
          <p:cNvSpPr txBox="1"/>
          <p:nvPr/>
        </p:nvSpPr>
        <p:spPr>
          <a:xfrm>
            <a:off x="619163" y="1807650"/>
            <a:ext cx="26664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b="0" i="0" lang="es-419" sz="4700" u="none" cap="none" strike="noStrike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Ejecutar</a:t>
            </a:r>
            <a:endParaRPr b="0" i="0" sz="4700" u="none" cap="none" strike="noStrike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b="0" i="0" lang="es-419" sz="4700" u="none" cap="none" strike="noStrike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Escalar</a:t>
            </a:r>
            <a:endParaRPr b="0" i="0" sz="4700" u="none" cap="none" strike="noStrike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335" name="Google Shape;335;p41"/>
          <p:cNvSpPr txBox="1"/>
          <p:nvPr/>
        </p:nvSpPr>
        <p:spPr>
          <a:xfrm>
            <a:off x="3752107" y="1635897"/>
            <a:ext cx="4782300" cy="26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es-419" sz="15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La </a:t>
            </a:r>
            <a:r>
              <a:rPr b="0" i="0" lang="es-419" sz="1500" u="none" cap="none" strike="noStrike">
                <a:solidFill>
                  <a:srgbClr val="888888"/>
                </a:solidFill>
                <a:highlight>
                  <a:srgbClr val="2A8519"/>
                </a:highlight>
                <a:latin typeface="Raleway SemiBold"/>
                <a:ea typeface="Raleway SemiBold"/>
                <a:cs typeface="Raleway SemiBold"/>
                <a:sym typeface="Raleway SemiBold"/>
              </a:rPr>
              <a:t>ejecución</a:t>
            </a:r>
            <a:r>
              <a:rPr b="0" i="0" lang="es-419" sz="15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 consiste en la implementación de la herramienta en la solución del desafío. </a:t>
            </a:r>
            <a:endParaRPr b="0" i="0" sz="15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es-419" sz="15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La </a:t>
            </a:r>
            <a:r>
              <a:rPr b="0" i="0" lang="es-419" sz="1500" u="none" cap="none" strike="noStrike">
                <a:solidFill>
                  <a:srgbClr val="888888"/>
                </a:solidFill>
                <a:highlight>
                  <a:srgbClr val="2A8519"/>
                </a:highlight>
                <a:latin typeface="Raleway SemiBold"/>
                <a:ea typeface="Raleway SemiBold"/>
                <a:cs typeface="Raleway SemiBold"/>
                <a:sym typeface="Raleway SemiBold"/>
              </a:rPr>
              <a:t>escalabilidad</a:t>
            </a:r>
            <a:r>
              <a:rPr b="0" i="0" lang="es-419" sz="1500" u="none" cap="none" strike="noStrike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, propone extrapolar la experiencia a otros procesos / desafíos / propuestas similares. En este sentido, el proceso toma el concepto de mejora continua y retroalimenta al proceso iniciado, por lo cual la metodología vuelve a iniciar en la instancia de exploración.</a:t>
            </a:r>
            <a:endParaRPr b="0" i="0" sz="15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336" name="Google Shape;336;p41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8137" y="4537338"/>
            <a:ext cx="1450941" cy="386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1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325" y="258975"/>
            <a:ext cx="868813" cy="1355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8" name="Google Shape;338;p41"/>
          <p:cNvCxnSpPr/>
          <p:nvPr/>
        </p:nvCxnSpPr>
        <p:spPr>
          <a:xfrm rot="10800000">
            <a:off x="571419" y="258977"/>
            <a:ext cx="3000" cy="426300"/>
          </a:xfrm>
          <a:prstGeom prst="straightConnector1">
            <a:avLst/>
          </a:prstGeom>
          <a:noFill/>
          <a:ln cap="flat" cmpd="sng" w="477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" name="Google Shape;339;p41"/>
          <p:cNvSpPr txBox="1"/>
          <p:nvPr/>
        </p:nvSpPr>
        <p:spPr>
          <a:xfrm>
            <a:off x="648329" y="423227"/>
            <a:ext cx="1722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7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0" name="Google Shape;340;p41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54963" y="-88462"/>
            <a:ext cx="821188" cy="784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2"/>
          <p:cNvSpPr txBox="1"/>
          <p:nvPr/>
        </p:nvSpPr>
        <p:spPr>
          <a:xfrm>
            <a:off x="619163" y="1807650"/>
            <a:ext cx="26664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lang="es-419" sz="47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Próxima</a:t>
            </a:r>
            <a:endParaRPr sz="4700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lang="es-419" sz="4700">
                <a:solidFill>
                  <a:srgbClr val="056D73"/>
                </a:solidFill>
                <a:latin typeface="Raleway Black"/>
                <a:ea typeface="Raleway Black"/>
                <a:cs typeface="Raleway Black"/>
                <a:sym typeface="Raleway Black"/>
              </a:rPr>
              <a:t>clase</a:t>
            </a:r>
            <a:endParaRPr sz="4700">
              <a:solidFill>
                <a:srgbClr val="056D73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346" name="Google Shape;346;p42"/>
          <p:cNvSpPr txBox="1"/>
          <p:nvPr/>
        </p:nvSpPr>
        <p:spPr>
          <a:xfrm>
            <a:off x="3752107" y="1635897"/>
            <a:ext cx="4782300" cy="16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596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1500"/>
              <a:buChar char="●"/>
            </a:pPr>
            <a:r>
              <a:rPr lang="es-419" sz="1500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Pensar en un objetivo de la organización de la que formas parte. Una o dos oraciones. </a:t>
            </a:r>
            <a:endParaRPr sz="1500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-32385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500"/>
              <a:buChar char="●"/>
            </a:pPr>
            <a:r>
              <a:rPr lang="es-419" sz="1500">
                <a:solidFill>
                  <a:srgbClr val="88888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Buscar informes, reportes o tendencias vinculadas con el sector de la organización. </a:t>
            </a:r>
            <a:endParaRPr sz="11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sz="1500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88888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347" name="Google Shape;347;p42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8137" y="4537338"/>
            <a:ext cx="1450941" cy="386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42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325" y="258975"/>
            <a:ext cx="868813" cy="1355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9" name="Google Shape;349;p42"/>
          <p:cNvCxnSpPr/>
          <p:nvPr/>
        </p:nvCxnSpPr>
        <p:spPr>
          <a:xfrm rot="10800000">
            <a:off x="571419" y="258977"/>
            <a:ext cx="3000" cy="426300"/>
          </a:xfrm>
          <a:prstGeom prst="straightConnector1">
            <a:avLst/>
          </a:prstGeom>
          <a:noFill/>
          <a:ln cap="flat" cmpd="sng" w="477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0" name="Google Shape;350;p42"/>
          <p:cNvSpPr txBox="1"/>
          <p:nvPr/>
        </p:nvSpPr>
        <p:spPr>
          <a:xfrm>
            <a:off x="648329" y="423227"/>
            <a:ext cx="1722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7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1" name="Google Shape;351;p42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54963" y="-88462"/>
            <a:ext cx="821188" cy="784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43" title="unraf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8137" y="4537338"/>
            <a:ext cx="1450941" cy="386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43" title="unraf dip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325" y="258975"/>
            <a:ext cx="868813" cy="1355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8" name="Google Shape;358;p43"/>
          <p:cNvCxnSpPr/>
          <p:nvPr/>
        </p:nvCxnSpPr>
        <p:spPr>
          <a:xfrm rot="10800000">
            <a:off x="571419" y="258977"/>
            <a:ext cx="3000" cy="426300"/>
          </a:xfrm>
          <a:prstGeom prst="straightConnector1">
            <a:avLst/>
          </a:prstGeom>
          <a:noFill/>
          <a:ln cap="flat" cmpd="sng" w="4775">
            <a:solidFill>
              <a:srgbClr val="056D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" name="Google Shape;359;p43"/>
          <p:cNvSpPr txBox="1"/>
          <p:nvPr/>
        </p:nvSpPr>
        <p:spPr>
          <a:xfrm>
            <a:off x="648329" y="423227"/>
            <a:ext cx="1722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056D73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700" u="none" cap="none" strike="noStrike">
              <a:solidFill>
                <a:srgbClr val="056D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0" name="Google Shape;360;p43" title="flech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54963" y="-88462"/>
            <a:ext cx="821188" cy="784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92475" y="832600"/>
            <a:ext cx="2823600" cy="3751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362" name="Google Shape;362;p43"/>
          <p:cNvPicPr preferRelativeResize="0"/>
          <p:nvPr/>
        </p:nvPicPr>
        <p:blipFill rotWithShape="1">
          <a:blip r:embed="rId7">
            <a:alphaModFix/>
          </a:blip>
          <a:srcRect b="31340" l="21332" r="14798" t="17891"/>
          <a:stretch/>
        </p:blipFill>
        <p:spPr>
          <a:xfrm>
            <a:off x="4628319" y="832600"/>
            <a:ext cx="2654400" cy="3751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363" name="Google Shape;363;p43"/>
          <p:cNvSpPr txBox="1"/>
          <p:nvPr/>
        </p:nvSpPr>
        <p:spPr>
          <a:xfrm>
            <a:off x="2717205" y="3833243"/>
            <a:ext cx="7479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425" lIns="72425" spcFirstLastPara="1" rIns="72425" wrap="square" tIns="72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rgbClr val="FFFFFF"/>
                </a:solidFill>
              </a:rPr>
              <a:t>1</a:t>
            </a:r>
            <a:endParaRPr b="1" sz="4000">
              <a:solidFill>
                <a:srgbClr val="FFFFFF"/>
              </a:solidFill>
            </a:endParaRPr>
          </a:p>
        </p:txBody>
      </p:sp>
      <p:sp>
        <p:nvSpPr>
          <p:cNvPr id="364" name="Google Shape;364;p43"/>
          <p:cNvSpPr txBox="1"/>
          <p:nvPr/>
        </p:nvSpPr>
        <p:spPr>
          <a:xfrm>
            <a:off x="5499216" y="3833243"/>
            <a:ext cx="7479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425" lIns="72425" spcFirstLastPara="1" rIns="72425" wrap="square" tIns="72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rgbClr val="FFFFFF"/>
                </a:solidFill>
              </a:rPr>
              <a:t>2</a:t>
            </a:r>
            <a:endParaRPr b="1" sz="400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44" title="fondo2.png"/>
          <p:cNvPicPr preferRelativeResize="0"/>
          <p:nvPr/>
        </p:nvPicPr>
        <p:blipFill rotWithShape="1">
          <a:blip r:embed="rId3">
            <a:alphaModFix/>
          </a:blip>
          <a:srcRect b="30853" l="55231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0" name="Google Shape;370;p44"/>
          <p:cNvCxnSpPr/>
          <p:nvPr/>
        </p:nvCxnSpPr>
        <p:spPr>
          <a:xfrm rot="10800000">
            <a:off x="571419" y="258977"/>
            <a:ext cx="3000" cy="426300"/>
          </a:xfrm>
          <a:prstGeom prst="straightConnector1">
            <a:avLst/>
          </a:prstGeom>
          <a:noFill/>
          <a:ln cap="flat" cmpd="sng" w="47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1" name="Google Shape;371;p44"/>
          <p:cNvSpPr/>
          <p:nvPr/>
        </p:nvSpPr>
        <p:spPr>
          <a:xfrm>
            <a:off x="571272" y="146639"/>
            <a:ext cx="1206464" cy="341912"/>
          </a:xfrm>
          <a:custGeom>
            <a:rect b="b" l="l" r="r" t="t"/>
            <a:pathLst>
              <a:path extrusionOk="0" h="683823" w="2412928">
                <a:moveTo>
                  <a:pt x="0" y="0"/>
                </a:moveTo>
                <a:lnTo>
                  <a:pt x="2412928" y="0"/>
                </a:lnTo>
                <a:lnTo>
                  <a:pt x="2412928" y="683823"/>
                </a:lnTo>
                <a:lnTo>
                  <a:pt x="0" y="6838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12920" l="0" r="-32959" t="0"/>
            </a:stretch>
          </a:blipFill>
          <a:ln>
            <a:noFill/>
          </a:ln>
        </p:spPr>
      </p:sp>
      <p:sp>
        <p:nvSpPr>
          <p:cNvPr id="372" name="Google Shape;372;p44"/>
          <p:cNvSpPr txBox="1"/>
          <p:nvPr/>
        </p:nvSpPr>
        <p:spPr>
          <a:xfrm>
            <a:off x="648329" y="423227"/>
            <a:ext cx="1722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Inteligencia Artificial y Transformación Organizacional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3" name="Google Shape;373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62549" y="4270200"/>
            <a:ext cx="1838577" cy="7415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44"/>
          <p:cNvSpPr txBox="1"/>
          <p:nvPr/>
        </p:nvSpPr>
        <p:spPr>
          <a:xfrm>
            <a:off x="1184925" y="2576063"/>
            <a:ext cx="6774300" cy="6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b="1" i="0" lang="es-419" sz="45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¡Muchas gracias!</a:t>
            </a:r>
            <a:endParaRPr b="0" i="0" sz="4500" u="none" cap="none" strike="noStrike">
              <a:solidFill>
                <a:srgbClr val="FFFFFF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cxnSp>
        <p:nvCxnSpPr>
          <p:cNvPr id="375" name="Google Shape;375;p44"/>
          <p:cNvCxnSpPr/>
          <p:nvPr/>
        </p:nvCxnSpPr>
        <p:spPr>
          <a:xfrm>
            <a:off x="1654525" y="3247913"/>
            <a:ext cx="6050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6" name="Google Shape;376;p44"/>
          <p:cNvSpPr/>
          <p:nvPr/>
        </p:nvSpPr>
        <p:spPr>
          <a:xfrm>
            <a:off x="8001113" y="-6"/>
            <a:ext cx="1175042" cy="742950"/>
          </a:xfrm>
          <a:custGeom>
            <a:rect b="b" l="l" r="r" t="t"/>
            <a:pathLst>
              <a:path extrusionOk="0" h="1143000" w="2176004">
                <a:moveTo>
                  <a:pt x="0" y="0"/>
                </a:moveTo>
                <a:lnTo>
                  <a:pt x="2176004" y="0"/>
                </a:lnTo>
                <a:lnTo>
                  <a:pt x="2176004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43915" l="-406894" r="0" t="0"/>
            </a:stretch>
          </a:blipFill>
          <a:ln>
            <a:noFill/>
          </a:ln>
        </p:spPr>
      </p:sp>
      <p:sp>
        <p:nvSpPr>
          <p:cNvPr id="377" name="Google Shape;377;p44"/>
          <p:cNvSpPr txBox="1"/>
          <p:nvPr/>
        </p:nvSpPr>
        <p:spPr>
          <a:xfrm>
            <a:off x="2784376" y="3405013"/>
            <a:ext cx="35754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b="0" i="0" lang="es-419" sz="2000" u="none" cap="none" strike="noStrike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Mg. María Della Torre</a:t>
            </a:r>
            <a:endParaRPr b="0" i="0" sz="2000" u="none" cap="none" strike="noStrike">
              <a:solidFill>
                <a:srgbClr val="FFFFFF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